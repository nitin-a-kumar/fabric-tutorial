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pn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1" r:id="rId3"/>
  </p:sldMasterIdLst>
  <p:notesMasterIdLst>
    <p:notesMasterId r:id="rId14"/>
  </p:notesMasterIdLst>
  <p:handoutMasterIdLst>
    <p:handoutMasterId r:id="rId15"/>
  </p:handoutMasterIdLst>
  <p:sldIdLst>
    <p:sldId id="2147478537" r:id="rId4"/>
    <p:sldId id="2147478574" r:id="rId5"/>
    <p:sldId id="2147478566" r:id="rId6"/>
    <p:sldId id="2147478573" r:id="rId7"/>
    <p:sldId id="2147478555" r:id="rId8"/>
    <p:sldId id="2147478569" r:id="rId9"/>
    <p:sldId id="2147478570" r:id="rId10"/>
    <p:sldId id="2147478572" r:id="rId11"/>
    <p:sldId id="2147478559" r:id="rId12"/>
    <p:sldId id="214747325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19615E-FC20-7B34-7505-430768E2D4EC}" name="Rehan Chopra" initials="RC" userId="S::rehan.chopra@kiya.ai::283dc738-055f-45ff-9a58-73f5381e91d8" providerId="AD"/>
  <p188:author id="{A0AFBFA0-BA24-F3DD-004C-5B649F917685}" name="Aditya Singh" initials="AS" userId="S::aditya.singh@kiya.ai::7a4e7b08-ae2c-4cd6-8d57-2b29f0c24353" providerId="AD"/>
  <p188:author id="{17BD6BCE-64ED-6C4B-BC49-6F4AB0DE417D}" name="Pratap Parab" initials="PP" userId="S::pratap.parab@kiya.ai::3396cd52-7fbf-447a-98c0-cdf239b49dac" providerId="AD"/>
  <p188:author id="{94F9D5CE-D2EC-29BB-CB3A-2176F22F0E19}" name="Pradeep Kamath" initials="PK" userId="S::pradeep.kamath@kiya.ai::116b6829-bd4f-4408-89da-fcd47f727ae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2C3F"/>
    <a:srgbClr val="02172A"/>
    <a:srgbClr val="2C6281"/>
    <a:srgbClr val="0C4A6C"/>
    <a:srgbClr val="13131B"/>
    <a:srgbClr val="005B99"/>
    <a:srgbClr val="333243"/>
    <a:srgbClr val="354143"/>
    <a:srgbClr val="4B5857"/>
    <a:srgbClr val="3C63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Medium Style 3 – Accent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4C1A8A3-306A-4EB7-A6B1-4F7E0EB9C5D6}" styleName="Medium Style 3 –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929F9F4-4A8F-4326-A1B4-22849713DDAB}" styleName="Dark Style 1 –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Dark Style 1 –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B4B98B0-60AC-42C2-AFA5-B58CD77FA1E5}" styleName="Light Style 1 –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676" autoAdjust="0"/>
    <p:restoredTop sz="93969" autoAdjust="0"/>
  </p:normalViewPr>
  <p:slideViewPr>
    <p:cSldViewPr snapToGrid="0">
      <p:cViewPr varScale="1">
        <p:scale>
          <a:sx n="111" d="100"/>
          <a:sy n="111" d="100"/>
        </p:scale>
        <p:origin x="666" y="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120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6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5">
  <dgm:title val=""/>
  <dgm:desc val=""/>
  <dgm:catLst>
    <dgm:cat type="accent1" pri="11500"/>
  </dgm:catLst>
  <dgm:styleLbl name="node0">
    <dgm:fillClrLst meth="cycle"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1">
        <a:alpha val="90000"/>
      </a:schemeClr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alpha val="90000"/>
      </a:schemeClr>
      <a:schemeClr val="accent1">
        <a:alpha val="5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/>
    <dgm:txEffectClrLst/>
  </dgm:styleLbl>
  <dgm:styleLbl name="lnNode1">
    <dgm:fillClrLst>
      <a:schemeClr val="accent1">
        <a:shade val="90000"/>
      </a:schemeClr>
      <a:schemeClr val="accent1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  <a:alpha val="90000"/>
      </a:schemeClr>
      <a:schemeClr val="accent1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bgSibTrans2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/>
    <dgm:txEffectClrLst/>
  </dgm:styleLbl>
  <dgm:styleLbl name="sibTrans1D1">
    <dgm:fillClrLst>
      <a:schemeClr val="accent1">
        <a:shade val="90000"/>
      </a:schemeClr>
      <a:schemeClr val="accent1">
        <a:tint val="50000"/>
      </a:schemeClr>
    </dgm:fillClrLst>
    <dgm:linClrLst>
      <a:schemeClr val="accent1">
        <a:shade val="90000"/>
      </a:schemeClr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alpha val="90000"/>
      </a:schemeClr>
      <a:schemeClr val="accent1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1">
        <a:alpha val="90000"/>
        <a:tint val="40000"/>
      </a:schemeClr>
      <a:schemeClr val="accent1">
        <a:alpha val="5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F8A498B-AD02-416E-9334-4152211D20F8}" type="doc">
      <dgm:prSet loTypeId="urn:microsoft.com/office/officeart/2005/8/layout/lProcess2" loCatId="list" qsTypeId="urn:microsoft.com/office/officeart/2005/8/quickstyle/simple5" qsCatId="simple" csTypeId="urn:microsoft.com/office/officeart/2005/8/colors/colorful4" csCatId="colorful" phldr="1"/>
      <dgm:spPr/>
      <dgm:t>
        <a:bodyPr/>
        <a:lstStyle/>
        <a:p>
          <a:endParaRPr lang="en-IN"/>
        </a:p>
      </dgm:t>
    </dgm:pt>
    <dgm:pt modelId="{DCBEB2BB-E582-44B6-AB67-8AE43E978C94}">
      <dgm:prSet phldrT="[Text]" custT="1"/>
      <dgm:spPr/>
      <dgm:t>
        <a:bodyPr/>
        <a:lstStyle/>
        <a:p>
          <a:pPr>
            <a:buClrTx/>
            <a:buSzTx/>
            <a:buFontTx/>
            <a:buNone/>
          </a:pPr>
          <a:r>
            <a:rPr kumimoji="0" lang="en-US" sz="2000" b="1" i="0" u="none" strike="noStrike" cap="none" spc="0" normalizeH="0" baseline="0" noProof="0" dirty="0">
              <a:ln/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SOURCE</a:t>
          </a:r>
          <a:endParaRPr lang="en-IN" sz="2000" b="1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EEE5A85-8752-46AD-A04A-E5040F6A8713}" type="parTrans" cxnId="{443B9327-76D5-4614-BFAF-A7A03FE478F3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E9A942D-8380-471D-A2B7-20EEE5DA80E9}" type="sibTrans" cxnId="{443B9327-76D5-4614-BFAF-A7A03FE478F3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83B8F06-7359-4B41-AB0F-D83844B79857}">
      <dgm:prSet phldrT="[Text]" custT="1"/>
      <dgm:spPr/>
      <dgm:t>
        <a:bodyPr/>
        <a:lstStyle/>
        <a:p>
          <a:pPr algn="ctr">
            <a:buFont typeface="Wingdings" panose="05000000000000000000" pitchFamily="2" charset="2"/>
            <a:buChar char="§"/>
          </a:pPr>
          <a:r>
            <a:rPr lang="en-US" sz="1400" dirty="0">
              <a:latin typeface="Aptos" panose="020B0004020202020204" pitchFamily="34" charset="0"/>
            </a:rPr>
            <a:t>Source data from </a:t>
          </a:r>
          <a:r>
            <a:rPr lang="en-GB" sz="1400" dirty="0">
              <a:latin typeface="Aptos" panose="020B0004020202020204" pitchFamily="34" charset="0"/>
            </a:rPr>
            <a:t>Viewpoint database</a:t>
          </a:r>
          <a:endParaRPr lang="en-IN" sz="14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99ECC05-6DC3-43F6-97D6-1A9D758C06CB}" type="parTrans" cxnId="{1ACE2E49-FBA3-4C13-87C1-AB1817376E10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CD01A07-0D31-4750-ADF5-E862CED25EE8}" type="sibTrans" cxnId="{1ACE2E49-FBA3-4C13-87C1-AB1817376E10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71914AF-B2F7-4E48-AF6F-C22EBF225F10}">
      <dgm:prSet phldrT="[Text]"/>
      <dgm:spPr/>
      <dgm:t>
        <a:bodyPr/>
        <a:lstStyle/>
        <a:p>
          <a:pPr algn="l">
            <a:buClr>
              <a:schemeClr val="accent1"/>
            </a:buClr>
            <a:buFont typeface="+mj-lt"/>
            <a:buAutoNum type="arabicPeriod"/>
          </a:pPr>
          <a:r>
            <a:rPr lang="en-GB" dirty="0">
              <a:latin typeface="Aptos" panose="020B0004020202020204" pitchFamily="34" charset="0"/>
            </a:rPr>
            <a:t>Migration of 50 reports from current platform to the new Fabric architecture by creating Fabric data items, semantic models.</a:t>
          </a:r>
          <a:endParaRPr lang="en-IN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BF11A2B-7F79-4C6E-9432-6E70DD1EE048}" type="parTrans" cxnId="{7A602D8F-8405-4E20-A3CC-85E938812EAB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5DEEFC9-64CC-4066-8209-BCF426B1385E}" type="sibTrans" cxnId="{7A602D8F-8405-4E20-A3CC-85E938812EAB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9E108C3-18F5-4DBF-B919-5B76DB718722}">
      <dgm:prSet phldrT="[Text]" custT="1"/>
      <dgm:spPr/>
      <dgm:t>
        <a:bodyPr/>
        <a:lstStyle/>
        <a:p>
          <a:pPr>
            <a:buClrTx/>
            <a:buSzTx/>
            <a:buFontTx/>
            <a:buNone/>
          </a:pPr>
          <a:r>
            <a:rPr kumimoji="0" lang="en-US" sz="2000" b="1" i="0" u="none" strike="noStrike" cap="none" spc="0" normalizeH="0" baseline="0" noProof="0" dirty="0">
              <a:ln/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TARGET</a:t>
          </a:r>
          <a:endParaRPr lang="en-IN" sz="2000" b="1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F89004C-148F-4662-A6A8-301FD44A3B06}" type="parTrans" cxnId="{43F6BA9B-C477-4F44-B688-F950423910D1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D3B7332-F421-4B02-9298-BEAD939F4679}" type="sibTrans" cxnId="{43F6BA9B-C477-4F44-B688-F950423910D1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F2ED3DA-E59B-465B-ACD5-8A16B6880E29}">
      <dgm:prSet phldrT="[Text]" custT="1"/>
      <dgm:spPr/>
      <dgm:t>
        <a:bodyPr/>
        <a:lstStyle/>
        <a:p>
          <a:pPr algn="ctr">
            <a:buFont typeface="Wingdings" panose="05000000000000000000" pitchFamily="2" charset="2"/>
            <a:buChar char="§"/>
          </a:pPr>
          <a:r>
            <a:rPr lang="en-GB" sz="1400" dirty="0">
              <a:latin typeface="Aptos" panose="020B0004020202020204" pitchFamily="34" charset="0"/>
            </a:rPr>
            <a:t>Microsoft Fabric </a:t>
          </a:r>
          <a:r>
            <a:rPr lang="en-GB" sz="1400" dirty="0" err="1">
              <a:latin typeface="Aptos" panose="020B0004020202020204" pitchFamily="34" charset="0"/>
            </a:rPr>
            <a:t>OneLake</a:t>
          </a:r>
          <a:r>
            <a:rPr lang="en-GB" sz="1400" dirty="0">
              <a:latin typeface="Aptos" panose="020B0004020202020204" pitchFamily="34" charset="0"/>
            </a:rPr>
            <a:t> </a:t>
          </a:r>
          <a:endParaRPr lang="en-IN" sz="14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53B3C35-731F-4050-BB7E-26CBD5795D10}" type="parTrans" cxnId="{1C19BA6C-E359-4601-9364-E8AF5A055858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D7978DB-C59A-49F5-A2FC-8075B244D9B9}" type="sibTrans" cxnId="{1C19BA6C-E359-4601-9364-E8AF5A055858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EC2787DD-482C-4B35-A759-22CDA9F9152F}">
      <dgm:prSet phldrT="[Text]" custT="1"/>
      <dgm:spPr/>
      <dgm:t>
        <a:bodyPr/>
        <a:lstStyle/>
        <a:p>
          <a:pPr>
            <a:buClrTx/>
            <a:buSzTx/>
            <a:buFontTx/>
            <a:buNone/>
          </a:pPr>
          <a:r>
            <a:rPr lang="en-US" sz="2000" b="1" dirty="0"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REQUIREMENT</a:t>
          </a:r>
          <a:endParaRPr lang="en-IN" sz="2000" b="1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6288D9D-DBB9-4E4F-9673-68E2D9B27099}" type="sibTrans" cxnId="{AAAAB48E-D069-4652-AFE2-59E3A8C088AB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7ED70F0-5CD2-460C-B54F-3C33E3A3C42C}" type="parTrans" cxnId="{AAAAB48E-D069-4652-AFE2-59E3A8C088AB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EEDC2B4-00DD-45E9-9CE7-5005FA759BFF}">
      <dgm:prSet custT="1"/>
      <dgm:spPr/>
      <dgm:t>
        <a:bodyPr/>
        <a:lstStyle/>
        <a:p>
          <a:pPr algn="ctr"/>
          <a:r>
            <a:rPr lang="en-US" sz="1400">
              <a:latin typeface="Aptos" panose="020B0004020202020204" pitchFamily="34" charset="0"/>
            </a:rPr>
            <a:t>Database: On-premise SQL server</a:t>
          </a:r>
          <a:endParaRPr lang="en-US" sz="14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5ED2751C-A84A-4997-A62E-8E3803325180}" type="parTrans" cxnId="{FB3E30A1-4CC6-407F-A66E-2DA4F3CD919E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51587B3-E6CB-4C2F-B18A-FE4C6E66933F}" type="sibTrans" cxnId="{FB3E30A1-4CC6-407F-A66E-2DA4F3CD919E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C6BF7781-29DC-4991-93B5-470A79F260A1}">
      <dgm:prSet custT="1"/>
      <dgm:spPr/>
      <dgm:t>
        <a:bodyPr/>
        <a:lstStyle/>
        <a:p>
          <a:pPr algn="ctr"/>
          <a:r>
            <a:rPr lang="en-US" sz="1400" dirty="0">
              <a:latin typeface="Aptos" panose="020B0004020202020204" pitchFamily="34" charset="0"/>
            </a:rPr>
            <a:t>Reporting platform: </a:t>
          </a:r>
          <a:r>
            <a:rPr lang="en-GB" sz="1400" dirty="0">
              <a:latin typeface="Aptos" panose="020B0004020202020204" pitchFamily="34" charset="0"/>
            </a:rPr>
            <a:t>SSRS reports</a:t>
          </a:r>
          <a:endParaRPr lang="en-IN" sz="14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B30A30A6-23C2-4F7E-8A62-54D090DC41C0}" type="parTrans" cxnId="{F812F639-7FDE-4E1B-8F1F-DD9257280431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7F745D27-E8C0-4FEC-8A76-68B326EC55A4}" type="sibTrans" cxnId="{F812F639-7FDE-4E1B-8F1F-DD9257280431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393FFE6-CCB8-4850-8135-51264C94EC88}">
      <dgm:prSet/>
      <dgm:spPr/>
      <dgm:t>
        <a:bodyPr/>
        <a:lstStyle/>
        <a:p>
          <a:pPr algn="l"/>
          <a:r>
            <a:rPr lang="en-GB" dirty="0">
              <a:latin typeface="Aptos" panose="020B0004020202020204" pitchFamily="34" charset="0"/>
            </a:rPr>
            <a:t>Seamless integration of the new models with the existing enterprise data model.</a:t>
          </a:r>
          <a:endParaRPr lang="en-US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630DD5BE-2F7F-4D53-9A84-77D128AD05E5}" type="parTrans" cxnId="{7A172D09-BE89-4E99-B2C2-7FC5C84FA891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FD2160B-34FD-47E7-A002-AA0737DB6D73}" type="sibTrans" cxnId="{7A172D09-BE89-4E99-B2C2-7FC5C84FA891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960EC2A0-AC76-46A1-AFA1-4D7ACC007F5C}">
      <dgm:prSet/>
      <dgm:spPr/>
      <dgm:t>
        <a:bodyPr/>
        <a:lstStyle/>
        <a:p>
          <a:pPr algn="l"/>
          <a:r>
            <a:rPr lang="en-GB">
              <a:latin typeface="Aptos" panose="020B0004020202020204" pitchFamily="34" charset="0"/>
            </a:rPr>
            <a:t>Adherence to appropriate naming conventions in consultation with the data team.</a:t>
          </a:r>
          <a:endParaRPr lang="en-US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D1905567-B111-471B-A984-D797642F7B42}" type="parTrans" cxnId="{B38747B7-C70B-40B8-806D-568A3EF1C142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AD93AB07-A8F0-4684-B9F2-EFE79A0990BD}" type="sibTrans" cxnId="{B38747B7-C70B-40B8-806D-568A3EF1C142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8B1BB1A2-6E4F-4B0A-BCBF-8BDEB0E0CB0A}">
      <dgm:prSet/>
      <dgm:spPr/>
      <dgm:t>
        <a:bodyPr/>
        <a:lstStyle/>
        <a:p>
          <a:pPr algn="l"/>
          <a:r>
            <a:rPr lang="en-GB" dirty="0">
              <a:latin typeface="Aptos" panose="020B0004020202020204" pitchFamily="34" charset="0"/>
            </a:rPr>
            <a:t>Application of best approach for the migration.</a:t>
          </a:r>
          <a:endParaRPr lang="en-IN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3F45744-3E69-4214-AEB9-19E650C82DFF}" type="parTrans" cxnId="{37AD94E0-14CB-4B76-BBE1-CC5CEA39A245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103DBF4E-ECAC-42A0-B4DF-5F0B83119144}" type="sibTrans" cxnId="{37AD94E0-14CB-4B76-BBE1-CC5CEA39A245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06313892-7FFF-4B10-9AC6-9BE2C0ED8961}">
      <dgm:prSet custT="1"/>
      <dgm:spPr/>
      <dgm:t>
        <a:bodyPr/>
        <a:lstStyle/>
        <a:p>
          <a:pPr algn="ctr"/>
          <a:r>
            <a:rPr lang="en-GB" sz="1400" dirty="0">
              <a:latin typeface="Aptos" panose="020B0004020202020204" pitchFamily="34" charset="0"/>
            </a:rPr>
            <a:t>Existing medallion architecture</a:t>
          </a:r>
          <a:endParaRPr lang="en-US" sz="14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4A47192C-0BE5-461C-84FB-FA25EF5BE8DC}" type="parTrans" cxnId="{2B5F8793-58D1-4DD0-9905-5E36FE49BEAB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F75A7F93-D795-4A30-8BB9-5FA40964B72D}" type="sibTrans" cxnId="{2B5F8793-58D1-4DD0-9905-5E36FE49BEAB}">
      <dgm:prSet/>
      <dgm:spPr/>
      <dgm:t>
        <a:bodyPr/>
        <a:lstStyle/>
        <a:p>
          <a:endParaRPr lang="en-IN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gm:t>
    </dgm:pt>
    <dgm:pt modelId="{3F225FA5-8509-4635-AC8C-6C5178853389}" type="pres">
      <dgm:prSet presAssocID="{4F8A498B-AD02-416E-9334-4152211D20F8}" presName="theList" presStyleCnt="0">
        <dgm:presLayoutVars>
          <dgm:dir/>
          <dgm:animLvl val="lvl"/>
          <dgm:resizeHandles val="exact"/>
        </dgm:presLayoutVars>
      </dgm:prSet>
      <dgm:spPr/>
    </dgm:pt>
    <dgm:pt modelId="{77B9D854-C561-4219-94A1-52CEDECB5E57}" type="pres">
      <dgm:prSet presAssocID="{DCBEB2BB-E582-44B6-AB67-8AE43E978C94}" presName="compNode" presStyleCnt="0"/>
      <dgm:spPr/>
    </dgm:pt>
    <dgm:pt modelId="{CB991995-D986-4C49-9C80-FB543A6EF60F}" type="pres">
      <dgm:prSet presAssocID="{DCBEB2BB-E582-44B6-AB67-8AE43E978C94}" presName="aNode" presStyleLbl="bgShp" presStyleIdx="0" presStyleCnt="3"/>
      <dgm:spPr/>
    </dgm:pt>
    <dgm:pt modelId="{7ED32EEC-2A86-4399-94D9-5E0B6DBDBD62}" type="pres">
      <dgm:prSet presAssocID="{DCBEB2BB-E582-44B6-AB67-8AE43E978C94}" presName="textNode" presStyleLbl="bgShp" presStyleIdx="0" presStyleCnt="3"/>
      <dgm:spPr/>
    </dgm:pt>
    <dgm:pt modelId="{DBB8E72E-1872-42C1-A38F-49A33E491E56}" type="pres">
      <dgm:prSet presAssocID="{DCBEB2BB-E582-44B6-AB67-8AE43E978C94}" presName="compChildNode" presStyleCnt="0"/>
      <dgm:spPr/>
    </dgm:pt>
    <dgm:pt modelId="{A80865A7-3F68-413B-97A1-DD828BD1D4A8}" type="pres">
      <dgm:prSet presAssocID="{DCBEB2BB-E582-44B6-AB67-8AE43E978C94}" presName="theInnerList" presStyleCnt="0"/>
      <dgm:spPr/>
    </dgm:pt>
    <dgm:pt modelId="{BCBDD501-E88B-4504-9DA4-B73ADF1D27E2}" type="pres">
      <dgm:prSet presAssocID="{583B8F06-7359-4B41-AB0F-D83844B79857}" presName="childNode" presStyleLbl="node1" presStyleIdx="0" presStyleCnt="9">
        <dgm:presLayoutVars>
          <dgm:bulletEnabled val="1"/>
        </dgm:presLayoutVars>
      </dgm:prSet>
      <dgm:spPr/>
    </dgm:pt>
    <dgm:pt modelId="{CF0EE413-9FAB-4780-A2D9-EE15BDAA1736}" type="pres">
      <dgm:prSet presAssocID="{583B8F06-7359-4B41-AB0F-D83844B79857}" presName="aSpace2" presStyleCnt="0"/>
      <dgm:spPr/>
    </dgm:pt>
    <dgm:pt modelId="{62B6D4A1-0515-4E63-8D7F-34CC10C18969}" type="pres">
      <dgm:prSet presAssocID="{9EEDC2B4-00DD-45E9-9CE7-5005FA759BFF}" presName="childNode" presStyleLbl="node1" presStyleIdx="1" presStyleCnt="9">
        <dgm:presLayoutVars>
          <dgm:bulletEnabled val="1"/>
        </dgm:presLayoutVars>
      </dgm:prSet>
      <dgm:spPr/>
    </dgm:pt>
    <dgm:pt modelId="{549BA23E-CBD0-4343-AA14-C1DF9D3EF6E5}" type="pres">
      <dgm:prSet presAssocID="{9EEDC2B4-00DD-45E9-9CE7-5005FA759BFF}" presName="aSpace2" presStyleCnt="0"/>
      <dgm:spPr/>
    </dgm:pt>
    <dgm:pt modelId="{2DA21DA3-52D7-46B3-B083-A91747C2A23A}" type="pres">
      <dgm:prSet presAssocID="{C6BF7781-29DC-4991-93B5-470A79F260A1}" presName="childNode" presStyleLbl="node1" presStyleIdx="2" presStyleCnt="9">
        <dgm:presLayoutVars>
          <dgm:bulletEnabled val="1"/>
        </dgm:presLayoutVars>
      </dgm:prSet>
      <dgm:spPr/>
    </dgm:pt>
    <dgm:pt modelId="{A1789A91-692B-4CA7-B901-86DF38A8DA16}" type="pres">
      <dgm:prSet presAssocID="{DCBEB2BB-E582-44B6-AB67-8AE43E978C94}" presName="aSpace" presStyleCnt="0"/>
      <dgm:spPr/>
    </dgm:pt>
    <dgm:pt modelId="{7301E2BC-8B09-4443-8810-0EA7893F2537}" type="pres">
      <dgm:prSet presAssocID="{EC2787DD-482C-4B35-A759-22CDA9F9152F}" presName="compNode" presStyleCnt="0"/>
      <dgm:spPr/>
    </dgm:pt>
    <dgm:pt modelId="{97D5E87D-DB8F-4297-A629-ED5A080B7F75}" type="pres">
      <dgm:prSet presAssocID="{EC2787DD-482C-4B35-A759-22CDA9F9152F}" presName="aNode" presStyleLbl="bgShp" presStyleIdx="1" presStyleCnt="3"/>
      <dgm:spPr/>
    </dgm:pt>
    <dgm:pt modelId="{DBAEA36C-F842-4DF9-8701-938FDC2DED52}" type="pres">
      <dgm:prSet presAssocID="{EC2787DD-482C-4B35-A759-22CDA9F9152F}" presName="textNode" presStyleLbl="bgShp" presStyleIdx="1" presStyleCnt="3"/>
      <dgm:spPr/>
    </dgm:pt>
    <dgm:pt modelId="{DA58D49E-4781-47B5-BF7D-01D7A9824A35}" type="pres">
      <dgm:prSet presAssocID="{EC2787DD-482C-4B35-A759-22CDA9F9152F}" presName="compChildNode" presStyleCnt="0"/>
      <dgm:spPr/>
    </dgm:pt>
    <dgm:pt modelId="{92C5E337-BC7E-4756-A890-5255AA2E1CCE}" type="pres">
      <dgm:prSet presAssocID="{EC2787DD-482C-4B35-A759-22CDA9F9152F}" presName="theInnerList" presStyleCnt="0"/>
      <dgm:spPr/>
    </dgm:pt>
    <dgm:pt modelId="{7CAA45F4-5ABE-4AC6-816A-F3617ADC78D3}" type="pres">
      <dgm:prSet presAssocID="{771914AF-B2F7-4E48-AF6F-C22EBF225F10}" presName="childNode" presStyleLbl="node1" presStyleIdx="3" presStyleCnt="9">
        <dgm:presLayoutVars>
          <dgm:bulletEnabled val="1"/>
        </dgm:presLayoutVars>
      </dgm:prSet>
      <dgm:spPr/>
    </dgm:pt>
    <dgm:pt modelId="{045EF312-912D-414A-A16E-C0F5E88AACC2}" type="pres">
      <dgm:prSet presAssocID="{771914AF-B2F7-4E48-AF6F-C22EBF225F10}" presName="aSpace2" presStyleCnt="0"/>
      <dgm:spPr/>
    </dgm:pt>
    <dgm:pt modelId="{EE864F51-5F1D-4965-B981-82F560EB2616}" type="pres">
      <dgm:prSet presAssocID="{1393FFE6-CCB8-4850-8135-51264C94EC88}" presName="childNode" presStyleLbl="node1" presStyleIdx="4" presStyleCnt="9">
        <dgm:presLayoutVars>
          <dgm:bulletEnabled val="1"/>
        </dgm:presLayoutVars>
      </dgm:prSet>
      <dgm:spPr/>
    </dgm:pt>
    <dgm:pt modelId="{DDCC0CCC-F0F0-4095-8DEB-0C9EDB673C1A}" type="pres">
      <dgm:prSet presAssocID="{1393FFE6-CCB8-4850-8135-51264C94EC88}" presName="aSpace2" presStyleCnt="0"/>
      <dgm:spPr/>
    </dgm:pt>
    <dgm:pt modelId="{1821F62C-2D9D-42EE-80D6-25786FE17DFA}" type="pres">
      <dgm:prSet presAssocID="{960EC2A0-AC76-46A1-AFA1-4D7ACC007F5C}" presName="childNode" presStyleLbl="node1" presStyleIdx="5" presStyleCnt="9">
        <dgm:presLayoutVars>
          <dgm:bulletEnabled val="1"/>
        </dgm:presLayoutVars>
      </dgm:prSet>
      <dgm:spPr/>
    </dgm:pt>
    <dgm:pt modelId="{0F894DA8-C2B2-41CE-9B84-8C27C09AF606}" type="pres">
      <dgm:prSet presAssocID="{960EC2A0-AC76-46A1-AFA1-4D7ACC007F5C}" presName="aSpace2" presStyleCnt="0"/>
      <dgm:spPr/>
    </dgm:pt>
    <dgm:pt modelId="{DD9B35B8-A5D8-4ACC-94EA-C27FDF2062F7}" type="pres">
      <dgm:prSet presAssocID="{8B1BB1A2-6E4F-4B0A-BCBF-8BDEB0E0CB0A}" presName="childNode" presStyleLbl="node1" presStyleIdx="6" presStyleCnt="9">
        <dgm:presLayoutVars>
          <dgm:bulletEnabled val="1"/>
        </dgm:presLayoutVars>
      </dgm:prSet>
      <dgm:spPr/>
    </dgm:pt>
    <dgm:pt modelId="{A273DBAF-C56A-4C2C-9605-025107B53155}" type="pres">
      <dgm:prSet presAssocID="{EC2787DD-482C-4B35-A759-22CDA9F9152F}" presName="aSpace" presStyleCnt="0"/>
      <dgm:spPr/>
    </dgm:pt>
    <dgm:pt modelId="{DA357AEF-B348-4E6E-AE41-1080348DD91E}" type="pres">
      <dgm:prSet presAssocID="{59E108C3-18F5-4DBF-B919-5B76DB718722}" presName="compNode" presStyleCnt="0"/>
      <dgm:spPr/>
    </dgm:pt>
    <dgm:pt modelId="{8E891598-72FC-4DA1-AC74-DD7313AFEFDD}" type="pres">
      <dgm:prSet presAssocID="{59E108C3-18F5-4DBF-B919-5B76DB718722}" presName="aNode" presStyleLbl="bgShp" presStyleIdx="2" presStyleCnt="3"/>
      <dgm:spPr/>
    </dgm:pt>
    <dgm:pt modelId="{93F412EC-7C46-4D02-B9D7-834AB680AFB1}" type="pres">
      <dgm:prSet presAssocID="{59E108C3-18F5-4DBF-B919-5B76DB718722}" presName="textNode" presStyleLbl="bgShp" presStyleIdx="2" presStyleCnt="3"/>
      <dgm:spPr/>
    </dgm:pt>
    <dgm:pt modelId="{A519E5FC-8386-47B1-968C-516AD806DB17}" type="pres">
      <dgm:prSet presAssocID="{59E108C3-18F5-4DBF-B919-5B76DB718722}" presName="compChildNode" presStyleCnt="0"/>
      <dgm:spPr/>
    </dgm:pt>
    <dgm:pt modelId="{9157C109-6F94-4A20-ACDF-1E4EDEAF1C30}" type="pres">
      <dgm:prSet presAssocID="{59E108C3-18F5-4DBF-B919-5B76DB718722}" presName="theInnerList" presStyleCnt="0"/>
      <dgm:spPr/>
    </dgm:pt>
    <dgm:pt modelId="{02046829-E936-49C8-995B-3B5468CAF53B}" type="pres">
      <dgm:prSet presAssocID="{BF2ED3DA-E59B-465B-ACD5-8A16B6880E29}" presName="childNode" presStyleLbl="node1" presStyleIdx="7" presStyleCnt="9">
        <dgm:presLayoutVars>
          <dgm:bulletEnabled val="1"/>
        </dgm:presLayoutVars>
      </dgm:prSet>
      <dgm:spPr/>
    </dgm:pt>
    <dgm:pt modelId="{374ABB54-C39F-42B6-8013-33A7DC57C8A0}" type="pres">
      <dgm:prSet presAssocID="{BF2ED3DA-E59B-465B-ACD5-8A16B6880E29}" presName="aSpace2" presStyleCnt="0"/>
      <dgm:spPr/>
    </dgm:pt>
    <dgm:pt modelId="{FF65CD69-FF5D-4631-8908-4256361AAA57}" type="pres">
      <dgm:prSet presAssocID="{06313892-7FFF-4B10-9AC6-9BE2C0ED8961}" presName="childNode" presStyleLbl="node1" presStyleIdx="8" presStyleCnt="9">
        <dgm:presLayoutVars>
          <dgm:bulletEnabled val="1"/>
        </dgm:presLayoutVars>
      </dgm:prSet>
      <dgm:spPr/>
    </dgm:pt>
  </dgm:ptLst>
  <dgm:cxnLst>
    <dgm:cxn modelId="{7A172D09-BE89-4E99-B2C2-7FC5C84FA891}" srcId="{EC2787DD-482C-4B35-A759-22CDA9F9152F}" destId="{1393FFE6-CCB8-4850-8135-51264C94EC88}" srcOrd="1" destOrd="0" parTransId="{630DD5BE-2F7F-4D53-9A84-77D128AD05E5}" sibTransId="{1FD2160B-34FD-47E7-A002-AA0737DB6D73}"/>
    <dgm:cxn modelId="{443B9327-76D5-4614-BFAF-A7A03FE478F3}" srcId="{4F8A498B-AD02-416E-9334-4152211D20F8}" destId="{DCBEB2BB-E582-44B6-AB67-8AE43E978C94}" srcOrd="0" destOrd="0" parTransId="{BEEE5A85-8752-46AD-A04A-E5040F6A8713}" sibTransId="{BE9A942D-8380-471D-A2B7-20EEE5DA80E9}"/>
    <dgm:cxn modelId="{CF045E37-2423-4629-BC95-85DC3A3129A6}" type="presOf" srcId="{9EEDC2B4-00DD-45E9-9CE7-5005FA759BFF}" destId="{62B6D4A1-0515-4E63-8D7F-34CC10C18969}" srcOrd="0" destOrd="0" presId="urn:microsoft.com/office/officeart/2005/8/layout/lProcess2"/>
    <dgm:cxn modelId="{F812F639-7FDE-4E1B-8F1F-DD9257280431}" srcId="{DCBEB2BB-E582-44B6-AB67-8AE43E978C94}" destId="{C6BF7781-29DC-4991-93B5-470A79F260A1}" srcOrd="2" destOrd="0" parTransId="{B30A30A6-23C2-4F7E-8A62-54D090DC41C0}" sibTransId="{7F745D27-E8C0-4FEC-8A76-68B326EC55A4}"/>
    <dgm:cxn modelId="{62422B63-3DD7-429B-A54A-D077040EF0B7}" type="presOf" srcId="{59E108C3-18F5-4DBF-B919-5B76DB718722}" destId="{93F412EC-7C46-4D02-B9D7-834AB680AFB1}" srcOrd="1" destOrd="0" presId="urn:microsoft.com/office/officeart/2005/8/layout/lProcess2"/>
    <dgm:cxn modelId="{1ACE2E49-FBA3-4C13-87C1-AB1817376E10}" srcId="{DCBEB2BB-E582-44B6-AB67-8AE43E978C94}" destId="{583B8F06-7359-4B41-AB0F-D83844B79857}" srcOrd="0" destOrd="0" parTransId="{699ECC05-6DC3-43F6-97D6-1A9D758C06CB}" sibTransId="{4CD01A07-0D31-4750-ADF5-E862CED25EE8}"/>
    <dgm:cxn modelId="{1C19BA6C-E359-4601-9364-E8AF5A055858}" srcId="{59E108C3-18F5-4DBF-B919-5B76DB718722}" destId="{BF2ED3DA-E59B-465B-ACD5-8A16B6880E29}" srcOrd="0" destOrd="0" parTransId="{353B3C35-731F-4050-BB7E-26CBD5795D10}" sibTransId="{CD7978DB-C59A-49F5-A2FC-8075B244D9B9}"/>
    <dgm:cxn modelId="{DC9EDB51-5889-45EB-AD57-B70EF8A6D335}" type="presOf" srcId="{1393FFE6-CCB8-4850-8135-51264C94EC88}" destId="{EE864F51-5F1D-4965-B981-82F560EB2616}" srcOrd="0" destOrd="0" presId="urn:microsoft.com/office/officeart/2005/8/layout/lProcess2"/>
    <dgm:cxn modelId="{7F48E559-9824-4FD0-8889-3A4E280DDE52}" type="presOf" srcId="{4F8A498B-AD02-416E-9334-4152211D20F8}" destId="{3F225FA5-8509-4635-AC8C-6C5178853389}" srcOrd="0" destOrd="0" presId="urn:microsoft.com/office/officeart/2005/8/layout/lProcess2"/>
    <dgm:cxn modelId="{DD95C98B-33A2-476F-AD05-E67C56577418}" type="presOf" srcId="{DCBEB2BB-E582-44B6-AB67-8AE43E978C94}" destId="{CB991995-D986-4C49-9C80-FB543A6EF60F}" srcOrd="0" destOrd="0" presId="urn:microsoft.com/office/officeart/2005/8/layout/lProcess2"/>
    <dgm:cxn modelId="{AAAAB48E-D069-4652-AFE2-59E3A8C088AB}" srcId="{4F8A498B-AD02-416E-9334-4152211D20F8}" destId="{EC2787DD-482C-4B35-A759-22CDA9F9152F}" srcOrd="1" destOrd="0" parTransId="{77ED70F0-5CD2-460C-B54F-3C33E3A3C42C}" sibTransId="{86288D9D-DBB9-4E4F-9673-68E2D9B27099}"/>
    <dgm:cxn modelId="{7A602D8F-8405-4E20-A3CC-85E938812EAB}" srcId="{EC2787DD-482C-4B35-A759-22CDA9F9152F}" destId="{771914AF-B2F7-4E48-AF6F-C22EBF225F10}" srcOrd="0" destOrd="0" parTransId="{5BF11A2B-7F79-4C6E-9432-6E70DD1EE048}" sibTransId="{D5DEEFC9-64CC-4066-8209-BCF426B1385E}"/>
    <dgm:cxn modelId="{2B5F8793-58D1-4DD0-9905-5E36FE49BEAB}" srcId="{59E108C3-18F5-4DBF-B919-5B76DB718722}" destId="{06313892-7FFF-4B10-9AC6-9BE2C0ED8961}" srcOrd="1" destOrd="0" parTransId="{4A47192C-0BE5-461C-84FB-FA25EF5BE8DC}" sibTransId="{F75A7F93-D795-4A30-8BB9-5FA40964B72D}"/>
    <dgm:cxn modelId="{43F6BA9B-C477-4F44-B688-F950423910D1}" srcId="{4F8A498B-AD02-416E-9334-4152211D20F8}" destId="{59E108C3-18F5-4DBF-B919-5B76DB718722}" srcOrd="2" destOrd="0" parTransId="{AF89004C-148F-4662-A6A8-301FD44A3B06}" sibTransId="{CD3B7332-F421-4B02-9298-BEAD939F4679}"/>
    <dgm:cxn modelId="{233EE99F-1D33-4D46-9E80-2D0ADD665D72}" type="presOf" srcId="{960EC2A0-AC76-46A1-AFA1-4D7ACC007F5C}" destId="{1821F62C-2D9D-42EE-80D6-25786FE17DFA}" srcOrd="0" destOrd="0" presId="urn:microsoft.com/office/officeart/2005/8/layout/lProcess2"/>
    <dgm:cxn modelId="{FB3E30A1-4CC6-407F-A66E-2DA4F3CD919E}" srcId="{DCBEB2BB-E582-44B6-AB67-8AE43E978C94}" destId="{9EEDC2B4-00DD-45E9-9CE7-5005FA759BFF}" srcOrd="1" destOrd="0" parTransId="{5ED2751C-A84A-4997-A62E-8E3803325180}" sibTransId="{351587B3-E6CB-4C2F-B18A-FE4C6E66933F}"/>
    <dgm:cxn modelId="{D5C391A7-B62C-4CC0-B0F0-6552D88763EE}" type="presOf" srcId="{583B8F06-7359-4B41-AB0F-D83844B79857}" destId="{BCBDD501-E88B-4504-9DA4-B73ADF1D27E2}" srcOrd="0" destOrd="0" presId="urn:microsoft.com/office/officeart/2005/8/layout/lProcess2"/>
    <dgm:cxn modelId="{B50998B0-50A9-4D9D-99C7-9DAAA85AC08D}" type="presOf" srcId="{EC2787DD-482C-4B35-A759-22CDA9F9152F}" destId="{DBAEA36C-F842-4DF9-8701-938FDC2DED52}" srcOrd="1" destOrd="0" presId="urn:microsoft.com/office/officeart/2005/8/layout/lProcess2"/>
    <dgm:cxn modelId="{B38747B7-C70B-40B8-806D-568A3EF1C142}" srcId="{EC2787DD-482C-4B35-A759-22CDA9F9152F}" destId="{960EC2A0-AC76-46A1-AFA1-4D7ACC007F5C}" srcOrd="2" destOrd="0" parTransId="{D1905567-B111-471B-A984-D797642F7B42}" sibTransId="{AD93AB07-A8F0-4684-B9F2-EFE79A0990BD}"/>
    <dgm:cxn modelId="{EA78BFBC-8D08-4A1A-9795-FB5C24CDFA88}" type="presOf" srcId="{DCBEB2BB-E582-44B6-AB67-8AE43E978C94}" destId="{7ED32EEC-2A86-4399-94D9-5E0B6DBDBD62}" srcOrd="1" destOrd="0" presId="urn:microsoft.com/office/officeart/2005/8/layout/lProcess2"/>
    <dgm:cxn modelId="{2404DAC2-9580-4C72-A729-F288C836B3DB}" type="presOf" srcId="{BF2ED3DA-E59B-465B-ACD5-8A16B6880E29}" destId="{02046829-E936-49C8-995B-3B5468CAF53B}" srcOrd="0" destOrd="0" presId="urn:microsoft.com/office/officeart/2005/8/layout/lProcess2"/>
    <dgm:cxn modelId="{702F13D7-FA56-43F2-BDB6-04E40AB49F9F}" type="presOf" srcId="{C6BF7781-29DC-4991-93B5-470A79F260A1}" destId="{2DA21DA3-52D7-46B3-B083-A91747C2A23A}" srcOrd="0" destOrd="0" presId="urn:microsoft.com/office/officeart/2005/8/layout/lProcess2"/>
    <dgm:cxn modelId="{5C60DDDC-85AD-4316-825A-CCD3B01EA5D4}" type="presOf" srcId="{EC2787DD-482C-4B35-A759-22CDA9F9152F}" destId="{97D5E87D-DB8F-4297-A629-ED5A080B7F75}" srcOrd="0" destOrd="0" presId="urn:microsoft.com/office/officeart/2005/8/layout/lProcess2"/>
    <dgm:cxn modelId="{37AD94E0-14CB-4B76-BBE1-CC5CEA39A245}" srcId="{EC2787DD-482C-4B35-A759-22CDA9F9152F}" destId="{8B1BB1A2-6E4F-4B0A-BCBF-8BDEB0E0CB0A}" srcOrd="3" destOrd="0" parTransId="{43F45744-3E69-4214-AEB9-19E650C82DFF}" sibTransId="{103DBF4E-ECAC-42A0-B4DF-5F0B83119144}"/>
    <dgm:cxn modelId="{F9F212ED-A176-4871-8D1C-FAA2FA9690D3}" type="presOf" srcId="{8B1BB1A2-6E4F-4B0A-BCBF-8BDEB0E0CB0A}" destId="{DD9B35B8-A5D8-4ACC-94EA-C27FDF2062F7}" srcOrd="0" destOrd="0" presId="urn:microsoft.com/office/officeart/2005/8/layout/lProcess2"/>
    <dgm:cxn modelId="{6A60DFF2-91DA-4D50-8C88-BBB5B80FC6E2}" type="presOf" srcId="{771914AF-B2F7-4E48-AF6F-C22EBF225F10}" destId="{7CAA45F4-5ABE-4AC6-816A-F3617ADC78D3}" srcOrd="0" destOrd="0" presId="urn:microsoft.com/office/officeart/2005/8/layout/lProcess2"/>
    <dgm:cxn modelId="{83E031FA-3B54-42D9-B39E-C2A9A5CD0DF6}" type="presOf" srcId="{06313892-7FFF-4B10-9AC6-9BE2C0ED8961}" destId="{FF65CD69-FF5D-4631-8908-4256361AAA57}" srcOrd="0" destOrd="0" presId="urn:microsoft.com/office/officeart/2005/8/layout/lProcess2"/>
    <dgm:cxn modelId="{4CC5E8FE-3E32-4634-9DDA-A888C453E71E}" type="presOf" srcId="{59E108C3-18F5-4DBF-B919-5B76DB718722}" destId="{8E891598-72FC-4DA1-AC74-DD7313AFEFDD}" srcOrd="0" destOrd="0" presId="urn:microsoft.com/office/officeart/2005/8/layout/lProcess2"/>
    <dgm:cxn modelId="{9949FFF6-2184-4F2F-89D8-F655996156D9}" type="presParOf" srcId="{3F225FA5-8509-4635-AC8C-6C5178853389}" destId="{77B9D854-C561-4219-94A1-52CEDECB5E57}" srcOrd="0" destOrd="0" presId="urn:microsoft.com/office/officeart/2005/8/layout/lProcess2"/>
    <dgm:cxn modelId="{C5835DB8-CF68-43B7-9FFA-210AFCF62A22}" type="presParOf" srcId="{77B9D854-C561-4219-94A1-52CEDECB5E57}" destId="{CB991995-D986-4C49-9C80-FB543A6EF60F}" srcOrd="0" destOrd="0" presId="urn:microsoft.com/office/officeart/2005/8/layout/lProcess2"/>
    <dgm:cxn modelId="{61957AA7-8F84-45D5-B84A-93F0A97EE98C}" type="presParOf" srcId="{77B9D854-C561-4219-94A1-52CEDECB5E57}" destId="{7ED32EEC-2A86-4399-94D9-5E0B6DBDBD62}" srcOrd="1" destOrd="0" presId="urn:microsoft.com/office/officeart/2005/8/layout/lProcess2"/>
    <dgm:cxn modelId="{2757070F-059A-41E5-875C-20918963343D}" type="presParOf" srcId="{77B9D854-C561-4219-94A1-52CEDECB5E57}" destId="{DBB8E72E-1872-42C1-A38F-49A33E491E56}" srcOrd="2" destOrd="0" presId="urn:microsoft.com/office/officeart/2005/8/layout/lProcess2"/>
    <dgm:cxn modelId="{75A154D7-5623-4719-98C3-C519CDA2A27B}" type="presParOf" srcId="{DBB8E72E-1872-42C1-A38F-49A33E491E56}" destId="{A80865A7-3F68-413B-97A1-DD828BD1D4A8}" srcOrd="0" destOrd="0" presId="urn:microsoft.com/office/officeart/2005/8/layout/lProcess2"/>
    <dgm:cxn modelId="{6C7936D9-3303-4DCC-8B68-A1358829D55C}" type="presParOf" srcId="{A80865A7-3F68-413B-97A1-DD828BD1D4A8}" destId="{BCBDD501-E88B-4504-9DA4-B73ADF1D27E2}" srcOrd="0" destOrd="0" presId="urn:microsoft.com/office/officeart/2005/8/layout/lProcess2"/>
    <dgm:cxn modelId="{F831C9D2-4B51-414D-A6A5-1D3DF3393736}" type="presParOf" srcId="{A80865A7-3F68-413B-97A1-DD828BD1D4A8}" destId="{CF0EE413-9FAB-4780-A2D9-EE15BDAA1736}" srcOrd="1" destOrd="0" presId="urn:microsoft.com/office/officeart/2005/8/layout/lProcess2"/>
    <dgm:cxn modelId="{DC89C3EE-373B-429C-9104-77AAB7360814}" type="presParOf" srcId="{A80865A7-3F68-413B-97A1-DD828BD1D4A8}" destId="{62B6D4A1-0515-4E63-8D7F-34CC10C18969}" srcOrd="2" destOrd="0" presId="urn:microsoft.com/office/officeart/2005/8/layout/lProcess2"/>
    <dgm:cxn modelId="{A773DA63-E111-4C5D-8BF0-13FBCC6F83A4}" type="presParOf" srcId="{A80865A7-3F68-413B-97A1-DD828BD1D4A8}" destId="{549BA23E-CBD0-4343-AA14-C1DF9D3EF6E5}" srcOrd="3" destOrd="0" presId="urn:microsoft.com/office/officeart/2005/8/layout/lProcess2"/>
    <dgm:cxn modelId="{E41CF8F1-C9A6-4430-ABF1-6978F16952F0}" type="presParOf" srcId="{A80865A7-3F68-413B-97A1-DD828BD1D4A8}" destId="{2DA21DA3-52D7-46B3-B083-A91747C2A23A}" srcOrd="4" destOrd="0" presId="urn:microsoft.com/office/officeart/2005/8/layout/lProcess2"/>
    <dgm:cxn modelId="{66F3A303-F849-4991-8917-7397262D7240}" type="presParOf" srcId="{3F225FA5-8509-4635-AC8C-6C5178853389}" destId="{A1789A91-692B-4CA7-B901-86DF38A8DA16}" srcOrd="1" destOrd="0" presId="urn:microsoft.com/office/officeart/2005/8/layout/lProcess2"/>
    <dgm:cxn modelId="{74A71D37-ED26-4163-A9DB-013EBDB80F2E}" type="presParOf" srcId="{3F225FA5-8509-4635-AC8C-6C5178853389}" destId="{7301E2BC-8B09-4443-8810-0EA7893F2537}" srcOrd="2" destOrd="0" presId="urn:microsoft.com/office/officeart/2005/8/layout/lProcess2"/>
    <dgm:cxn modelId="{01B1989B-4E0C-426A-9846-AEFC9ADCFE21}" type="presParOf" srcId="{7301E2BC-8B09-4443-8810-0EA7893F2537}" destId="{97D5E87D-DB8F-4297-A629-ED5A080B7F75}" srcOrd="0" destOrd="0" presId="urn:microsoft.com/office/officeart/2005/8/layout/lProcess2"/>
    <dgm:cxn modelId="{9CDF285B-FCEE-477C-A7B1-70B53D5DAC1E}" type="presParOf" srcId="{7301E2BC-8B09-4443-8810-0EA7893F2537}" destId="{DBAEA36C-F842-4DF9-8701-938FDC2DED52}" srcOrd="1" destOrd="0" presId="urn:microsoft.com/office/officeart/2005/8/layout/lProcess2"/>
    <dgm:cxn modelId="{69974C81-367D-4EF8-A3E7-FA1E9AAC196A}" type="presParOf" srcId="{7301E2BC-8B09-4443-8810-0EA7893F2537}" destId="{DA58D49E-4781-47B5-BF7D-01D7A9824A35}" srcOrd="2" destOrd="0" presId="urn:microsoft.com/office/officeart/2005/8/layout/lProcess2"/>
    <dgm:cxn modelId="{A239643B-6665-416D-A461-89E2F95A22B3}" type="presParOf" srcId="{DA58D49E-4781-47B5-BF7D-01D7A9824A35}" destId="{92C5E337-BC7E-4756-A890-5255AA2E1CCE}" srcOrd="0" destOrd="0" presId="urn:microsoft.com/office/officeart/2005/8/layout/lProcess2"/>
    <dgm:cxn modelId="{4670559D-D7F8-41A7-AE14-899BE2F13AED}" type="presParOf" srcId="{92C5E337-BC7E-4756-A890-5255AA2E1CCE}" destId="{7CAA45F4-5ABE-4AC6-816A-F3617ADC78D3}" srcOrd="0" destOrd="0" presId="urn:microsoft.com/office/officeart/2005/8/layout/lProcess2"/>
    <dgm:cxn modelId="{D0C46C6F-97D7-4DBF-8F5B-4AE72484DA01}" type="presParOf" srcId="{92C5E337-BC7E-4756-A890-5255AA2E1CCE}" destId="{045EF312-912D-414A-A16E-C0F5E88AACC2}" srcOrd="1" destOrd="0" presId="urn:microsoft.com/office/officeart/2005/8/layout/lProcess2"/>
    <dgm:cxn modelId="{7AF939A2-9CD3-47ED-8005-C212F3508699}" type="presParOf" srcId="{92C5E337-BC7E-4756-A890-5255AA2E1CCE}" destId="{EE864F51-5F1D-4965-B981-82F560EB2616}" srcOrd="2" destOrd="0" presId="urn:microsoft.com/office/officeart/2005/8/layout/lProcess2"/>
    <dgm:cxn modelId="{B3EC06FE-D95D-4583-A1D2-EABBC748F462}" type="presParOf" srcId="{92C5E337-BC7E-4756-A890-5255AA2E1CCE}" destId="{DDCC0CCC-F0F0-4095-8DEB-0C9EDB673C1A}" srcOrd="3" destOrd="0" presId="urn:microsoft.com/office/officeart/2005/8/layout/lProcess2"/>
    <dgm:cxn modelId="{9B791651-A6E5-4906-AEE6-73A24D1B1A47}" type="presParOf" srcId="{92C5E337-BC7E-4756-A890-5255AA2E1CCE}" destId="{1821F62C-2D9D-42EE-80D6-25786FE17DFA}" srcOrd="4" destOrd="0" presId="urn:microsoft.com/office/officeart/2005/8/layout/lProcess2"/>
    <dgm:cxn modelId="{51F1B414-C9B5-429B-AE59-1B3D6027C3B1}" type="presParOf" srcId="{92C5E337-BC7E-4756-A890-5255AA2E1CCE}" destId="{0F894DA8-C2B2-41CE-9B84-8C27C09AF606}" srcOrd="5" destOrd="0" presId="urn:microsoft.com/office/officeart/2005/8/layout/lProcess2"/>
    <dgm:cxn modelId="{21319F25-C79B-4549-882D-D5171E93F326}" type="presParOf" srcId="{92C5E337-BC7E-4756-A890-5255AA2E1CCE}" destId="{DD9B35B8-A5D8-4ACC-94EA-C27FDF2062F7}" srcOrd="6" destOrd="0" presId="urn:microsoft.com/office/officeart/2005/8/layout/lProcess2"/>
    <dgm:cxn modelId="{FCD10797-8FAD-48B6-8A9B-504042A25C93}" type="presParOf" srcId="{3F225FA5-8509-4635-AC8C-6C5178853389}" destId="{A273DBAF-C56A-4C2C-9605-025107B53155}" srcOrd="3" destOrd="0" presId="urn:microsoft.com/office/officeart/2005/8/layout/lProcess2"/>
    <dgm:cxn modelId="{CA41DD90-5CB8-487D-B18B-FE6F76601BCB}" type="presParOf" srcId="{3F225FA5-8509-4635-AC8C-6C5178853389}" destId="{DA357AEF-B348-4E6E-AE41-1080348DD91E}" srcOrd="4" destOrd="0" presId="urn:microsoft.com/office/officeart/2005/8/layout/lProcess2"/>
    <dgm:cxn modelId="{1C782623-F7F2-4BFE-8DF2-AE08959A2135}" type="presParOf" srcId="{DA357AEF-B348-4E6E-AE41-1080348DD91E}" destId="{8E891598-72FC-4DA1-AC74-DD7313AFEFDD}" srcOrd="0" destOrd="0" presId="urn:microsoft.com/office/officeart/2005/8/layout/lProcess2"/>
    <dgm:cxn modelId="{C44BE004-E60E-4A2D-8AEE-4341A144E324}" type="presParOf" srcId="{DA357AEF-B348-4E6E-AE41-1080348DD91E}" destId="{93F412EC-7C46-4D02-B9D7-834AB680AFB1}" srcOrd="1" destOrd="0" presId="urn:microsoft.com/office/officeart/2005/8/layout/lProcess2"/>
    <dgm:cxn modelId="{C445ACBB-E459-4D89-B2BF-BC9E6FE5567F}" type="presParOf" srcId="{DA357AEF-B348-4E6E-AE41-1080348DD91E}" destId="{A519E5FC-8386-47B1-968C-516AD806DB17}" srcOrd="2" destOrd="0" presId="urn:microsoft.com/office/officeart/2005/8/layout/lProcess2"/>
    <dgm:cxn modelId="{D89F707E-8BF9-4823-B67B-60777F0AD3E2}" type="presParOf" srcId="{A519E5FC-8386-47B1-968C-516AD806DB17}" destId="{9157C109-6F94-4A20-ACDF-1E4EDEAF1C30}" srcOrd="0" destOrd="0" presId="urn:microsoft.com/office/officeart/2005/8/layout/lProcess2"/>
    <dgm:cxn modelId="{815E38CD-3AB1-4D7B-B106-D666AFEAC77E}" type="presParOf" srcId="{9157C109-6F94-4A20-ACDF-1E4EDEAF1C30}" destId="{02046829-E936-49C8-995B-3B5468CAF53B}" srcOrd="0" destOrd="0" presId="urn:microsoft.com/office/officeart/2005/8/layout/lProcess2"/>
    <dgm:cxn modelId="{B73C3873-830E-479A-8637-EC3B1733A174}" type="presParOf" srcId="{9157C109-6F94-4A20-ACDF-1E4EDEAF1C30}" destId="{374ABB54-C39F-42B6-8013-33A7DC57C8A0}" srcOrd="1" destOrd="0" presId="urn:microsoft.com/office/officeart/2005/8/layout/lProcess2"/>
    <dgm:cxn modelId="{A670CBCF-8B4C-4AD8-AC0F-59C41A1B1424}" type="presParOf" srcId="{9157C109-6F94-4A20-ACDF-1E4EDEAF1C30}" destId="{FF65CD69-FF5D-4631-8908-4256361AAA57}" srcOrd="2" destOrd="0" presId="urn:microsoft.com/office/officeart/2005/8/layout/l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C97507-7912-4B12-A8B7-AF0D53FAF0BF}" type="doc">
      <dgm:prSet loTypeId="urn:microsoft.com/office/officeart/2005/8/layout/architecture" loCatId="list" qsTypeId="urn:microsoft.com/office/officeart/2005/8/quickstyle/simple1" qsCatId="simple" csTypeId="urn:microsoft.com/office/officeart/2005/8/colors/accent1_5" csCatId="accent1" phldr="1"/>
      <dgm:spPr/>
      <dgm:t>
        <a:bodyPr/>
        <a:lstStyle/>
        <a:p>
          <a:endParaRPr lang="en-IN"/>
        </a:p>
      </dgm:t>
    </dgm:pt>
    <dgm:pt modelId="{EA89E22F-D1D7-4E3D-B260-06D1F09E9210}">
      <dgm:prSet phldrT="[Text]"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DATA ENGINEERING   &amp; TESTING</a:t>
          </a:r>
          <a:endParaRPr lang="en-IN" b="1" dirty="0">
            <a:latin typeface="Aptos" panose="020B0004020202020204" pitchFamily="34" charset="0"/>
          </a:endParaRPr>
        </a:p>
      </dgm:t>
    </dgm:pt>
    <dgm:pt modelId="{F659148C-EBEA-4ACD-B82B-3B44115F1651}" type="parTrans" cxnId="{B2CB5E4B-5C12-46D0-A21F-126D58A2145A}">
      <dgm:prSet/>
      <dgm:spPr/>
      <dgm:t>
        <a:bodyPr/>
        <a:lstStyle/>
        <a:p>
          <a:endParaRPr lang="en-IN"/>
        </a:p>
      </dgm:t>
    </dgm:pt>
    <dgm:pt modelId="{C9752DCE-0FFE-45B4-B66D-5801FC46C030}" type="sibTrans" cxnId="{B2CB5E4B-5C12-46D0-A21F-126D58A2145A}">
      <dgm:prSet/>
      <dgm:spPr/>
      <dgm:t>
        <a:bodyPr/>
        <a:lstStyle/>
        <a:p>
          <a:endParaRPr lang="en-IN"/>
        </a:p>
      </dgm:t>
    </dgm:pt>
    <dgm:pt modelId="{256AA747-BB5F-4934-AAE3-CB951723A0CC}">
      <dgm:prSet phldrT="[Text]"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ANALYSS AND DISCOVERY</a:t>
          </a:r>
          <a:endParaRPr lang="en-IN" b="1" dirty="0">
            <a:latin typeface="Aptos" panose="020B0004020202020204" pitchFamily="34" charset="0"/>
          </a:endParaRPr>
        </a:p>
      </dgm:t>
    </dgm:pt>
    <dgm:pt modelId="{CD6838CE-4354-4017-8A18-693B310781A1}" type="sibTrans" cxnId="{8D1B3587-5C3E-4BD8-BFAF-FFC6A3AD27E2}">
      <dgm:prSet/>
      <dgm:spPr/>
      <dgm:t>
        <a:bodyPr/>
        <a:lstStyle/>
        <a:p>
          <a:endParaRPr lang="en-IN"/>
        </a:p>
      </dgm:t>
    </dgm:pt>
    <dgm:pt modelId="{964A5DF8-5305-4C86-A032-2447438B5A25}" type="parTrans" cxnId="{8D1B3587-5C3E-4BD8-BFAF-FFC6A3AD27E2}">
      <dgm:prSet/>
      <dgm:spPr/>
      <dgm:t>
        <a:bodyPr/>
        <a:lstStyle/>
        <a:p>
          <a:endParaRPr lang="en-IN"/>
        </a:p>
      </dgm:t>
    </dgm:pt>
    <dgm:pt modelId="{3A6CDEF9-E845-4932-867F-56732B619CD6}">
      <dgm:prSet phldrT="[Text]"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INTIATION AND CONTRACTING ACCESS</a:t>
          </a:r>
          <a:endParaRPr lang="en-IN" b="1" dirty="0">
            <a:latin typeface="Aptos" panose="020B0004020202020204" pitchFamily="34" charset="0"/>
          </a:endParaRPr>
        </a:p>
      </dgm:t>
    </dgm:pt>
    <dgm:pt modelId="{A64E9442-8111-4E81-A520-14E7FF6D75CB}" type="sibTrans" cxnId="{DBD16FD4-5DE9-48ED-8A40-D0B18F5BD848}">
      <dgm:prSet/>
      <dgm:spPr/>
      <dgm:t>
        <a:bodyPr/>
        <a:lstStyle/>
        <a:p>
          <a:endParaRPr lang="en-IN"/>
        </a:p>
      </dgm:t>
    </dgm:pt>
    <dgm:pt modelId="{5F5DE795-E1CA-48F3-9EFB-E5A91C3596C7}" type="parTrans" cxnId="{DBD16FD4-5DE9-48ED-8A40-D0B18F5BD848}">
      <dgm:prSet/>
      <dgm:spPr/>
      <dgm:t>
        <a:bodyPr/>
        <a:lstStyle/>
        <a:p>
          <a:endParaRPr lang="en-IN"/>
        </a:p>
      </dgm:t>
    </dgm:pt>
    <dgm:pt modelId="{6E918721-D93A-4B40-94CC-13895F7B001F}">
      <dgm:prSet phldrT="[Text]"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POST IMPLEMENTATION SUPPORT</a:t>
          </a:r>
          <a:endParaRPr lang="en-IN" b="1" dirty="0">
            <a:latin typeface="Aptos" panose="020B0004020202020204" pitchFamily="34" charset="0"/>
          </a:endParaRPr>
        </a:p>
      </dgm:t>
    </dgm:pt>
    <dgm:pt modelId="{28F43564-B9B7-4470-B818-0206949DD209}" type="parTrans" cxnId="{F225085F-A538-430A-8018-71A5688955F2}">
      <dgm:prSet/>
      <dgm:spPr/>
      <dgm:t>
        <a:bodyPr/>
        <a:lstStyle/>
        <a:p>
          <a:endParaRPr lang="en-IN"/>
        </a:p>
      </dgm:t>
    </dgm:pt>
    <dgm:pt modelId="{262BE1AE-006C-45AD-ABCE-AFDF09524F17}" type="sibTrans" cxnId="{F225085F-A538-430A-8018-71A5688955F2}">
      <dgm:prSet/>
      <dgm:spPr/>
      <dgm:t>
        <a:bodyPr/>
        <a:lstStyle/>
        <a:p>
          <a:endParaRPr lang="en-IN"/>
        </a:p>
      </dgm:t>
    </dgm:pt>
    <dgm:pt modelId="{5D8F6824-D13D-48FB-8287-9A7789FDA9B4}">
      <dgm:prSet phldrT="[Text]"/>
      <dgm:spPr/>
      <dgm:t>
        <a:bodyPr/>
        <a:lstStyle/>
        <a:p>
          <a:r>
            <a:rPr lang="en-US" b="1" dirty="0">
              <a:latin typeface="Aptos" panose="020B0004020202020204" pitchFamily="34" charset="0"/>
            </a:rPr>
            <a:t>UAT AND SUPPORT</a:t>
          </a:r>
          <a:endParaRPr lang="en-IN" b="1" dirty="0">
            <a:latin typeface="Aptos" panose="020B0004020202020204" pitchFamily="34" charset="0"/>
          </a:endParaRPr>
        </a:p>
      </dgm:t>
    </dgm:pt>
    <dgm:pt modelId="{CE28909B-B3AE-406A-98A6-A26AF0E2E3CD}" type="parTrans" cxnId="{A91D2B7C-26A9-4CB6-8E99-41BDC1C3BB7C}">
      <dgm:prSet/>
      <dgm:spPr/>
      <dgm:t>
        <a:bodyPr/>
        <a:lstStyle/>
        <a:p>
          <a:endParaRPr lang="en-IN"/>
        </a:p>
      </dgm:t>
    </dgm:pt>
    <dgm:pt modelId="{F113EAEB-013F-4BD8-B203-A055102D5D17}" type="sibTrans" cxnId="{A91D2B7C-26A9-4CB6-8E99-41BDC1C3BB7C}">
      <dgm:prSet/>
      <dgm:spPr/>
      <dgm:t>
        <a:bodyPr/>
        <a:lstStyle/>
        <a:p>
          <a:endParaRPr lang="en-IN"/>
        </a:p>
      </dgm:t>
    </dgm:pt>
    <dgm:pt modelId="{5282CAE2-74D9-4389-9BCB-D43DA7AFDF13}" type="pres">
      <dgm:prSet presAssocID="{50C97507-7912-4B12-A8B7-AF0D53FAF0BF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501BCE1-1004-45A1-A6F3-025672FA4E25}" type="pres">
      <dgm:prSet presAssocID="{3A6CDEF9-E845-4932-867F-56732B619CD6}" presName="vertOne" presStyleCnt="0"/>
      <dgm:spPr/>
    </dgm:pt>
    <dgm:pt modelId="{176E9665-A13E-4FF9-8C50-5DCEE11472E3}" type="pres">
      <dgm:prSet presAssocID="{3A6CDEF9-E845-4932-867F-56732B619CD6}" presName="txOne" presStyleLbl="node0" presStyleIdx="0" presStyleCnt="5" custLinFactNeighborX="-56">
        <dgm:presLayoutVars>
          <dgm:chPref val="3"/>
        </dgm:presLayoutVars>
      </dgm:prSet>
      <dgm:spPr/>
    </dgm:pt>
    <dgm:pt modelId="{78E4843D-0AAC-4F0F-9D2A-2B6786278DF9}" type="pres">
      <dgm:prSet presAssocID="{3A6CDEF9-E845-4932-867F-56732B619CD6}" presName="horzOne" presStyleCnt="0"/>
      <dgm:spPr/>
    </dgm:pt>
    <dgm:pt modelId="{36499BE4-F118-498C-943E-FA1F87FA20CD}" type="pres">
      <dgm:prSet presAssocID="{A64E9442-8111-4E81-A520-14E7FF6D75CB}" presName="sibSpaceOne" presStyleCnt="0"/>
      <dgm:spPr/>
    </dgm:pt>
    <dgm:pt modelId="{B0A05EBF-68FB-43E0-9284-4FF90DD262EA}" type="pres">
      <dgm:prSet presAssocID="{256AA747-BB5F-4934-AAE3-CB951723A0CC}" presName="vertOne" presStyleCnt="0"/>
      <dgm:spPr/>
    </dgm:pt>
    <dgm:pt modelId="{864401BE-1763-4413-9994-1B1B8803EF11}" type="pres">
      <dgm:prSet presAssocID="{256AA747-BB5F-4934-AAE3-CB951723A0CC}" presName="txOne" presStyleLbl="node0" presStyleIdx="1" presStyleCnt="5" custLinFactNeighborX="-56">
        <dgm:presLayoutVars>
          <dgm:chPref val="3"/>
        </dgm:presLayoutVars>
      </dgm:prSet>
      <dgm:spPr/>
    </dgm:pt>
    <dgm:pt modelId="{B2F155CB-8DA6-4BDA-BFF5-413E74AA5E1B}" type="pres">
      <dgm:prSet presAssocID="{256AA747-BB5F-4934-AAE3-CB951723A0CC}" presName="horzOne" presStyleCnt="0"/>
      <dgm:spPr/>
    </dgm:pt>
    <dgm:pt modelId="{A6D279BF-66D6-4FFA-A140-1C8C8994A088}" type="pres">
      <dgm:prSet presAssocID="{CD6838CE-4354-4017-8A18-693B310781A1}" presName="sibSpaceOne" presStyleCnt="0"/>
      <dgm:spPr/>
    </dgm:pt>
    <dgm:pt modelId="{4BFE1BF2-D8EE-4DB6-8A1C-F8DE48C2BAC3}" type="pres">
      <dgm:prSet presAssocID="{EA89E22F-D1D7-4E3D-B260-06D1F09E9210}" presName="vertOne" presStyleCnt="0"/>
      <dgm:spPr/>
    </dgm:pt>
    <dgm:pt modelId="{6A3C64C4-1A2C-4E97-A208-EBA9202195A6}" type="pres">
      <dgm:prSet presAssocID="{EA89E22F-D1D7-4E3D-B260-06D1F09E9210}" presName="txOne" presStyleLbl="node0" presStyleIdx="2" presStyleCnt="5" custLinFactNeighborX="-56">
        <dgm:presLayoutVars>
          <dgm:chPref val="3"/>
        </dgm:presLayoutVars>
      </dgm:prSet>
      <dgm:spPr/>
    </dgm:pt>
    <dgm:pt modelId="{BCB83378-8CCF-4356-8E04-F270576DC58E}" type="pres">
      <dgm:prSet presAssocID="{EA89E22F-D1D7-4E3D-B260-06D1F09E9210}" presName="horzOne" presStyleCnt="0"/>
      <dgm:spPr/>
    </dgm:pt>
    <dgm:pt modelId="{1D8B5148-9A17-43F3-B07C-3DA59B6DE555}" type="pres">
      <dgm:prSet presAssocID="{C9752DCE-0FFE-45B4-B66D-5801FC46C030}" presName="sibSpaceOne" presStyleCnt="0"/>
      <dgm:spPr/>
    </dgm:pt>
    <dgm:pt modelId="{52A2524D-7BED-48F9-9A62-ABE85AB0D418}" type="pres">
      <dgm:prSet presAssocID="{5D8F6824-D13D-48FB-8287-9A7789FDA9B4}" presName="vertOne" presStyleCnt="0"/>
      <dgm:spPr/>
    </dgm:pt>
    <dgm:pt modelId="{3F127C4F-EE87-4E9C-A0A6-A2372D33D5DC}" type="pres">
      <dgm:prSet presAssocID="{5D8F6824-D13D-48FB-8287-9A7789FDA9B4}" presName="txOne" presStyleLbl="node0" presStyleIdx="3" presStyleCnt="5" custLinFactNeighborX="-56">
        <dgm:presLayoutVars>
          <dgm:chPref val="3"/>
        </dgm:presLayoutVars>
      </dgm:prSet>
      <dgm:spPr/>
    </dgm:pt>
    <dgm:pt modelId="{B99918C9-3D52-49BB-9A42-8C0773D67BE8}" type="pres">
      <dgm:prSet presAssocID="{5D8F6824-D13D-48FB-8287-9A7789FDA9B4}" presName="horzOne" presStyleCnt="0"/>
      <dgm:spPr/>
    </dgm:pt>
    <dgm:pt modelId="{421B69DB-6FF1-4380-BE71-DBB90180791A}" type="pres">
      <dgm:prSet presAssocID="{F113EAEB-013F-4BD8-B203-A055102D5D17}" presName="sibSpaceOne" presStyleCnt="0"/>
      <dgm:spPr/>
    </dgm:pt>
    <dgm:pt modelId="{6D612C16-27C9-473B-9ADD-63B4BF95B842}" type="pres">
      <dgm:prSet presAssocID="{6E918721-D93A-4B40-94CC-13895F7B001F}" presName="vertOne" presStyleCnt="0"/>
      <dgm:spPr/>
    </dgm:pt>
    <dgm:pt modelId="{0B16B4F7-1F3E-4971-82BD-77CD007476AC}" type="pres">
      <dgm:prSet presAssocID="{6E918721-D93A-4B40-94CC-13895F7B001F}" presName="txOne" presStyleLbl="node0" presStyleIdx="4" presStyleCnt="5">
        <dgm:presLayoutVars>
          <dgm:chPref val="3"/>
        </dgm:presLayoutVars>
      </dgm:prSet>
      <dgm:spPr/>
    </dgm:pt>
    <dgm:pt modelId="{572EFC2B-428E-47E1-A7F9-C638C939288E}" type="pres">
      <dgm:prSet presAssocID="{6E918721-D93A-4B40-94CC-13895F7B001F}" presName="horzOne" presStyleCnt="0"/>
      <dgm:spPr/>
    </dgm:pt>
  </dgm:ptLst>
  <dgm:cxnLst>
    <dgm:cxn modelId="{13CAC104-3C7B-4350-A383-886B343D265D}" type="presOf" srcId="{50C97507-7912-4B12-A8B7-AF0D53FAF0BF}" destId="{5282CAE2-74D9-4389-9BCB-D43DA7AFDF13}" srcOrd="0" destOrd="0" presId="urn:microsoft.com/office/officeart/2005/8/layout/architecture"/>
    <dgm:cxn modelId="{43171B32-F21E-4668-A0FD-A13AFB50CBE1}" type="presOf" srcId="{256AA747-BB5F-4934-AAE3-CB951723A0CC}" destId="{864401BE-1763-4413-9994-1B1B8803EF11}" srcOrd="0" destOrd="0" presId="urn:microsoft.com/office/officeart/2005/8/layout/architecture"/>
    <dgm:cxn modelId="{ED56C13C-62BD-430C-8572-91998DCBF24F}" type="presOf" srcId="{EA89E22F-D1D7-4E3D-B260-06D1F09E9210}" destId="{6A3C64C4-1A2C-4E97-A208-EBA9202195A6}" srcOrd="0" destOrd="0" presId="urn:microsoft.com/office/officeart/2005/8/layout/architecture"/>
    <dgm:cxn modelId="{F225085F-A538-430A-8018-71A5688955F2}" srcId="{50C97507-7912-4B12-A8B7-AF0D53FAF0BF}" destId="{6E918721-D93A-4B40-94CC-13895F7B001F}" srcOrd="4" destOrd="0" parTransId="{28F43564-B9B7-4470-B818-0206949DD209}" sibTransId="{262BE1AE-006C-45AD-ABCE-AFDF09524F17}"/>
    <dgm:cxn modelId="{B2CB5E4B-5C12-46D0-A21F-126D58A2145A}" srcId="{50C97507-7912-4B12-A8B7-AF0D53FAF0BF}" destId="{EA89E22F-D1D7-4E3D-B260-06D1F09E9210}" srcOrd="2" destOrd="0" parTransId="{F659148C-EBEA-4ACD-B82B-3B44115F1651}" sibTransId="{C9752DCE-0FFE-45B4-B66D-5801FC46C030}"/>
    <dgm:cxn modelId="{6AE7334D-B108-4226-A279-7BC51FDCD10C}" type="presOf" srcId="{6E918721-D93A-4B40-94CC-13895F7B001F}" destId="{0B16B4F7-1F3E-4971-82BD-77CD007476AC}" srcOrd="0" destOrd="0" presId="urn:microsoft.com/office/officeart/2005/8/layout/architecture"/>
    <dgm:cxn modelId="{A91D2B7C-26A9-4CB6-8E99-41BDC1C3BB7C}" srcId="{50C97507-7912-4B12-A8B7-AF0D53FAF0BF}" destId="{5D8F6824-D13D-48FB-8287-9A7789FDA9B4}" srcOrd="3" destOrd="0" parTransId="{CE28909B-B3AE-406A-98A6-A26AF0E2E3CD}" sibTransId="{F113EAEB-013F-4BD8-B203-A055102D5D17}"/>
    <dgm:cxn modelId="{8D1B3587-5C3E-4BD8-BFAF-FFC6A3AD27E2}" srcId="{50C97507-7912-4B12-A8B7-AF0D53FAF0BF}" destId="{256AA747-BB5F-4934-AAE3-CB951723A0CC}" srcOrd="1" destOrd="0" parTransId="{964A5DF8-5305-4C86-A032-2447438B5A25}" sibTransId="{CD6838CE-4354-4017-8A18-693B310781A1}"/>
    <dgm:cxn modelId="{2754C198-E012-44C1-B007-F11233D8651B}" type="presOf" srcId="{5D8F6824-D13D-48FB-8287-9A7789FDA9B4}" destId="{3F127C4F-EE87-4E9C-A0A6-A2372D33D5DC}" srcOrd="0" destOrd="0" presId="urn:microsoft.com/office/officeart/2005/8/layout/architecture"/>
    <dgm:cxn modelId="{A42660A5-248B-448E-B314-94D31D173DDD}" type="presOf" srcId="{3A6CDEF9-E845-4932-867F-56732B619CD6}" destId="{176E9665-A13E-4FF9-8C50-5DCEE11472E3}" srcOrd="0" destOrd="0" presId="urn:microsoft.com/office/officeart/2005/8/layout/architecture"/>
    <dgm:cxn modelId="{DBD16FD4-5DE9-48ED-8A40-D0B18F5BD848}" srcId="{50C97507-7912-4B12-A8B7-AF0D53FAF0BF}" destId="{3A6CDEF9-E845-4932-867F-56732B619CD6}" srcOrd="0" destOrd="0" parTransId="{5F5DE795-E1CA-48F3-9EFB-E5A91C3596C7}" sibTransId="{A64E9442-8111-4E81-A520-14E7FF6D75CB}"/>
    <dgm:cxn modelId="{D447EEA6-19C6-4BAD-AAFF-C394416454B0}" type="presParOf" srcId="{5282CAE2-74D9-4389-9BCB-D43DA7AFDF13}" destId="{E501BCE1-1004-45A1-A6F3-025672FA4E25}" srcOrd="0" destOrd="0" presId="urn:microsoft.com/office/officeart/2005/8/layout/architecture"/>
    <dgm:cxn modelId="{F90CFEF4-290A-4F8C-AD91-23D5600EBA00}" type="presParOf" srcId="{E501BCE1-1004-45A1-A6F3-025672FA4E25}" destId="{176E9665-A13E-4FF9-8C50-5DCEE11472E3}" srcOrd="0" destOrd="0" presId="urn:microsoft.com/office/officeart/2005/8/layout/architecture"/>
    <dgm:cxn modelId="{C45FDEFE-73E0-49D5-9772-4D261CA6B0B4}" type="presParOf" srcId="{E501BCE1-1004-45A1-A6F3-025672FA4E25}" destId="{78E4843D-0AAC-4F0F-9D2A-2B6786278DF9}" srcOrd="1" destOrd="0" presId="urn:microsoft.com/office/officeart/2005/8/layout/architecture"/>
    <dgm:cxn modelId="{4BE05D7B-7D2B-4035-9C77-9BF3ED41CD93}" type="presParOf" srcId="{5282CAE2-74D9-4389-9BCB-D43DA7AFDF13}" destId="{36499BE4-F118-498C-943E-FA1F87FA20CD}" srcOrd="1" destOrd="0" presId="urn:microsoft.com/office/officeart/2005/8/layout/architecture"/>
    <dgm:cxn modelId="{8695C3D6-7C32-47D6-BA4A-81EB7D6BC1D1}" type="presParOf" srcId="{5282CAE2-74D9-4389-9BCB-D43DA7AFDF13}" destId="{B0A05EBF-68FB-43E0-9284-4FF90DD262EA}" srcOrd="2" destOrd="0" presId="urn:microsoft.com/office/officeart/2005/8/layout/architecture"/>
    <dgm:cxn modelId="{7EE10E1D-A501-4C80-BD9C-21FBFA4E7721}" type="presParOf" srcId="{B0A05EBF-68FB-43E0-9284-4FF90DD262EA}" destId="{864401BE-1763-4413-9994-1B1B8803EF11}" srcOrd="0" destOrd="0" presId="urn:microsoft.com/office/officeart/2005/8/layout/architecture"/>
    <dgm:cxn modelId="{FC9A6841-4BB3-42A4-B575-920A38B4978D}" type="presParOf" srcId="{B0A05EBF-68FB-43E0-9284-4FF90DD262EA}" destId="{B2F155CB-8DA6-4BDA-BFF5-413E74AA5E1B}" srcOrd="1" destOrd="0" presId="urn:microsoft.com/office/officeart/2005/8/layout/architecture"/>
    <dgm:cxn modelId="{11640321-2599-4D40-9EB4-8641E5D64187}" type="presParOf" srcId="{5282CAE2-74D9-4389-9BCB-D43DA7AFDF13}" destId="{A6D279BF-66D6-4FFA-A140-1C8C8994A088}" srcOrd="3" destOrd="0" presId="urn:microsoft.com/office/officeart/2005/8/layout/architecture"/>
    <dgm:cxn modelId="{64462E7C-4CD5-4B7D-872C-3AD0956A0338}" type="presParOf" srcId="{5282CAE2-74D9-4389-9BCB-D43DA7AFDF13}" destId="{4BFE1BF2-D8EE-4DB6-8A1C-F8DE48C2BAC3}" srcOrd="4" destOrd="0" presId="urn:microsoft.com/office/officeart/2005/8/layout/architecture"/>
    <dgm:cxn modelId="{24C03816-172A-4523-8067-85023122D681}" type="presParOf" srcId="{4BFE1BF2-D8EE-4DB6-8A1C-F8DE48C2BAC3}" destId="{6A3C64C4-1A2C-4E97-A208-EBA9202195A6}" srcOrd="0" destOrd="0" presId="urn:microsoft.com/office/officeart/2005/8/layout/architecture"/>
    <dgm:cxn modelId="{DDA217A0-7D7E-4886-92BB-DB5616CB391C}" type="presParOf" srcId="{4BFE1BF2-D8EE-4DB6-8A1C-F8DE48C2BAC3}" destId="{BCB83378-8CCF-4356-8E04-F270576DC58E}" srcOrd="1" destOrd="0" presId="urn:microsoft.com/office/officeart/2005/8/layout/architecture"/>
    <dgm:cxn modelId="{E2559DE0-D09F-4287-B246-1645C2E3E29F}" type="presParOf" srcId="{5282CAE2-74D9-4389-9BCB-D43DA7AFDF13}" destId="{1D8B5148-9A17-43F3-B07C-3DA59B6DE555}" srcOrd="5" destOrd="0" presId="urn:microsoft.com/office/officeart/2005/8/layout/architecture"/>
    <dgm:cxn modelId="{08F6B25C-57DD-464D-8CE7-83D465ECB175}" type="presParOf" srcId="{5282CAE2-74D9-4389-9BCB-D43DA7AFDF13}" destId="{52A2524D-7BED-48F9-9A62-ABE85AB0D418}" srcOrd="6" destOrd="0" presId="urn:microsoft.com/office/officeart/2005/8/layout/architecture"/>
    <dgm:cxn modelId="{F21ADC28-8EF4-4C69-8134-12CB9FB81C0C}" type="presParOf" srcId="{52A2524D-7BED-48F9-9A62-ABE85AB0D418}" destId="{3F127C4F-EE87-4E9C-A0A6-A2372D33D5DC}" srcOrd="0" destOrd="0" presId="urn:microsoft.com/office/officeart/2005/8/layout/architecture"/>
    <dgm:cxn modelId="{197FE8EF-E249-4803-9215-81628656D7E0}" type="presParOf" srcId="{52A2524D-7BED-48F9-9A62-ABE85AB0D418}" destId="{B99918C9-3D52-49BB-9A42-8C0773D67BE8}" srcOrd="1" destOrd="0" presId="urn:microsoft.com/office/officeart/2005/8/layout/architecture"/>
    <dgm:cxn modelId="{BC16C4E0-F8A0-4A86-AD38-CC2E9D7213B7}" type="presParOf" srcId="{5282CAE2-74D9-4389-9BCB-D43DA7AFDF13}" destId="{421B69DB-6FF1-4380-BE71-DBB90180791A}" srcOrd="7" destOrd="0" presId="urn:microsoft.com/office/officeart/2005/8/layout/architecture"/>
    <dgm:cxn modelId="{FA6D09B4-7DA2-4535-BF9D-23C81834D04B}" type="presParOf" srcId="{5282CAE2-74D9-4389-9BCB-D43DA7AFDF13}" destId="{6D612C16-27C9-473B-9ADD-63B4BF95B842}" srcOrd="8" destOrd="0" presId="urn:microsoft.com/office/officeart/2005/8/layout/architecture"/>
    <dgm:cxn modelId="{6C5EF98D-4FD5-4F15-A0DA-7A1983C3CF62}" type="presParOf" srcId="{6D612C16-27C9-473B-9ADD-63B4BF95B842}" destId="{0B16B4F7-1F3E-4971-82BD-77CD007476AC}" srcOrd="0" destOrd="0" presId="urn:microsoft.com/office/officeart/2005/8/layout/architecture"/>
    <dgm:cxn modelId="{FC3FE8BB-8EF4-48FC-945B-BE7BD86A1CAA}" type="presParOf" srcId="{6D612C16-27C9-473B-9ADD-63B4BF95B842}" destId="{572EFC2B-428E-47E1-A7F9-C638C939288E}" srcOrd="1" destOrd="0" presId="urn:microsoft.com/office/officeart/2005/8/layout/architectur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991995-D986-4C49-9C80-FB543A6EF60F}">
      <dsp:nvSpPr>
        <dsp:cNvPr id="0" name=""/>
        <dsp:cNvSpPr/>
      </dsp:nvSpPr>
      <dsp:spPr>
        <a:xfrm>
          <a:off x="1036" y="0"/>
          <a:ext cx="2694714" cy="471214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2000" b="1" i="0" u="none" strike="noStrike" kern="1200" cap="none" spc="0" normalizeH="0" baseline="0" noProof="0" dirty="0">
              <a:ln/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SOURCE</a:t>
          </a:r>
          <a:endParaRPr lang="en-IN" sz="2000" b="1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1036" y="0"/>
        <a:ext cx="2694714" cy="1413642"/>
      </dsp:txXfrm>
    </dsp:sp>
    <dsp:sp modelId="{BCBDD501-E88B-4504-9DA4-B73ADF1D27E2}">
      <dsp:nvSpPr>
        <dsp:cNvPr id="0" name=""/>
        <dsp:cNvSpPr/>
      </dsp:nvSpPr>
      <dsp:spPr>
        <a:xfrm>
          <a:off x="270507" y="1414045"/>
          <a:ext cx="2155771" cy="9257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US" sz="1400" kern="1200" dirty="0">
              <a:latin typeface="Aptos" panose="020B0004020202020204" pitchFamily="34" charset="0"/>
            </a:rPr>
            <a:t>Source data from </a:t>
          </a:r>
          <a:r>
            <a:rPr lang="en-GB" sz="1400" kern="1200" dirty="0">
              <a:latin typeface="Aptos" panose="020B0004020202020204" pitchFamily="34" charset="0"/>
            </a:rPr>
            <a:t>Viewpoint database</a:t>
          </a:r>
          <a:endParaRPr lang="en-IN" sz="1400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7621" y="1441159"/>
        <a:ext cx="2101543" cy="871519"/>
      </dsp:txXfrm>
    </dsp:sp>
    <dsp:sp modelId="{62B6D4A1-0515-4E63-8D7F-34CC10C18969}">
      <dsp:nvSpPr>
        <dsp:cNvPr id="0" name=""/>
        <dsp:cNvSpPr/>
      </dsp:nvSpPr>
      <dsp:spPr>
        <a:xfrm>
          <a:off x="270507" y="2482215"/>
          <a:ext cx="2155771" cy="9257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743856"/>
                <a:satOff val="-3376"/>
                <a:lumOff val="46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743856"/>
                <a:satOff val="-3376"/>
                <a:lumOff val="46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743856"/>
                <a:satOff val="-3376"/>
                <a:lumOff val="46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>
              <a:latin typeface="Aptos" panose="020B0004020202020204" pitchFamily="34" charset="0"/>
            </a:rPr>
            <a:t>Database: On-premise SQL server</a:t>
          </a:r>
          <a:endParaRPr lang="en-US" sz="1400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7621" y="2509329"/>
        <a:ext cx="2101543" cy="871519"/>
      </dsp:txXfrm>
    </dsp:sp>
    <dsp:sp modelId="{2DA21DA3-52D7-46B3-B083-A91747C2A23A}">
      <dsp:nvSpPr>
        <dsp:cNvPr id="0" name=""/>
        <dsp:cNvSpPr/>
      </dsp:nvSpPr>
      <dsp:spPr>
        <a:xfrm>
          <a:off x="270507" y="3550385"/>
          <a:ext cx="2155771" cy="925747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1487712"/>
                <a:satOff val="-6753"/>
                <a:lumOff val="93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1487712"/>
                <a:satOff val="-6753"/>
                <a:lumOff val="93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1487712"/>
                <a:satOff val="-6753"/>
                <a:lumOff val="93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Aptos" panose="020B0004020202020204" pitchFamily="34" charset="0"/>
            </a:rPr>
            <a:t>Reporting platform: </a:t>
          </a:r>
          <a:r>
            <a:rPr lang="en-GB" sz="1400" kern="1200" dirty="0">
              <a:latin typeface="Aptos" panose="020B0004020202020204" pitchFamily="34" charset="0"/>
            </a:rPr>
            <a:t>SSRS reports</a:t>
          </a:r>
          <a:endParaRPr lang="en-IN" sz="1400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97621" y="3577499"/>
        <a:ext cx="2101543" cy="871519"/>
      </dsp:txXfrm>
    </dsp:sp>
    <dsp:sp modelId="{97D5E87D-DB8F-4297-A629-ED5A080B7F75}">
      <dsp:nvSpPr>
        <dsp:cNvPr id="0" name=""/>
        <dsp:cNvSpPr/>
      </dsp:nvSpPr>
      <dsp:spPr>
        <a:xfrm>
          <a:off x="2897854" y="0"/>
          <a:ext cx="2694714" cy="471214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lang="en-US" sz="2000" b="1" kern="1200" dirty="0"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REQUIREMENT</a:t>
          </a:r>
          <a:endParaRPr lang="en-IN" sz="2000" b="1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2897854" y="0"/>
        <a:ext cx="2694714" cy="1413642"/>
      </dsp:txXfrm>
    </dsp:sp>
    <dsp:sp modelId="{7CAA45F4-5ABE-4AC6-816A-F3617ADC78D3}">
      <dsp:nvSpPr>
        <dsp:cNvPr id="0" name=""/>
        <dsp:cNvSpPr/>
      </dsp:nvSpPr>
      <dsp:spPr>
        <a:xfrm>
          <a:off x="3167326" y="1413757"/>
          <a:ext cx="2155771" cy="686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231567"/>
                <a:satOff val="-10129"/>
                <a:lumOff val="139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2231567"/>
                <a:satOff val="-10129"/>
                <a:lumOff val="139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2231567"/>
                <a:satOff val="-10129"/>
                <a:lumOff val="139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chemeClr val="accent1"/>
            </a:buClr>
            <a:buFont typeface="+mj-lt"/>
            <a:buNone/>
          </a:pPr>
          <a:r>
            <a:rPr lang="en-GB" sz="1000" kern="1200" dirty="0">
              <a:latin typeface="Aptos" panose="020B0004020202020204" pitchFamily="34" charset="0"/>
            </a:rPr>
            <a:t>Migration of 50 reports from current platform to the new Fabric architecture by creating Fabric data items, semantic models.</a:t>
          </a:r>
          <a:endParaRPr lang="en-IN" sz="1000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87432" y="1433863"/>
        <a:ext cx="2115559" cy="646246"/>
      </dsp:txXfrm>
    </dsp:sp>
    <dsp:sp modelId="{EE864F51-5F1D-4965-B981-82F560EB2616}">
      <dsp:nvSpPr>
        <dsp:cNvPr id="0" name=""/>
        <dsp:cNvSpPr/>
      </dsp:nvSpPr>
      <dsp:spPr>
        <a:xfrm>
          <a:off x="3167326" y="2205825"/>
          <a:ext cx="2155771" cy="686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2975423"/>
                <a:satOff val="-13505"/>
                <a:lumOff val="186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2975423"/>
                <a:satOff val="-13505"/>
                <a:lumOff val="186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2975423"/>
                <a:satOff val="-13505"/>
                <a:lumOff val="186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latin typeface="Aptos" panose="020B0004020202020204" pitchFamily="34" charset="0"/>
            </a:rPr>
            <a:t>Seamless integration of the new models with the existing enterprise data model.</a:t>
          </a:r>
          <a:endParaRPr lang="en-US" sz="1000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87432" y="2225931"/>
        <a:ext cx="2115559" cy="646246"/>
      </dsp:txXfrm>
    </dsp:sp>
    <dsp:sp modelId="{1821F62C-2D9D-42EE-80D6-25786FE17DFA}">
      <dsp:nvSpPr>
        <dsp:cNvPr id="0" name=""/>
        <dsp:cNvSpPr/>
      </dsp:nvSpPr>
      <dsp:spPr>
        <a:xfrm>
          <a:off x="3167326" y="2997893"/>
          <a:ext cx="2155771" cy="686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3719279"/>
                <a:satOff val="-16882"/>
                <a:lumOff val="232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3719279"/>
                <a:satOff val="-16882"/>
                <a:lumOff val="232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3719279"/>
                <a:satOff val="-16882"/>
                <a:lumOff val="232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>
              <a:latin typeface="Aptos" panose="020B0004020202020204" pitchFamily="34" charset="0"/>
            </a:rPr>
            <a:t>Adherence to appropriate naming conventions in consultation with the data team.</a:t>
          </a:r>
          <a:endParaRPr lang="en-US" sz="1000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87432" y="3017999"/>
        <a:ext cx="2115559" cy="646246"/>
      </dsp:txXfrm>
    </dsp:sp>
    <dsp:sp modelId="{DD9B35B8-A5D8-4ACC-94EA-C27FDF2062F7}">
      <dsp:nvSpPr>
        <dsp:cNvPr id="0" name=""/>
        <dsp:cNvSpPr/>
      </dsp:nvSpPr>
      <dsp:spPr>
        <a:xfrm>
          <a:off x="3167326" y="3789961"/>
          <a:ext cx="2155771" cy="68645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4463134"/>
                <a:satOff val="-20258"/>
                <a:lumOff val="279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4463134"/>
                <a:satOff val="-20258"/>
                <a:lumOff val="279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4463134"/>
                <a:satOff val="-20258"/>
                <a:lumOff val="279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5400" tIns="19050" rIns="25400" bIns="19050" numCol="1" spcCol="1270" anchor="ctr" anchorCtr="0">
          <a:noAutofit/>
        </a:bodyPr>
        <a:lstStyle/>
        <a:p>
          <a:pPr marL="0" lvl="0" indent="0" algn="l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000" kern="1200" dirty="0">
              <a:latin typeface="Aptos" panose="020B0004020202020204" pitchFamily="34" charset="0"/>
            </a:rPr>
            <a:t>Application of best approach for the migration.</a:t>
          </a:r>
          <a:endParaRPr lang="en-IN" sz="1000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3187432" y="3810067"/>
        <a:ext cx="2115559" cy="646246"/>
      </dsp:txXfrm>
    </dsp:sp>
    <dsp:sp modelId="{8E891598-72FC-4DA1-AC74-DD7313AFEFDD}">
      <dsp:nvSpPr>
        <dsp:cNvPr id="0" name=""/>
        <dsp:cNvSpPr/>
      </dsp:nvSpPr>
      <dsp:spPr>
        <a:xfrm>
          <a:off x="5794672" y="0"/>
          <a:ext cx="2694714" cy="4712142"/>
        </a:xfrm>
        <a:prstGeom prst="roundRect">
          <a:avLst>
            <a:gd name="adj" fmla="val 10000"/>
          </a:avLst>
        </a:prstGeom>
        <a:solidFill>
          <a:schemeClr val="accent4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ClrTx/>
            <a:buSzTx/>
            <a:buFontTx/>
            <a:buNone/>
          </a:pPr>
          <a:r>
            <a:rPr kumimoji="0" lang="en-US" sz="2000" b="1" i="0" u="none" strike="noStrike" kern="1200" cap="none" spc="0" normalizeH="0" baseline="0" noProof="0" dirty="0">
              <a:ln/>
              <a:effectLst/>
              <a:uLnTx/>
              <a:uFillTx/>
              <a:latin typeface="Aptos" panose="020B0004020202020204" pitchFamily="34" charset="0"/>
              <a:ea typeface="Calibri" panose="020F0502020204030204" pitchFamily="34" charset="0"/>
              <a:cs typeface="Calibri" panose="020F0502020204030204" pitchFamily="34" charset="0"/>
            </a:rPr>
            <a:t>TARGET</a:t>
          </a:r>
          <a:endParaRPr lang="en-IN" sz="2000" b="1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5794672" y="0"/>
        <a:ext cx="2694714" cy="1413642"/>
      </dsp:txXfrm>
    </dsp:sp>
    <dsp:sp modelId="{02046829-E936-49C8-995B-3B5468CAF53B}">
      <dsp:nvSpPr>
        <dsp:cNvPr id="0" name=""/>
        <dsp:cNvSpPr/>
      </dsp:nvSpPr>
      <dsp:spPr>
        <a:xfrm>
          <a:off x="6064144" y="1415023"/>
          <a:ext cx="2155771" cy="14207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5206990"/>
                <a:satOff val="-23635"/>
                <a:lumOff val="32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5206990"/>
                <a:satOff val="-23635"/>
                <a:lumOff val="32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5206990"/>
                <a:satOff val="-23635"/>
                <a:lumOff val="32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Wingdings" panose="05000000000000000000" pitchFamily="2" charset="2"/>
            <a:buNone/>
          </a:pPr>
          <a:r>
            <a:rPr lang="en-GB" sz="1400" kern="1200" dirty="0">
              <a:latin typeface="Aptos" panose="020B0004020202020204" pitchFamily="34" charset="0"/>
            </a:rPr>
            <a:t>Microsoft Fabric </a:t>
          </a:r>
          <a:r>
            <a:rPr lang="en-GB" sz="1400" kern="1200" dirty="0" err="1">
              <a:latin typeface="Aptos" panose="020B0004020202020204" pitchFamily="34" charset="0"/>
            </a:rPr>
            <a:t>OneLake</a:t>
          </a:r>
          <a:r>
            <a:rPr lang="en-GB" sz="1400" kern="1200" dirty="0">
              <a:latin typeface="Aptos" panose="020B0004020202020204" pitchFamily="34" charset="0"/>
            </a:rPr>
            <a:t> </a:t>
          </a:r>
          <a:endParaRPr lang="en-IN" sz="1400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105757" y="1456636"/>
        <a:ext cx="2072545" cy="1337549"/>
      </dsp:txXfrm>
    </dsp:sp>
    <dsp:sp modelId="{FF65CD69-FF5D-4631-8908-4256361AAA57}">
      <dsp:nvSpPr>
        <dsp:cNvPr id="0" name=""/>
        <dsp:cNvSpPr/>
      </dsp:nvSpPr>
      <dsp:spPr>
        <a:xfrm>
          <a:off x="6064144" y="3054379"/>
          <a:ext cx="2155771" cy="142077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4">
                <a:hueOff val="-5950846"/>
                <a:satOff val="-27011"/>
                <a:lumOff val="372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4">
                <a:hueOff val="-5950846"/>
                <a:satOff val="-27011"/>
                <a:lumOff val="372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4">
                <a:hueOff val="-5950846"/>
                <a:satOff val="-27011"/>
                <a:lumOff val="372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35560" tIns="26670" rIns="35560" bIns="2667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>
              <a:latin typeface="Aptos" panose="020B0004020202020204" pitchFamily="34" charset="0"/>
            </a:rPr>
            <a:t>Existing medallion architecture</a:t>
          </a:r>
          <a:endParaRPr lang="en-US" sz="1400" kern="1200" dirty="0">
            <a:latin typeface="Aptos" panose="020B0004020202020204" pitchFamily="34" charset="0"/>
            <a:ea typeface="Calibri" panose="020F0502020204030204" pitchFamily="34" charset="0"/>
            <a:cs typeface="Calibri" panose="020F0502020204030204" pitchFamily="34" charset="0"/>
          </a:endParaRPr>
        </a:p>
      </dsp:txBody>
      <dsp:txXfrm>
        <a:off x="6105757" y="3095992"/>
        <a:ext cx="2072545" cy="133754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76E9665-A13E-4FF9-8C50-5DCEE11472E3}">
      <dsp:nvSpPr>
        <dsp:cNvPr id="0" name=""/>
        <dsp:cNvSpPr/>
      </dsp:nvSpPr>
      <dsp:spPr>
        <a:xfrm>
          <a:off x="8" y="0"/>
          <a:ext cx="1633006" cy="2078198"/>
        </a:xfrm>
        <a:prstGeom prst="roundRect">
          <a:avLst>
            <a:gd name="adj" fmla="val 10000"/>
          </a:avLst>
        </a:prstGeom>
        <a:solidFill>
          <a:schemeClr val="accent1">
            <a:alpha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Aptos" panose="020B0004020202020204" pitchFamily="34" charset="0"/>
            </a:rPr>
            <a:t>INTIATION AND CONTRACTING ACCESS</a:t>
          </a:r>
          <a:endParaRPr lang="en-IN" sz="1300" b="1" kern="1200" dirty="0">
            <a:latin typeface="Aptos" panose="020B0004020202020204" pitchFamily="34" charset="0"/>
          </a:endParaRPr>
        </a:p>
      </dsp:txBody>
      <dsp:txXfrm>
        <a:off x="47837" y="47829"/>
        <a:ext cx="1537348" cy="1982540"/>
      </dsp:txXfrm>
    </dsp:sp>
    <dsp:sp modelId="{864401BE-1763-4413-9994-1B1B8803EF11}">
      <dsp:nvSpPr>
        <dsp:cNvPr id="0" name=""/>
        <dsp:cNvSpPr/>
      </dsp:nvSpPr>
      <dsp:spPr>
        <a:xfrm>
          <a:off x="1907360" y="0"/>
          <a:ext cx="1633006" cy="2078198"/>
        </a:xfrm>
        <a:prstGeom prst="roundRect">
          <a:avLst>
            <a:gd name="adj" fmla="val 10000"/>
          </a:avLst>
        </a:prstGeom>
        <a:solidFill>
          <a:schemeClr val="accent1">
            <a:alpha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Aptos" panose="020B0004020202020204" pitchFamily="34" charset="0"/>
            </a:rPr>
            <a:t>ANALYSS AND DISCOVERY</a:t>
          </a:r>
          <a:endParaRPr lang="en-IN" sz="1300" b="1" kern="1200" dirty="0">
            <a:latin typeface="Aptos" panose="020B0004020202020204" pitchFamily="34" charset="0"/>
          </a:endParaRPr>
        </a:p>
      </dsp:txBody>
      <dsp:txXfrm>
        <a:off x="1955189" y="47829"/>
        <a:ext cx="1537348" cy="1982540"/>
      </dsp:txXfrm>
    </dsp:sp>
    <dsp:sp modelId="{6A3C64C4-1A2C-4E97-A208-EBA9202195A6}">
      <dsp:nvSpPr>
        <dsp:cNvPr id="0" name=""/>
        <dsp:cNvSpPr/>
      </dsp:nvSpPr>
      <dsp:spPr>
        <a:xfrm>
          <a:off x="3814712" y="0"/>
          <a:ext cx="1633006" cy="2078198"/>
        </a:xfrm>
        <a:prstGeom prst="roundRect">
          <a:avLst>
            <a:gd name="adj" fmla="val 10000"/>
          </a:avLst>
        </a:prstGeom>
        <a:solidFill>
          <a:schemeClr val="accent1">
            <a:alpha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Aptos" panose="020B0004020202020204" pitchFamily="34" charset="0"/>
            </a:rPr>
            <a:t>DATA ENGINEERING   &amp; TESTING</a:t>
          </a:r>
          <a:endParaRPr lang="en-IN" sz="1300" b="1" kern="1200" dirty="0">
            <a:latin typeface="Aptos" panose="020B0004020202020204" pitchFamily="34" charset="0"/>
          </a:endParaRPr>
        </a:p>
      </dsp:txBody>
      <dsp:txXfrm>
        <a:off x="3862541" y="47829"/>
        <a:ext cx="1537348" cy="1982540"/>
      </dsp:txXfrm>
    </dsp:sp>
    <dsp:sp modelId="{3F127C4F-EE87-4E9C-A0A6-A2372D33D5DC}">
      <dsp:nvSpPr>
        <dsp:cNvPr id="0" name=""/>
        <dsp:cNvSpPr/>
      </dsp:nvSpPr>
      <dsp:spPr>
        <a:xfrm>
          <a:off x="5722064" y="0"/>
          <a:ext cx="1633006" cy="2078198"/>
        </a:xfrm>
        <a:prstGeom prst="roundRect">
          <a:avLst>
            <a:gd name="adj" fmla="val 10000"/>
          </a:avLst>
        </a:prstGeom>
        <a:solidFill>
          <a:schemeClr val="accent1">
            <a:alpha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Aptos" panose="020B0004020202020204" pitchFamily="34" charset="0"/>
            </a:rPr>
            <a:t>UAT AND SUPPORT</a:t>
          </a:r>
          <a:endParaRPr lang="en-IN" sz="1300" b="1" kern="1200" dirty="0">
            <a:latin typeface="Aptos" panose="020B0004020202020204" pitchFamily="34" charset="0"/>
          </a:endParaRPr>
        </a:p>
      </dsp:txBody>
      <dsp:txXfrm>
        <a:off x="5769893" y="47829"/>
        <a:ext cx="1537348" cy="1982540"/>
      </dsp:txXfrm>
    </dsp:sp>
    <dsp:sp modelId="{0B16B4F7-1F3E-4971-82BD-77CD007476AC}">
      <dsp:nvSpPr>
        <dsp:cNvPr id="0" name=""/>
        <dsp:cNvSpPr/>
      </dsp:nvSpPr>
      <dsp:spPr>
        <a:xfrm>
          <a:off x="7630330" y="0"/>
          <a:ext cx="1633006" cy="2078198"/>
        </a:xfrm>
        <a:prstGeom prst="roundRect">
          <a:avLst>
            <a:gd name="adj" fmla="val 10000"/>
          </a:avLst>
        </a:prstGeom>
        <a:solidFill>
          <a:schemeClr val="accent1">
            <a:alpha val="8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b="1" kern="1200" dirty="0">
              <a:latin typeface="Aptos" panose="020B0004020202020204" pitchFamily="34" charset="0"/>
            </a:rPr>
            <a:t>POST IMPLEMENTATION SUPPORT</a:t>
          </a:r>
          <a:endParaRPr lang="en-IN" sz="1300" b="1" kern="1200" dirty="0">
            <a:latin typeface="Aptos" panose="020B0004020202020204" pitchFamily="34" charset="0"/>
          </a:endParaRPr>
        </a:p>
      </dsp:txBody>
      <dsp:txXfrm>
        <a:off x="7678159" y="47829"/>
        <a:ext cx="1537348" cy="19825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Process2">
  <dgm:title val=""/>
  <dgm:desc val=""/>
  <dgm:catLst>
    <dgm:cat type="list" pri="10000"/>
    <dgm:cat type="relationship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14" srcId="1" destId="12" srcOrd="0" destOrd="0"/>
        <dgm:cxn modelId="23" srcId="2" destId="21" srcOrd="0" destOrd="0"/>
        <dgm:cxn modelId="24" srcId="2" destId="22" srcOrd="0" destOrd="0"/>
        <dgm:cxn modelId="33" srcId="3" destId="31" srcOrd="0" destOrd="0"/>
        <dgm:cxn modelId="34" srcId="3" destId="32" srcOrd="0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theList">
    <dgm:varLst>
      <dgm:dir/>
      <dgm:animLvl val="lvl"/>
      <dgm:resizeHandles val="exact"/>
    </dgm:varLst>
    <dgm:choose name="Name0">
      <dgm:if name="Name1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Node" refType="w"/>
      <dgm:constr type="h" for="ch" forName="compNode" refType="h"/>
      <dgm:constr type="w" for="ch" forName="aSpace" refType="w" fact="0.075"/>
      <dgm:constr type="h" for="des" forName="aSpace2" refType="h" fact="0.1"/>
      <dgm:constr type="primFontSz" for="des" forName="textNode" op="equ"/>
      <dgm:constr type="primFontSz" for="des" forName="childNode" op="equ"/>
    </dgm:constrLst>
    <dgm:ruleLst/>
    <dgm:forEach name="aNodeForEach" axis="ch" ptType="node">
      <dgm:layoutNode name="compNode">
        <dgm:alg type="composite"/>
        <dgm:shape xmlns:r="http://schemas.openxmlformats.org/officeDocument/2006/relationships" r:blip="">
          <dgm:adjLst/>
        </dgm:shape>
        <dgm:presOf/>
        <dgm:constrLst>
          <dgm:constr type="w" for="ch" forName="aNode" refType="w"/>
          <dgm:constr type="h" for="ch" forName="aNode" refType="h"/>
          <dgm:constr type="w" for="ch" forName="textNode" refType="w"/>
          <dgm:constr type="h" for="ch" forName="textNode" refType="h" fact="0.3"/>
          <dgm:constr type="ctrX" for="ch" forName="textNode" refType="w" fact="0.5"/>
          <dgm:constr type="w" for="ch" forName="compChildNode" refType="w" fact="0.8"/>
          <dgm:constr type="h" for="ch" forName="compChildNode" refType="h" fact="0.65"/>
          <dgm:constr type="t" for="ch" forName="compChildNode" refType="h" fact="0.3"/>
          <dgm:constr type="ctrX" for="ch" forName="compChildNode" refType="w" fact="0.5"/>
        </dgm:constrLst>
        <dgm:ruleLst/>
        <dgm:layoutNode name="aNode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/>
          <dgm:ruleLst/>
        </dgm:layoutNode>
        <dgm:layoutNode name="textNode" styleLbl="bgShp">
          <dgm:alg type="tx"/>
          <dgm:shape xmlns:r="http://schemas.openxmlformats.org/officeDocument/2006/relationships" type="rect" r:blip="" hideGeom="1">
            <dgm:adjLst>
              <dgm:adj idx="1" val="0.1"/>
            </dgm:adjLst>
          </dgm:shape>
          <dgm:presOf axis="self"/>
          <dgm:constrLst>
            <dgm:constr type="primFontSz" val="65"/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layoutNode name="compChild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des" forName="childNode" refType="w"/>
            <dgm:constr type="h" for="des" forName="childNode" refType="h"/>
          </dgm:constrLst>
          <dgm:ruleLst/>
          <dgm:layoutNode name="theInnerList">
            <dgm:alg type="lin"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childNodeForEach" axis="ch" ptType="node">
              <dgm:layoutNode name="childNode" styleLbl="node1">
                <dgm:varLst>
                  <dgm:bulletEnabled val="1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desOrSelf" ptType="node"/>
                <dgm:constrLst>
                  <dgm:constr type="primFontSz" val="65"/>
                  <dgm:constr type="tMarg" refType="primFontSz" fact="0.15"/>
                  <dgm:constr type="bMarg" refType="primFontSz" fact="0.15"/>
                  <dgm:constr type="lMarg" refType="primFontSz" fact="0.2"/>
                  <dgm:constr type="rMarg" refType="primFontSz" fact="0.2"/>
                </dgm:constrLst>
                <dgm:ruleLst>
                  <dgm:rule type="primFontSz" val="5" fact="NaN" max="NaN"/>
                </dgm:ruleLst>
              </dgm:layoutNode>
              <dgm:choose name="Name3">
                <dgm:if name="Name4" axis="self" ptType="node" func="revPos" op="equ" val="1"/>
                <dgm:else name="Name5">
                  <dgm:layoutNode name="aSpace2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else>
              </dgm:choose>
            </dgm:forEach>
          </dgm:layoutNode>
        </dgm:layoutNode>
      </dgm:layoutNode>
      <dgm:choose name="Name6">
        <dgm:if name="Name7" axis="self" ptType="node" func="revPos" op="equ" val="1"/>
        <dgm:else name="Name8">
          <dgm:layoutNode name="a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architecture">
  <dgm:title val="Architecture Layout"/>
  <dgm:desc val="Use to show hierarchical relationships that build from the bottom up. This layout works well for showing architectural components or objects that build on other objects."/>
  <dgm:catLst>
    <dgm:cat type="hierarchy" pri="4500"/>
    <dgm:cat type="list" pri="24500"/>
    <dgm:cat type="relationship" pri="10500"/>
    <dgm:cat type="officeonline" pri="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b"/>
        </dgm:alg>
      </dgm:if>
      <dgm:else name="Name3">
        <dgm:alg type="lin">
          <dgm:param type="linDir" val="fromR"/>
          <dgm:param type="nodeVertAlign" val="b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B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b"/>
              </dgm:alg>
            </dgm:if>
            <dgm:else name="Name10">
              <dgm:alg type="lin">
                <dgm:param type="linDir" val="fromR"/>
                <dgm:param type="nodeVertAlign" val="b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B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b"/>
                    </dgm:alg>
                  </dgm:if>
                  <dgm:else name="Name17">
                    <dgm:alg type="lin">
                      <dgm:param type="linDir" val="fromR"/>
                      <dgm:param type="nodeVertAlign" val="b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B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b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b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B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b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b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4200F8-F6F8-4922-9EE1-86F2F2F8B2D4}" type="datetimeFigureOut">
              <a:rPr lang="en-IN" smtClean="0"/>
              <a:t>16-06-2026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D17B88-917E-42E3-BCDF-A777610E3B51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1409324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80202D-DFEE-477C-9EB9-5A71544BF30F}" type="datetimeFigureOut">
              <a:rPr lang="en-IN" smtClean="0"/>
              <a:t>16-06-2026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E9F95B-FDFD-4494-A152-870BCBB92ED5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87446152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4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88" y="1588"/>
            <a:ext cx="1588" cy="1588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5DC5E6F-A9EC-489D-AE14-C8C1172447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00117" y="2612357"/>
            <a:ext cx="5116006" cy="1354217"/>
          </a:xfrm>
          <a:prstGeom prst="rect">
            <a:avLst/>
          </a:prstGeom>
        </p:spPr>
        <p:txBody>
          <a:bodyPr vert="horz" lIns="0" tIns="0" rIns="0" bIns="0" anchor="t" anchorCtr="0">
            <a:spAutoFit/>
          </a:bodyPr>
          <a:lstStyle>
            <a:lvl1pPr algn="l"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112CAB-CB67-4A29-B608-734155945A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00117" y="4146086"/>
            <a:ext cx="5116006" cy="307777"/>
          </a:xfrm>
        </p:spPr>
        <p:txBody>
          <a:bodyPr lIns="0" tIns="0" rIns="0" bIns="0" anchor="t" anchorCtr="0">
            <a:spAutoFit/>
          </a:bodyPr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pic>
        <p:nvPicPr>
          <p:cNvPr id="8" name="Picture 7" descr="A person wearing a hard hat&#10;&#10;Description automatically generated with low confidence">
            <a:extLst>
              <a:ext uri="{FF2B5EF4-FFF2-40B4-BE49-F238E27FC236}">
                <a16:creationId xmlns:a16="http://schemas.microsoft.com/office/drawing/2014/main" id="{81CDD237-FB1D-439C-B0A7-8315B32D7D04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 flipH="1" flipV="1">
            <a:off x="613916" y="837086"/>
            <a:ext cx="5230431" cy="5229490"/>
          </a:xfrm>
          <a:custGeom>
            <a:avLst/>
            <a:gdLst>
              <a:gd name="connsiteX0" fmla="*/ 2304556 w 5230431"/>
              <a:gd name="connsiteY0" fmla="*/ 0 h 5229490"/>
              <a:gd name="connsiteX1" fmla="*/ 3086360 w 5230431"/>
              <a:gd name="connsiteY1" fmla="*/ 0 h 5229490"/>
              <a:gd name="connsiteX2" fmla="*/ 3311747 w 5230431"/>
              <a:gd name="connsiteY2" fmla="*/ 225336 h 5229490"/>
              <a:gd name="connsiteX3" fmla="*/ 3311747 w 5230431"/>
              <a:gd name="connsiteY3" fmla="*/ 1007191 h 5229490"/>
              <a:gd name="connsiteX4" fmla="*/ 3086360 w 5230431"/>
              <a:gd name="connsiteY4" fmla="*/ 1232527 h 5229490"/>
              <a:gd name="connsiteX5" fmla="*/ 2319318 w 5230431"/>
              <a:gd name="connsiteY5" fmla="*/ 1232527 h 5229490"/>
              <a:gd name="connsiteX6" fmla="*/ 2319318 w 5230431"/>
              <a:gd name="connsiteY6" fmla="*/ 1232909 h 5229490"/>
              <a:gd name="connsiteX7" fmla="*/ 642044 w 5230431"/>
              <a:gd name="connsiteY7" fmla="*/ 2910182 h 5229490"/>
              <a:gd name="connsiteX8" fmla="*/ 2861752 w 5230431"/>
              <a:gd name="connsiteY8" fmla="*/ 4502350 h 5229490"/>
              <a:gd name="connsiteX9" fmla="*/ 3996582 w 5230431"/>
              <a:gd name="connsiteY9" fmla="*/ 2910182 h 5229490"/>
              <a:gd name="connsiteX10" fmla="*/ 3997820 w 5230431"/>
              <a:gd name="connsiteY10" fmla="*/ 2910182 h 5229490"/>
              <a:gd name="connsiteX11" fmla="*/ 3997820 w 5230431"/>
              <a:gd name="connsiteY11" fmla="*/ 2169116 h 5229490"/>
              <a:gd name="connsiteX12" fmla="*/ 4223229 w 5230431"/>
              <a:gd name="connsiteY12" fmla="*/ 1943730 h 5229490"/>
              <a:gd name="connsiteX13" fmla="*/ 5005022 w 5230431"/>
              <a:gd name="connsiteY13" fmla="*/ 1943730 h 5229490"/>
              <a:gd name="connsiteX14" fmla="*/ 5005059 w 5230431"/>
              <a:gd name="connsiteY14" fmla="*/ 1943732 h 5229490"/>
              <a:gd name="connsiteX15" fmla="*/ 5230431 w 5230431"/>
              <a:gd name="connsiteY15" fmla="*/ 2169120 h 5229490"/>
              <a:gd name="connsiteX16" fmla="*/ 5230431 w 5230431"/>
              <a:gd name="connsiteY16" fmla="*/ 2950923 h 5229490"/>
              <a:gd name="connsiteX17" fmla="*/ 5005059 w 5230431"/>
              <a:gd name="connsiteY17" fmla="*/ 3176307 h 5229490"/>
              <a:gd name="connsiteX18" fmla="*/ 4623065 w 5230431"/>
              <a:gd name="connsiteY18" fmla="*/ 3176307 h 5229490"/>
              <a:gd name="connsiteX19" fmla="*/ 2229056 w 5230431"/>
              <a:gd name="connsiteY19" fmla="*/ 5227773 h 5229490"/>
              <a:gd name="connsiteX20" fmla="*/ 1721 w 5230431"/>
              <a:gd name="connsiteY20" fmla="*/ 3000593 h 5229490"/>
              <a:gd name="connsiteX21" fmla="*/ 2079172 w 5230431"/>
              <a:gd name="connsiteY21" fmla="*/ 603178 h 5229490"/>
              <a:gd name="connsiteX22" fmla="*/ 2079172 w 5230431"/>
              <a:gd name="connsiteY22" fmla="*/ 225336 h 5229490"/>
              <a:gd name="connsiteX23" fmla="*/ 2304556 w 5230431"/>
              <a:gd name="connsiteY23" fmla="*/ 0 h 5229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5230431" h="5229490">
                <a:moveTo>
                  <a:pt x="2304556" y="0"/>
                </a:moveTo>
                <a:lnTo>
                  <a:pt x="3086360" y="0"/>
                </a:lnTo>
                <a:cubicBezTo>
                  <a:pt x="3210851" y="0"/>
                  <a:pt x="3311747" y="100894"/>
                  <a:pt x="3311747" y="225336"/>
                </a:cubicBezTo>
                <a:lnTo>
                  <a:pt x="3311747" y="1007191"/>
                </a:lnTo>
                <a:cubicBezTo>
                  <a:pt x="3311747" y="1131632"/>
                  <a:pt x="3210851" y="1232527"/>
                  <a:pt x="3086360" y="1232527"/>
                </a:cubicBezTo>
                <a:lnTo>
                  <a:pt x="2319318" y="1232527"/>
                </a:lnTo>
                <a:lnTo>
                  <a:pt x="2319318" y="1232909"/>
                </a:lnTo>
                <a:cubicBezTo>
                  <a:pt x="1393015" y="1232909"/>
                  <a:pt x="642044" y="1983836"/>
                  <a:pt x="642044" y="2910182"/>
                </a:cubicBezTo>
                <a:cubicBezTo>
                  <a:pt x="642044" y="4012278"/>
                  <a:pt x="1705117" y="4866136"/>
                  <a:pt x="2861752" y="4502350"/>
                </a:cubicBezTo>
                <a:cubicBezTo>
                  <a:pt x="3546988" y="4286810"/>
                  <a:pt x="3996582" y="3628464"/>
                  <a:pt x="3996582" y="2910182"/>
                </a:cubicBezTo>
                <a:lnTo>
                  <a:pt x="3997820" y="2910182"/>
                </a:lnTo>
                <a:lnTo>
                  <a:pt x="3997820" y="2169116"/>
                </a:lnTo>
                <a:cubicBezTo>
                  <a:pt x="3997820" y="2044624"/>
                  <a:pt x="4098726" y="1943730"/>
                  <a:pt x="4223229" y="1943730"/>
                </a:cubicBezTo>
                <a:lnTo>
                  <a:pt x="5005022" y="1943730"/>
                </a:lnTo>
                <a:lnTo>
                  <a:pt x="5005059" y="1943732"/>
                </a:lnTo>
                <a:cubicBezTo>
                  <a:pt x="5129526" y="1943732"/>
                  <a:pt x="5230431" y="2044628"/>
                  <a:pt x="5230431" y="2169120"/>
                </a:cubicBezTo>
                <a:lnTo>
                  <a:pt x="5230431" y="2950923"/>
                </a:lnTo>
                <a:cubicBezTo>
                  <a:pt x="5230431" y="3075411"/>
                  <a:pt x="5129526" y="3176307"/>
                  <a:pt x="5005059" y="3176307"/>
                </a:cubicBezTo>
                <a:lnTo>
                  <a:pt x="4623065" y="3176307"/>
                </a:lnTo>
                <a:cubicBezTo>
                  <a:pt x="4487711" y="4360915"/>
                  <a:pt x="3460320" y="5274530"/>
                  <a:pt x="2229056" y="5227773"/>
                </a:cubicBezTo>
                <a:cubicBezTo>
                  <a:pt x="1035082" y="5182473"/>
                  <a:pt x="47069" y="4194535"/>
                  <a:pt x="1721" y="3000593"/>
                </a:cubicBezTo>
                <a:cubicBezTo>
                  <a:pt x="-45424" y="1760253"/>
                  <a:pt x="881895" y="726359"/>
                  <a:pt x="2079172" y="603178"/>
                </a:cubicBezTo>
                <a:lnTo>
                  <a:pt x="2079172" y="225336"/>
                </a:lnTo>
                <a:cubicBezTo>
                  <a:pt x="2079172" y="100894"/>
                  <a:pt x="2180064" y="0"/>
                  <a:pt x="2304556" y="0"/>
                </a:cubicBezTo>
                <a:close/>
              </a:path>
            </a:pathLst>
          </a:custGeom>
        </p:spPr>
      </p:pic>
      <p:pic>
        <p:nvPicPr>
          <p:cNvPr id="9" name="Picture 8" descr="A person wearing a hard hat&#10;&#10;Description automatically generated with low confidence">
            <a:extLst>
              <a:ext uri="{FF2B5EF4-FFF2-40B4-BE49-F238E27FC236}">
                <a16:creationId xmlns:a16="http://schemas.microsoft.com/office/drawing/2014/main" id="{373A9FE0-9CB9-44C9-8B7F-3F40C8F62A5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128077" y="791424"/>
            <a:ext cx="3790124" cy="3791270"/>
          </a:xfrm>
          <a:custGeom>
            <a:avLst/>
            <a:gdLst>
              <a:gd name="connsiteX0" fmla="*/ 3170700 w 3790124"/>
              <a:gd name="connsiteY0" fmla="*/ 11 h 3791270"/>
              <a:gd name="connsiteX1" fmla="*/ 3505317 w 3790124"/>
              <a:gd name="connsiteY1" fmla="*/ 4830 h 3791270"/>
              <a:gd name="connsiteX2" fmla="*/ 3788371 w 3790124"/>
              <a:gd name="connsiteY2" fmla="*/ 301636 h 3791270"/>
              <a:gd name="connsiteX3" fmla="*/ 3788336 w 3790124"/>
              <a:gd name="connsiteY3" fmla="*/ 301667 h 3791270"/>
              <a:gd name="connsiteX4" fmla="*/ 3788336 w 3790124"/>
              <a:gd name="connsiteY4" fmla="*/ 971072 h 3791270"/>
              <a:gd name="connsiteX5" fmla="*/ 3512710 w 3790124"/>
              <a:gd name="connsiteY5" fmla="*/ 1245881 h 3791270"/>
              <a:gd name="connsiteX6" fmla="*/ 3130170 w 3790124"/>
              <a:gd name="connsiteY6" fmla="*/ 1246653 h 3791270"/>
              <a:gd name="connsiteX7" fmla="*/ 1810768 w 3790124"/>
              <a:gd name="connsiteY7" fmla="*/ 2562788 h 3791270"/>
              <a:gd name="connsiteX8" fmla="*/ 1810218 w 3790124"/>
              <a:gd name="connsiteY8" fmla="*/ 3391593 h 3791270"/>
              <a:gd name="connsiteX9" fmla="*/ 1413342 w 3790124"/>
              <a:gd name="connsiteY9" fmla="*/ 3790398 h 3791270"/>
              <a:gd name="connsiteX10" fmla="*/ 919263 w 3790124"/>
              <a:gd name="connsiteY10" fmla="*/ 3790726 h 3791270"/>
              <a:gd name="connsiteX11" fmla="*/ 441062 w 3790124"/>
              <a:gd name="connsiteY11" fmla="*/ 3790617 h 3791270"/>
              <a:gd name="connsiteX12" fmla="*/ 7384 w 3790124"/>
              <a:gd name="connsiteY12" fmla="*/ 3386859 h 3791270"/>
              <a:gd name="connsiteX13" fmla="*/ 7333 w 3790124"/>
              <a:gd name="connsiteY13" fmla="*/ 2382873 h 3791270"/>
              <a:gd name="connsiteX14" fmla="*/ 433483 w 3790124"/>
              <a:gd name="connsiteY14" fmla="*/ 1988378 h 3791270"/>
              <a:gd name="connsiteX15" fmla="*/ 1086575 w 3790124"/>
              <a:gd name="connsiteY15" fmla="*/ 1990174 h 3791270"/>
              <a:gd name="connsiteX16" fmla="*/ 2281337 w 3790124"/>
              <a:gd name="connsiteY16" fmla="*/ 1417975 h 3791270"/>
              <a:gd name="connsiteX17" fmla="*/ 2550881 w 3790124"/>
              <a:gd name="connsiteY17" fmla="*/ 663503 h 3791270"/>
              <a:gd name="connsiteX18" fmla="*/ 2549388 w 3790124"/>
              <a:gd name="connsiteY18" fmla="*/ 297121 h 3791270"/>
              <a:gd name="connsiteX19" fmla="*/ 2835974 w 3790124"/>
              <a:gd name="connsiteY19" fmla="*/ 4732 h 3791270"/>
              <a:gd name="connsiteX20" fmla="*/ 3170700 w 3790124"/>
              <a:gd name="connsiteY20" fmla="*/ 11 h 37912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790124" h="3791270">
                <a:moveTo>
                  <a:pt x="3170700" y="11"/>
                </a:moveTo>
                <a:cubicBezTo>
                  <a:pt x="3282294" y="-135"/>
                  <a:pt x="3393869" y="1310"/>
                  <a:pt x="3505317" y="4830"/>
                </a:cubicBezTo>
                <a:cubicBezTo>
                  <a:pt x="3682003" y="10413"/>
                  <a:pt x="3786587" y="125242"/>
                  <a:pt x="3788371" y="301636"/>
                </a:cubicBezTo>
                <a:lnTo>
                  <a:pt x="3788336" y="301667"/>
                </a:lnTo>
                <a:cubicBezTo>
                  <a:pt x="3790665" y="524770"/>
                  <a:pt x="3790775" y="747968"/>
                  <a:pt x="3788336" y="971072"/>
                </a:cubicBezTo>
                <a:cubicBezTo>
                  <a:pt x="3786405" y="1151785"/>
                  <a:pt x="3697443" y="1240397"/>
                  <a:pt x="3512710" y="1245881"/>
                </a:cubicBezTo>
                <a:cubicBezTo>
                  <a:pt x="3385294" y="1249665"/>
                  <a:pt x="3257659" y="1246900"/>
                  <a:pt x="3130170" y="1246653"/>
                </a:cubicBezTo>
                <a:cubicBezTo>
                  <a:pt x="2475028" y="1245295"/>
                  <a:pt x="1811045" y="1907657"/>
                  <a:pt x="1810768" y="2562788"/>
                </a:cubicBezTo>
                <a:cubicBezTo>
                  <a:pt x="1810768" y="2839054"/>
                  <a:pt x="1812447" y="3115323"/>
                  <a:pt x="1810218" y="3391593"/>
                </a:cubicBezTo>
                <a:cubicBezTo>
                  <a:pt x="1808226" y="3634408"/>
                  <a:pt x="1654508" y="3787885"/>
                  <a:pt x="1413342" y="3790398"/>
                </a:cubicBezTo>
                <a:cubicBezTo>
                  <a:pt x="1248699" y="3792146"/>
                  <a:pt x="1083958" y="3790726"/>
                  <a:pt x="919263" y="3790726"/>
                </a:cubicBezTo>
                <a:cubicBezTo>
                  <a:pt x="759864" y="3790763"/>
                  <a:pt x="600461" y="3791345"/>
                  <a:pt x="441062" y="3790617"/>
                </a:cubicBezTo>
                <a:cubicBezTo>
                  <a:pt x="180866" y="3789378"/>
                  <a:pt x="15049" y="3644739"/>
                  <a:pt x="7384" y="3386859"/>
                </a:cubicBezTo>
                <a:cubicBezTo>
                  <a:pt x="-2521" y="3052471"/>
                  <a:pt x="-2382" y="2717308"/>
                  <a:pt x="7333" y="2382873"/>
                </a:cubicBezTo>
                <a:cubicBezTo>
                  <a:pt x="14569" y="2132290"/>
                  <a:pt x="169406" y="1995126"/>
                  <a:pt x="433483" y="1988378"/>
                </a:cubicBezTo>
                <a:cubicBezTo>
                  <a:pt x="651197" y="1982793"/>
                  <a:pt x="870951" y="1968518"/>
                  <a:pt x="1086575" y="1990174"/>
                </a:cubicBezTo>
                <a:cubicBezTo>
                  <a:pt x="1606145" y="2042273"/>
                  <a:pt x="1965586" y="1778967"/>
                  <a:pt x="2281337" y="1417975"/>
                </a:cubicBezTo>
                <a:cubicBezTo>
                  <a:pt x="2469603" y="1202784"/>
                  <a:pt x="2582890" y="960843"/>
                  <a:pt x="2550881" y="663503"/>
                </a:cubicBezTo>
                <a:cubicBezTo>
                  <a:pt x="2537917" y="542704"/>
                  <a:pt x="2546475" y="419279"/>
                  <a:pt x="2549388" y="297121"/>
                </a:cubicBezTo>
                <a:cubicBezTo>
                  <a:pt x="2553576" y="118930"/>
                  <a:pt x="2657139" y="9249"/>
                  <a:pt x="2835974" y="4732"/>
                </a:cubicBezTo>
                <a:cubicBezTo>
                  <a:pt x="2947495" y="1892"/>
                  <a:pt x="3059106" y="156"/>
                  <a:pt x="3170700" y="11"/>
                </a:cubicBezTo>
                <a:close/>
              </a:path>
            </a:pathLst>
          </a:custGeom>
        </p:spPr>
      </p:pic>
      <p:pic>
        <p:nvPicPr>
          <p:cNvPr id="10" name="Picture 9" descr="A person wearing a hard hat&#10;&#10;Description automatically generated with low confidence">
            <a:extLst>
              <a:ext uri="{FF2B5EF4-FFF2-40B4-BE49-F238E27FC236}">
                <a16:creationId xmlns:a16="http://schemas.microsoft.com/office/drawing/2014/main" id="{28744C2A-E5AD-4784-B156-6C89EC2F8F6F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6999"/>
          <a:stretch/>
        </p:blipFill>
        <p:spPr>
          <a:xfrm>
            <a:off x="2128077" y="2365581"/>
            <a:ext cx="2316799" cy="2217113"/>
          </a:xfrm>
          <a:custGeom>
            <a:avLst/>
            <a:gdLst>
              <a:gd name="connsiteX0" fmla="*/ 2133212 w 2316799"/>
              <a:gd name="connsiteY0" fmla="*/ 0 h 2217113"/>
              <a:gd name="connsiteX1" fmla="*/ 2316799 w 2316799"/>
              <a:gd name="connsiteY1" fmla="*/ 0 h 2217113"/>
              <a:gd name="connsiteX2" fmla="*/ 2224894 w 2316799"/>
              <a:gd name="connsiteY2" fmla="*/ 84380 h 2217113"/>
              <a:gd name="connsiteX3" fmla="*/ 1810767 w 2316799"/>
              <a:gd name="connsiteY3" fmla="*/ 988631 h 2217113"/>
              <a:gd name="connsiteX4" fmla="*/ 1810217 w 2316799"/>
              <a:gd name="connsiteY4" fmla="*/ 1817435 h 2217113"/>
              <a:gd name="connsiteX5" fmla="*/ 1413341 w 2316799"/>
              <a:gd name="connsiteY5" fmla="*/ 2216241 h 2217113"/>
              <a:gd name="connsiteX6" fmla="*/ 919262 w 2316799"/>
              <a:gd name="connsiteY6" fmla="*/ 2216569 h 2217113"/>
              <a:gd name="connsiteX7" fmla="*/ 441061 w 2316799"/>
              <a:gd name="connsiteY7" fmla="*/ 2216460 h 2217113"/>
              <a:gd name="connsiteX8" fmla="*/ 7384 w 2316799"/>
              <a:gd name="connsiteY8" fmla="*/ 1812702 h 2217113"/>
              <a:gd name="connsiteX9" fmla="*/ 7333 w 2316799"/>
              <a:gd name="connsiteY9" fmla="*/ 808716 h 2217113"/>
              <a:gd name="connsiteX10" fmla="*/ 433482 w 2316799"/>
              <a:gd name="connsiteY10" fmla="*/ 414221 h 2217113"/>
              <a:gd name="connsiteX11" fmla="*/ 1086574 w 2316799"/>
              <a:gd name="connsiteY11" fmla="*/ 416017 h 2217113"/>
              <a:gd name="connsiteX12" fmla="*/ 2034512 w 2316799"/>
              <a:gd name="connsiteY12" fmla="*/ 92844 h 2217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2316799" h="2217113">
                <a:moveTo>
                  <a:pt x="2133212" y="0"/>
                </a:moveTo>
                <a:lnTo>
                  <a:pt x="2316799" y="0"/>
                </a:lnTo>
                <a:lnTo>
                  <a:pt x="2224894" y="84380"/>
                </a:lnTo>
                <a:cubicBezTo>
                  <a:pt x="1976971" y="331692"/>
                  <a:pt x="1810906" y="661066"/>
                  <a:pt x="1810767" y="988631"/>
                </a:cubicBezTo>
                <a:cubicBezTo>
                  <a:pt x="1810767" y="1264897"/>
                  <a:pt x="1812446" y="1541166"/>
                  <a:pt x="1810217" y="1817435"/>
                </a:cubicBezTo>
                <a:cubicBezTo>
                  <a:pt x="1808225" y="2060251"/>
                  <a:pt x="1654507" y="2213728"/>
                  <a:pt x="1413341" y="2216241"/>
                </a:cubicBezTo>
                <a:cubicBezTo>
                  <a:pt x="1248698" y="2217989"/>
                  <a:pt x="1083957" y="2216569"/>
                  <a:pt x="919262" y="2216569"/>
                </a:cubicBezTo>
                <a:cubicBezTo>
                  <a:pt x="759863" y="2216606"/>
                  <a:pt x="600460" y="2217188"/>
                  <a:pt x="441061" y="2216460"/>
                </a:cubicBezTo>
                <a:cubicBezTo>
                  <a:pt x="180865" y="2215221"/>
                  <a:pt x="15048" y="2070582"/>
                  <a:pt x="7384" y="1812702"/>
                </a:cubicBezTo>
                <a:cubicBezTo>
                  <a:pt x="-2522" y="1478314"/>
                  <a:pt x="-2383" y="1143151"/>
                  <a:pt x="7333" y="808716"/>
                </a:cubicBezTo>
                <a:cubicBezTo>
                  <a:pt x="14568" y="558133"/>
                  <a:pt x="169405" y="420969"/>
                  <a:pt x="433482" y="414221"/>
                </a:cubicBezTo>
                <a:cubicBezTo>
                  <a:pt x="651197" y="408636"/>
                  <a:pt x="870950" y="394361"/>
                  <a:pt x="1086574" y="416017"/>
                </a:cubicBezTo>
                <a:cubicBezTo>
                  <a:pt x="1476252" y="455091"/>
                  <a:pt x="1775857" y="316750"/>
                  <a:pt x="2034512" y="92844"/>
                </a:cubicBezTo>
                <a:close/>
              </a:path>
            </a:pathLst>
          </a:custGeom>
        </p:spPr>
      </p:pic>
      <p:sp>
        <p:nvSpPr>
          <p:cNvPr id="12" name="Subtitle 2">
            <a:extLst>
              <a:ext uri="{FF2B5EF4-FFF2-40B4-BE49-F238E27FC236}">
                <a16:creationId xmlns:a16="http://schemas.microsoft.com/office/drawing/2014/main" id="{D7112CAB-CB67-4A29-B608-734155945A38}"/>
              </a:ext>
            </a:extLst>
          </p:cNvPr>
          <p:cNvSpPr txBox="1">
            <a:spLocks/>
          </p:cNvSpPr>
          <p:nvPr userDrawn="1"/>
        </p:nvSpPr>
        <p:spPr>
          <a:xfrm>
            <a:off x="6600117" y="5820355"/>
            <a:ext cx="5116006" cy="523220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n-US" sz="850" dirty="0">
                <a:solidFill>
                  <a:schemeClr val="bg1"/>
                </a:solidFill>
                <a:latin typeface="+mj-lt"/>
              </a:rPr>
              <a:t>This presentation is a proprietary material of</a:t>
            </a:r>
            <a:r>
              <a:rPr lang="en-US" sz="850" baseline="0" dirty="0">
                <a:solidFill>
                  <a:schemeClr val="bg1"/>
                </a:solidFill>
                <a:latin typeface="+mj-lt"/>
              </a:rPr>
              <a:t> KiyaAI. </a:t>
            </a:r>
            <a:r>
              <a:rPr lang="en-US" sz="850" dirty="0">
                <a:solidFill>
                  <a:schemeClr val="bg1"/>
                </a:solidFill>
                <a:latin typeface="+mj-lt"/>
              </a:rPr>
              <a:t>Any unauthorized usage or distribution of this material without prior consent of</a:t>
            </a:r>
            <a:r>
              <a:rPr lang="en-US" sz="850" baseline="0" dirty="0">
                <a:solidFill>
                  <a:schemeClr val="bg1"/>
                </a:solidFill>
                <a:latin typeface="+mj-lt"/>
              </a:rPr>
              <a:t> KiyaAI</a:t>
            </a:r>
            <a:r>
              <a:rPr lang="en-US" sz="850" dirty="0">
                <a:solidFill>
                  <a:schemeClr val="bg1"/>
                </a:solidFill>
                <a:latin typeface="+mj-lt"/>
              </a:rPr>
              <a:t> is prohibited. The content here is highly confidential and is meant for internal circulation only. All viewers to this presentation voluntarily bind themselves to the clauses of standard  Confidentiality &amp; Non-Disclosure Agreement.</a:t>
            </a:r>
          </a:p>
        </p:txBody>
      </p:sp>
    </p:spTree>
    <p:extLst>
      <p:ext uri="{BB962C8B-B14F-4D97-AF65-F5344CB8AC3E}">
        <p14:creationId xmlns:p14="http://schemas.microsoft.com/office/powerpoint/2010/main" val="5247128"/>
      </p:ext>
    </p:extLst>
  </p:cSld>
  <p:clrMapOvr>
    <a:masterClrMapping/>
  </p:clrMapOvr>
  <p:transition spd="med">
    <p:pull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6D34901-D911-3940-8AA1-45554B4A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5253" y="6676808"/>
            <a:ext cx="20758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25CC604-E3A7-4F52-8848-933FA40E345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CA6F4D-3367-5D45-B9D1-8364EC1A6F3A}"/>
              </a:ext>
            </a:extLst>
          </p:cNvPr>
          <p:cNvGrpSpPr/>
          <p:nvPr userDrawn="1"/>
        </p:nvGrpSpPr>
        <p:grpSpPr>
          <a:xfrm>
            <a:off x="11649316" y="6262166"/>
            <a:ext cx="542684" cy="524050"/>
            <a:chOff x="-22" y="-168754"/>
            <a:chExt cx="7280821" cy="7030794"/>
          </a:xfrm>
        </p:grpSpPr>
        <p:sp>
          <p:nvSpPr>
            <p:cNvPr id="17" name="Freeform: Shape 19">
              <a:extLst>
                <a:ext uri="{FF2B5EF4-FFF2-40B4-BE49-F238E27FC236}">
                  <a16:creationId xmlns:a16="http://schemas.microsoft.com/office/drawing/2014/main" id="{72C6267F-9A8C-2549-BBF3-02962DB1AD9D}"/>
                </a:ext>
              </a:extLst>
            </p:cNvPr>
            <p:cNvSpPr/>
            <p:nvPr/>
          </p:nvSpPr>
          <p:spPr>
            <a:xfrm flipV="1">
              <a:off x="-22" y="4250335"/>
              <a:ext cx="2762533" cy="2611705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012F72A3-71F8-3248-99D5-AE0486C760A8}"/>
                </a:ext>
              </a:extLst>
            </p:cNvPr>
            <p:cNvSpPr/>
            <p:nvPr/>
          </p:nvSpPr>
          <p:spPr>
            <a:xfrm>
              <a:off x="1349937" y="-168754"/>
              <a:ext cx="5930862" cy="7030771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23" name="Freeform: Shape 14">
            <a:extLst>
              <a:ext uri="{FF2B5EF4-FFF2-40B4-BE49-F238E27FC236}">
                <a16:creationId xmlns:a16="http://schemas.microsoft.com/office/drawing/2014/main" id="{2EAEE0E7-DCDC-964A-9DA6-DD0818C642CB}"/>
              </a:ext>
            </a:extLst>
          </p:cNvPr>
          <p:cNvSpPr/>
          <p:nvPr userDrawn="1"/>
        </p:nvSpPr>
        <p:spPr>
          <a:xfrm flipH="1">
            <a:off x="-2" y="6802785"/>
            <a:ext cx="12192001" cy="55215"/>
          </a:xfrm>
          <a:custGeom>
            <a:avLst/>
            <a:gdLst>
              <a:gd name="connsiteX0" fmla="*/ 12049090 w 12049090"/>
              <a:gd name="connsiteY0" fmla="*/ 0 h 55215"/>
              <a:gd name="connsiteX1" fmla="*/ 0 w 12049090"/>
              <a:gd name="connsiteY1" fmla="*/ 0 h 55215"/>
              <a:gd name="connsiteX2" fmla="*/ 0 w 12049090"/>
              <a:gd name="connsiteY2" fmla="*/ 55215 h 55215"/>
              <a:gd name="connsiteX3" fmla="*/ 12049090 w 12049090"/>
              <a:gd name="connsiteY3" fmla="*/ 55215 h 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9090" h="55215">
                <a:moveTo>
                  <a:pt x="12049090" y="0"/>
                </a:moveTo>
                <a:lnTo>
                  <a:pt x="0" y="0"/>
                </a:lnTo>
                <a:lnTo>
                  <a:pt x="0" y="55215"/>
                </a:lnTo>
                <a:lnTo>
                  <a:pt x="12049090" y="55215"/>
                </a:lnTo>
                <a:close/>
              </a:path>
            </a:pathLst>
          </a:custGeom>
          <a:solidFill>
            <a:srgbClr val="2E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F0737398-473F-9A61-3A43-75FF721C0773}"/>
              </a:ext>
            </a:extLst>
          </p:cNvPr>
          <p:cNvSpPr/>
          <p:nvPr userDrawn="1"/>
        </p:nvSpPr>
        <p:spPr>
          <a:xfrm>
            <a:off x="0" y="6805270"/>
            <a:ext cx="4284000" cy="54000"/>
          </a:xfrm>
          <a:custGeom>
            <a:avLst/>
            <a:gdLst/>
            <a:ahLst/>
            <a:cxnLst/>
            <a:rect l="0" t="0" r="r" b="b"/>
            <a:pathLst>
              <a:path w="10400" h="187">
                <a:moveTo>
                  <a:pt x="0" y="0"/>
                </a:moveTo>
                <a:lnTo>
                  <a:pt x="10400" y="0"/>
                </a:lnTo>
                <a:lnTo>
                  <a:pt x="10400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734" dirty="0">
              <a:solidFill>
                <a:srgbClr val="FFFFF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84891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with N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0B490-FB4A-4A77-BF80-4F6833C8163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027" y="254912"/>
            <a:ext cx="10391716" cy="430887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lnSpc>
                <a:spcPct val="100000"/>
              </a:lnSpc>
              <a:defRPr sz="2800" b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6D34901-D911-3940-8AA1-45554B4AA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5253" y="6676808"/>
            <a:ext cx="20758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25CC604-E3A7-4F52-8848-933FA40E345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FCA6F4D-3367-5D45-B9D1-8364EC1A6F3A}"/>
              </a:ext>
            </a:extLst>
          </p:cNvPr>
          <p:cNvGrpSpPr/>
          <p:nvPr userDrawn="1"/>
        </p:nvGrpSpPr>
        <p:grpSpPr>
          <a:xfrm>
            <a:off x="11649316" y="6262166"/>
            <a:ext cx="542684" cy="524050"/>
            <a:chOff x="-22" y="-168754"/>
            <a:chExt cx="7280821" cy="7030794"/>
          </a:xfrm>
        </p:grpSpPr>
        <p:sp>
          <p:nvSpPr>
            <p:cNvPr id="17" name="Freeform: Shape 19">
              <a:extLst>
                <a:ext uri="{FF2B5EF4-FFF2-40B4-BE49-F238E27FC236}">
                  <a16:creationId xmlns:a16="http://schemas.microsoft.com/office/drawing/2014/main" id="{72C6267F-9A8C-2549-BBF3-02962DB1AD9D}"/>
                </a:ext>
              </a:extLst>
            </p:cNvPr>
            <p:cNvSpPr/>
            <p:nvPr/>
          </p:nvSpPr>
          <p:spPr>
            <a:xfrm flipV="1">
              <a:off x="-22" y="4250335"/>
              <a:ext cx="2762533" cy="2611705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2" name="Freeform: Shape 20">
              <a:extLst>
                <a:ext uri="{FF2B5EF4-FFF2-40B4-BE49-F238E27FC236}">
                  <a16:creationId xmlns:a16="http://schemas.microsoft.com/office/drawing/2014/main" id="{012F72A3-71F8-3248-99D5-AE0486C760A8}"/>
                </a:ext>
              </a:extLst>
            </p:cNvPr>
            <p:cNvSpPr/>
            <p:nvPr/>
          </p:nvSpPr>
          <p:spPr>
            <a:xfrm>
              <a:off x="1349937" y="-168754"/>
              <a:ext cx="5930862" cy="7030771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23" name="Freeform: Shape 14">
            <a:extLst>
              <a:ext uri="{FF2B5EF4-FFF2-40B4-BE49-F238E27FC236}">
                <a16:creationId xmlns:a16="http://schemas.microsoft.com/office/drawing/2014/main" id="{2EAEE0E7-DCDC-964A-9DA6-DD0818C642CB}"/>
              </a:ext>
            </a:extLst>
          </p:cNvPr>
          <p:cNvSpPr/>
          <p:nvPr userDrawn="1"/>
        </p:nvSpPr>
        <p:spPr>
          <a:xfrm flipH="1">
            <a:off x="-2" y="6802785"/>
            <a:ext cx="12192001" cy="55215"/>
          </a:xfrm>
          <a:custGeom>
            <a:avLst/>
            <a:gdLst>
              <a:gd name="connsiteX0" fmla="*/ 12049090 w 12049090"/>
              <a:gd name="connsiteY0" fmla="*/ 0 h 55215"/>
              <a:gd name="connsiteX1" fmla="*/ 0 w 12049090"/>
              <a:gd name="connsiteY1" fmla="*/ 0 h 55215"/>
              <a:gd name="connsiteX2" fmla="*/ 0 w 12049090"/>
              <a:gd name="connsiteY2" fmla="*/ 55215 h 55215"/>
              <a:gd name="connsiteX3" fmla="*/ 12049090 w 12049090"/>
              <a:gd name="connsiteY3" fmla="*/ 55215 h 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9090" h="55215">
                <a:moveTo>
                  <a:pt x="12049090" y="0"/>
                </a:moveTo>
                <a:lnTo>
                  <a:pt x="0" y="0"/>
                </a:lnTo>
                <a:lnTo>
                  <a:pt x="0" y="55215"/>
                </a:lnTo>
                <a:lnTo>
                  <a:pt x="12049090" y="55215"/>
                </a:lnTo>
                <a:close/>
              </a:path>
            </a:pathLst>
          </a:custGeom>
          <a:solidFill>
            <a:srgbClr val="2E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E9C4BC76-0E1B-8B4C-D683-887F5862987E}"/>
              </a:ext>
            </a:extLst>
          </p:cNvPr>
          <p:cNvSpPr/>
          <p:nvPr userDrawn="1"/>
        </p:nvSpPr>
        <p:spPr>
          <a:xfrm>
            <a:off x="0" y="6805270"/>
            <a:ext cx="4284000" cy="54000"/>
          </a:xfrm>
          <a:custGeom>
            <a:avLst/>
            <a:gdLst/>
            <a:ahLst/>
            <a:cxnLst/>
            <a:rect l="0" t="0" r="r" b="b"/>
            <a:pathLst>
              <a:path w="10400" h="187">
                <a:moveTo>
                  <a:pt x="0" y="0"/>
                </a:moveTo>
                <a:lnTo>
                  <a:pt x="10400" y="0"/>
                </a:lnTo>
                <a:lnTo>
                  <a:pt x="10400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734" dirty="0">
              <a:solidFill>
                <a:srgbClr val="FFFFF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22172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8099C-9BB5-4B45-945B-CB8F798E5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988047"/>
            <a:ext cx="11523120" cy="897682"/>
          </a:xfr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800">
                <a:solidFill>
                  <a:schemeClr val="bg1"/>
                </a:solidFill>
              </a:defRPr>
            </a:lvl1pPr>
            <a:lvl2pPr marL="685800" indent="-2286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‒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buClr>
                <a:schemeClr val="accent1"/>
              </a:buClr>
              <a:buSzPct val="75000"/>
              <a:buFont typeface="Courier New" panose="02070309020205020404" pitchFamily="49" charset="0"/>
              <a:buChar char="o"/>
              <a:defRPr sz="14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2BE07BF-0808-FC40-AF11-653A42E559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5253" y="6676808"/>
            <a:ext cx="20758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25CC604-E3A7-4F52-8848-933FA40E345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EE1071BD-F1E6-A34F-96DE-B4BBB184B980}"/>
              </a:ext>
            </a:extLst>
          </p:cNvPr>
          <p:cNvGrpSpPr/>
          <p:nvPr userDrawn="1"/>
        </p:nvGrpSpPr>
        <p:grpSpPr>
          <a:xfrm>
            <a:off x="11649316" y="6262166"/>
            <a:ext cx="542684" cy="524050"/>
            <a:chOff x="-22" y="-168754"/>
            <a:chExt cx="7280821" cy="7030794"/>
          </a:xfrm>
        </p:grpSpPr>
        <p:sp>
          <p:nvSpPr>
            <p:cNvPr id="28" name="Freeform: Shape 19">
              <a:extLst>
                <a:ext uri="{FF2B5EF4-FFF2-40B4-BE49-F238E27FC236}">
                  <a16:creationId xmlns:a16="http://schemas.microsoft.com/office/drawing/2014/main" id="{C7133F0C-6095-AA48-B9CE-690D0D3DE7C2}"/>
                </a:ext>
              </a:extLst>
            </p:cNvPr>
            <p:cNvSpPr/>
            <p:nvPr/>
          </p:nvSpPr>
          <p:spPr>
            <a:xfrm flipV="1">
              <a:off x="-22" y="4250335"/>
              <a:ext cx="2762533" cy="2611705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9" name="Freeform: Shape 20">
              <a:extLst>
                <a:ext uri="{FF2B5EF4-FFF2-40B4-BE49-F238E27FC236}">
                  <a16:creationId xmlns:a16="http://schemas.microsoft.com/office/drawing/2014/main" id="{62F94F56-0371-634F-9F8E-DE6085D47A10}"/>
                </a:ext>
              </a:extLst>
            </p:cNvPr>
            <p:cNvSpPr/>
            <p:nvPr/>
          </p:nvSpPr>
          <p:spPr>
            <a:xfrm>
              <a:off x="1349937" y="-168754"/>
              <a:ext cx="5930862" cy="7030771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0" name="Freeform: Shape 14">
            <a:extLst>
              <a:ext uri="{FF2B5EF4-FFF2-40B4-BE49-F238E27FC236}">
                <a16:creationId xmlns:a16="http://schemas.microsoft.com/office/drawing/2014/main" id="{99230F41-F64B-2940-AC40-4C850EF776A4}"/>
              </a:ext>
            </a:extLst>
          </p:cNvPr>
          <p:cNvSpPr/>
          <p:nvPr userDrawn="1"/>
        </p:nvSpPr>
        <p:spPr>
          <a:xfrm flipH="1">
            <a:off x="-2" y="6802785"/>
            <a:ext cx="12192001" cy="55215"/>
          </a:xfrm>
          <a:custGeom>
            <a:avLst/>
            <a:gdLst>
              <a:gd name="connsiteX0" fmla="*/ 12049090 w 12049090"/>
              <a:gd name="connsiteY0" fmla="*/ 0 h 55215"/>
              <a:gd name="connsiteX1" fmla="*/ 0 w 12049090"/>
              <a:gd name="connsiteY1" fmla="*/ 0 h 55215"/>
              <a:gd name="connsiteX2" fmla="*/ 0 w 12049090"/>
              <a:gd name="connsiteY2" fmla="*/ 55215 h 55215"/>
              <a:gd name="connsiteX3" fmla="*/ 12049090 w 12049090"/>
              <a:gd name="connsiteY3" fmla="*/ 55215 h 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9090" h="55215">
                <a:moveTo>
                  <a:pt x="12049090" y="0"/>
                </a:moveTo>
                <a:lnTo>
                  <a:pt x="0" y="0"/>
                </a:lnTo>
                <a:lnTo>
                  <a:pt x="0" y="55215"/>
                </a:lnTo>
                <a:lnTo>
                  <a:pt x="12049090" y="55215"/>
                </a:lnTo>
                <a:close/>
              </a:path>
            </a:pathLst>
          </a:custGeom>
          <a:solidFill>
            <a:srgbClr val="2E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57BF59-CF7F-D7C0-7AA7-D28272A09DE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027" y="254912"/>
            <a:ext cx="10391716" cy="430887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lnSpc>
                <a:spcPct val="100000"/>
              </a:lnSpc>
              <a:defRPr sz="2800" b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98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-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8099C-9BB5-4B45-945B-CB8F798E5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560" y="1456396"/>
            <a:ext cx="11523120" cy="866904"/>
          </a:xfrm>
        </p:spPr>
        <p:txBody>
          <a:bodyPr wrap="square" lIns="0" tIns="0" rIns="0" bIns="0">
            <a:spAutoFit/>
          </a:bodyPr>
          <a:lstStyle>
            <a:lvl1pPr>
              <a:lnSpc>
                <a:spcPct val="100000"/>
              </a:lnSpc>
              <a:buClr>
                <a:schemeClr val="accent1"/>
              </a:buClr>
              <a:defRPr sz="1600">
                <a:solidFill>
                  <a:schemeClr val="bg1"/>
                </a:solidFill>
              </a:defRPr>
            </a:lvl1pPr>
            <a:lvl2pPr marL="685800" indent="-228600">
              <a:lnSpc>
                <a:spcPct val="100000"/>
              </a:lnSpc>
              <a:buClr>
                <a:schemeClr val="accent1"/>
              </a:buClr>
              <a:buFont typeface="Arial" panose="020B0604020202020204" pitchFamily="34" charset="0"/>
              <a:buChar char="‒"/>
              <a:defRPr sz="1600">
                <a:solidFill>
                  <a:schemeClr val="bg1"/>
                </a:solidFill>
              </a:defRPr>
            </a:lvl2pPr>
            <a:lvl3pPr marL="1143000" indent="-228600">
              <a:lnSpc>
                <a:spcPct val="100000"/>
              </a:lnSpc>
              <a:buClr>
                <a:schemeClr val="accent1"/>
              </a:buClr>
              <a:buSzPct val="75000"/>
              <a:buFont typeface="Courier New" panose="02070309020205020404" pitchFamily="49" charset="0"/>
              <a:buChar char="o"/>
              <a:defRPr sz="1600">
                <a:solidFill>
                  <a:schemeClr val="bg1"/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B8509D2E-6634-41E3-A6CB-5D66EB1CF3A6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289560" y="934821"/>
            <a:ext cx="11523120" cy="276999"/>
          </a:xfrm>
        </p:spPr>
        <p:txBody>
          <a:bodyPr wrap="square" lIns="0" tIns="0" rIns="0" bIns="0">
            <a:spAutoFit/>
          </a:bodyPr>
          <a:lstStyle>
            <a:lvl1pPr marL="0" indent="0">
              <a:lnSpc>
                <a:spcPct val="100000"/>
              </a:lnSpc>
              <a:buClr>
                <a:schemeClr val="accent1"/>
              </a:buClr>
              <a:buFontTx/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00000"/>
              </a:lnSpc>
              <a:buClr>
                <a:schemeClr val="accent1"/>
              </a:buClr>
              <a:buFontTx/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Clr>
                <a:schemeClr val="accent1"/>
              </a:buClr>
              <a:buSzPct val="75000"/>
              <a:buFontTx/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lnSpc>
                <a:spcPct val="100000"/>
              </a:lnSpc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 dirty="0"/>
              <a:t>Subtitle</a:t>
            </a: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4A59E172-2DE7-954C-8860-20FAB6D5B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965253" y="6676808"/>
            <a:ext cx="20758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E25CC604-E3A7-4F52-8848-933FA40E345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B0A1A8E-0B02-F443-B944-167EB8886AEE}"/>
              </a:ext>
            </a:extLst>
          </p:cNvPr>
          <p:cNvGrpSpPr/>
          <p:nvPr userDrawn="1"/>
        </p:nvGrpSpPr>
        <p:grpSpPr>
          <a:xfrm>
            <a:off x="11649316" y="6262166"/>
            <a:ext cx="542684" cy="524050"/>
            <a:chOff x="-22" y="-168754"/>
            <a:chExt cx="7280821" cy="7030794"/>
          </a:xfrm>
        </p:grpSpPr>
        <p:sp>
          <p:nvSpPr>
            <p:cNvPr id="28" name="Freeform: Shape 19">
              <a:extLst>
                <a:ext uri="{FF2B5EF4-FFF2-40B4-BE49-F238E27FC236}">
                  <a16:creationId xmlns:a16="http://schemas.microsoft.com/office/drawing/2014/main" id="{EFDC84E5-E553-904E-96D7-F91D6D5AE941}"/>
                </a:ext>
              </a:extLst>
            </p:cNvPr>
            <p:cNvSpPr/>
            <p:nvPr/>
          </p:nvSpPr>
          <p:spPr>
            <a:xfrm flipV="1">
              <a:off x="-22" y="4250335"/>
              <a:ext cx="2762533" cy="2611705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29" name="Freeform: Shape 20">
              <a:extLst>
                <a:ext uri="{FF2B5EF4-FFF2-40B4-BE49-F238E27FC236}">
                  <a16:creationId xmlns:a16="http://schemas.microsoft.com/office/drawing/2014/main" id="{40C441C9-ED14-7542-A89C-7718D03CF1F8}"/>
                </a:ext>
              </a:extLst>
            </p:cNvPr>
            <p:cNvSpPr/>
            <p:nvPr/>
          </p:nvSpPr>
          <p:spPr>
            <a:xfrm>
              <a:off x="1349937" y="-168754"/>
              <a:ext cx="5930862" cy="7030771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0" name="Freeform: Shape 14">
            <a:extLst>
              <a:ext uri="{FF2B5EF4-FFF2-40B4-BE49-F238E27FC236}">
                <a16:creationId xmlns:a16="http://schemas.microsoft.com/office/drawing/2014/main" id="{E7732737-5FBE-A64A-95EC-38A78FFE8939}"/>
              </a:ext>
            </a:extLst>
          </p:cNvPr>
          <p:cNvSpPr/>
          <p:nvPr userDrawn="1"/>
        </p:nvSpPr>
        <p:spPr>
          <a:xfrm flipH="1">
            <a:off x="-2" y="6802785"/>
            <a:ext cx="12192001" cy="55215"/>
          </a:xfrm>
          <a:custGeom>
            <a:avLst/>
            <a:gdLst>
              <a:gd name="connsiteX0" fmla="*/ 12049090 w 12049090"/>
              <a:gd name="connsiteY0" fmla="*/ 0 h 55215"/>
              <a:gd name="connsiteX1" fmla="*/ 0 w 12049090"/>
              <a:gd name="connsiteY1" fmla="*/ 0 h 55215"/>
              <a:gd name="connsiteX2" fmla="*/ 0 w 12049090"/>
              <a:gd name="connsiteY2" fmla="*/ 55215 h 55215"/>
              <a:gd name="connsiteX3" fmla="*/ 12049090 w 12049090"/>
              <a:gd name="connsiteY3" fmla="*/ 55215 h 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9090" h="55215">
                <a:moveTo>
                  <a:pt x="12049090" y="0"/>
                </a:moveTo>
                <a:lnTo>
                  <a:pt x="0" y="0"/>
                </a:lnTo>
                <a:lnTo>
                  <a:pt x="0" y="55215"/>
                </a:lnTo>
                <a:lnTo>
                  <a:pt x="12049090" y="55215"/>
                </a:lnTo>
                <a:close/>
              </a:path>
            </a:pathLst>
          </a:custGeom>
          <a:solidFill>
            <a:srgbClr val="2E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294E04F-7546-BE08-EA76-896FB7BB41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6027" y="254912"/>
            <a:ext cx="10391716" cy="430887"/>
          </a:xfrm>
          <a:prstGeom prst="rect">
            <a:avLst/>
          </a:prstGeom>
        </p:spPr>
        <p:txBody>
          <a:bodyPr lIns="0" tIns="0" rIns="0" bIns="0" anchor="t" anchorCtr="0">
            <a:spAutoFit/>
          </a:bodyPr>
          <a:lstStyle>
            <a:lvl1pPr>
              <a:lnSpc>
                <a:spcPct val="100000"/>
              </a:lnSpc>
              <a:defRPr sz="2800" b="0">
                <a:solidFill>
                  <a:schemeClr val="accent2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2477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ny Overvi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pic>
        <p:nvPicPr>
          <p:cNvPr id="2052" name="Picture 4">
            <a:extLst>
              <a:ext uri="{FF2B5EF4-FFF2-40B4-BE49-F238E27FC236}">
                <a16:creationId xmlns:a16="http://schemas.microsoft.com/office/drawing/2014/main" id="{8F32B35A-030F-54CA-C19D-D2528EF1CEB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126"/>
          <a:stretch>
            <a:fillRect/>
          </a:stretch>
        </p:blipFill>
        <p:spPr bwMode="auto">
          <a:xfrm>
            <a:off x="7060934" y="-7951"/>
            <a:ext cx="5131066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482213EA-532B-431A-F1F9-6713EE309E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EDED0FB-A713-9578-06F7-A3F6C5BD5980}"/>
              </a:ext>
            </a:extLst>
          </p:cNvPr>
          <p:cNvSpPr txBox="1">
            <a:spLocks/>
          </p:cNvSpPr>
          <p:nvPr userDrawn="1"/>
        </p:nvSpPr>
        <p:spPr>
          <a:xfrm>
            <a:off x="335063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9B99AC0-3EB8-1BCA-716E-F6FD3DE1A1BC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532DBDEB-4093-60D4-A0A6-4B768CBEB8FF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C94A3E49-A16A-BD2B-C00C-85B2920CA68F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378605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I-Powered Solu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0F9EF36B-6BC6-63D2-40CA-898FE204E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0E482B-7AC1-3BD8-C311-8607CDCB0C93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9537137-097B-74D8-D12F-1D10A96E7B56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52919" y="-40713"/>
            <a:ext cx="512934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2415A63-AC05-2D13-3683-FA8E26351B8E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3A70F0FC-7B8D-B30D-160D-02EE823B7EFB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7555FD67-69CA-0C11-C67D-411E6A9A4060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31466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re Ban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pic>
        <p:nvPicPr>
          <p:cNvPr id="4098" name="Picture 2">
            <a:extLst>
              <a:ext uri="{FF2B5EF4-FFF2-40B4-BE49-F238E27FC236}">
                <a16:creationId xmlns:a16="http://schemas.microsoft.com/office/drawing/2014/main" id="{B488D3EF-57E8-712E-9D49-EB6222FC2E14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51200" y="-6313"/>
            <a:ext cx="513106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5">
            <a:extLst>
              <a:ext uri="{FF2B5EF4-FFF2-40B4-BE49-F238E27FC236}">
                <a16:creationId xmlns:a16="http://schemas.microsoft.com/office/drawing/2014/main" id="{0F9EF36B-6BC6-63D2-40CA-898FE204E16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E50E482B-7AC1-3BD8-C311-8607CDCB0C93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30011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gTe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pic>
        <p:nvPicPr>
          <p:cNvPr id="6148" name="Picture 4">
            <a:extLst>
              <a:ext uri="{FF2B5EF4-FFF2-40B4-BE49-F238E27FC236}">
                <a16:creationId xmlns:a16="http://schemas.microsoft.com/office/drawing/2014/main" id="{4CE21D38-B26E-E639-9524-56B0E3D0C09C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8884" y="-5860"/>
            <a:ext cx="511338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9CEE5E76-5B7D-8E50-292E-2F2B03C5F259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FA7081C3-52AD-C168-41C7-ADFAC74DD118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21380211-C29B-F4AA-D412-5DB23FC060B9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3652917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mnichann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264CBEDB-07B3-526F-25CB-6B0048DD3012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8884" y="-5860"/>
            <a:ext cx="512311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E75A937E-834A-CD8B-DA18-2E5D3A0BFF1C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2F742DD9-171D-370E-3CA2-940163BEBEAD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9F1E22B8-FBB2-7851-9B84-F9409FE0FF93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2859038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mersive U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0FC1BC8-4710-9509-28BB-747C2D89011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48062" y="-40713"/>
            <a:ext cx="12192000" cy="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252527"/>
                </a:solidFill>
                <a:effectLst/>
                <a:latin typeface="PPMori"/>
              </a:rPr>
            </a:b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2686523-7F06-CD30-EB5D-5F8764A045F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86302" y="-2"/>
            <a:ext cx="5102352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C3CCD3A8-A930-C0CA-6A63-0E5E41B42F24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78504095-6DFE-F869-787C-CB3021E94B7D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70F019D2-CCD0-7FCF-3437-8760F0A5B769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25483081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gital Engg Ser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711AB885-B214-5B3F-EACA-37ADA9A455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5556" y="0"/>
            <a:ext cx="5097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4924542-F191-FEFC-149F-D46DAEC86B5C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AC4F0BDD-0FE8-2A6F-E61C-9F2DE133157E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5841E42C-2337-9840-75A0-805A769EC728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1226367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rganisation Stru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pic>
        <p:nvPicPr>
          <p:cNvPr id="11266" name="Picture 2">
            <a:extLst>
              <a:ext uri="{FF2B5EF4-FFF2-40B4-BE49-F238E27FC236}">
                <a16:creationId xmlns:a16="http://schemas.microsoft.com/office/drawing/2014/main" id="{1DEE3157-4539-5CBB-FD36-874C14EB858A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8884" y="-9408"/>
            <a:ext cx="512311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C4924542-F191-FEFC-149F-D46DAEC86B5C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AC4F0BDD-0FE8-2A6F-E61C-9F2DE133157E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5841E42C-2337-9840-75A0-805A769EC728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1238322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ncial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A5037F3A-968B-4E1A-B0EC-B58E4F145281}"/>
              </a:ext>
            </a:extLst>
          </p:cNvPr>
          <p:cNvGrpSpPr/>
          <p:nvPr userDrawn="1"/>
        </p:nvGrpSpPr>
        <p:grpSpPr>
          <a:xfrm>
            <a:off x="9732" y="-23854"/>
            <a:ext cx="7059153" cy="6841163"/>
            <a:chOff x="4511040" y="-555210"/>
            <a:chExt cx="7596712" cy="7413210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EDF544E7-11C0-4714-BE42-81CEFE2983AE}"/>
                </a:ext>
              </a:extLst>
            </p:cNvPr>
            <p:cNvSpPr/>
            <p:nvPr/>
          </p:nvSpPr>
          <p:spPr>
            <a:xfrm>
              <a:off x="5919569" y="-555210"/>
              <a:ext cx="6188183" cy="7413186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19855F65-35DB-4F13-80B2-14F03D64D031}"/>
                </a:ext>
              </a:extLst>
            </p:cNvPr>
            <p:cNvSpPr/>
            <p:nvPr/>
          </p:nvSpPr>
          <p:spPr>
            <a:xfrm flipV="1">
              <a:off x="4511040" y="4104240"/>
              <a:ext cx="2882390" cy="2753760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3" name="Title 5">
            <a:extLst>
              <a:ext uri="{FF2B5EF4-FFF2-40B4-BE49-F238E27FC236}">
                <a16:creationId xmlns:a16="http://schemas.microsoft.com/office/drawing/2014/main" id="{E9EF987B-4877-F81D-6E43-E4F7594AAF2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1210" y="1980609"/>
            <a:ext cx="4339168" cy="677108"/>
          </a:xfrm>
        </p:spPr>
        <p:txBody>
          <a:bodyPr anchor="t"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6D1AE301-3A25-4F40-2343-0B09FB127996}"/>
              </a:ext>
            </a:extLst>
          </p:cNvPr>
          <p:cNvSpPr txBox="1">
            <a:spLocks/>
          </p:cNvSpPr>
          <p:nvPr userDrawn="1"/>
        </p:nvSpPr>
        <p:spPr>
          <a:xfrm>
            <a:off x="311210" y="790358"/>
            <a:ext cx="562655" cy="754822"/>
          </a:xfrm>
          <a:prstGeom prst="rect">
            <a:avLst/>
          </a:prstGeom>
        </p:spPr>
        <p:txBody>
          <a:bodyPr anchor="t"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6000" dirty="0">
              <a:solidFill>
                <a:schemeClr val="accent1"/>
              </a:solidFill>
            </a:endParaRPr>
          </a:p>
        </p:txBody>
      </p:sp>
      <p:pic>
        <p:nvPicPr>
          <p:cNvPr id="12290" name="Picture 2">
            <a:extLst>
              <a:ext uri="{FF2B5EF4-FFF2-40B4-BE49-F238E27FC236}">
                <a16:creationId xmlns:a16="http://schemas.microsoft.com/office/drawing/2014/main" id="{C0ABC658-03C6-D417-48E5-A78F251B861B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068884" y="0"/>
            <a:ext cx="512338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550DF20C-71DB-C963-9E40-75BEA860242C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5" name="Right Triangle 4">
              <a:extLst>
                <a:ext uri="{FF2B5EF4-FFF2-40B4-BE49-F238E27FC236}">
                  <a16:creationId xmlns:a16="http://schemas.microsoft.com/office/drawing/2014/main" id="{6EA7F33E-7521-FAA8-E47C-CE95F2073AD6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494AF879-DA02-60E6-DBF8-E7B3CB1F2422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0011712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9066E2FE-00DA-18D7-1A26-FAED21C90E5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4537" y="0"/>
            <a:ext cx="50974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25CC5E-4470-7149-A1E8-9BEC658D969B}"/>
              </a:ext>
            </a:extLst>
          </p:cNvPr>
          <p:cNvSpPr txBox="1"/>
          <p:nvPr userDrawn="1"/>
        </p:nvSpPr>
        <p:spPr>
          <a:xfrm>
            <a:off x="1245532" y="625831"/>
            <a:ext cx="4466430" cy="830997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spAutoFit/>
          </a:bodyPr>
          <a:lstStyle/>
          <a:p>
            <a:pPr algn="ctr"/>
            <a:r>
              <a:rPr lang="en-US" sz="5400" b="0" dirty="0">
                <a:solidFill>
                  <a:schemeClr val="accent2"/>
                </a:solidFill>
                <a:latin typeface="+mj-lt"/>
              </a:rPr>
              <a:t>Thank You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AD88425-4064-8F45-AE42-54744CA4876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2710234" y="3860100"/>
            <a:ext cx="1537026" cy="1537023"/>
            <a:chOff x="5776265" y="6046416"/>
            <a:chExt cx="1251505" cy="1251502"/>
          </a:xfrm>
        </p:grpSpPr>
        <p:sp>
          <p:nvSpPr>
            <p:cNvPr id="16" name="Rectangle: Rounded Corners 5">
              <a:extLst>
                <a:ext uri="{FF2B5EF4-FFF2-40B4-BE49-F238E27FC236}">
                  <a16:creationId xmlns:a16="http://schemas.microsoft.com/office/drawing/2014/main" id="{494DCCAB-D272-0545-8C6B-A2DB24DA4D7C}"/>
                </a:ext>
              </a:extLst>
            </p:cNvPr>
            <p:cNvSpPr/>
            <p:nvPr/>
          </p:nvSpPr>
          <p:spPr>
            <a:xfrm>
              <a:off x="5776265" y="6046416"/>
              <a:ext cx="1251505" cy="1251502"/>
            </a:xfrm>
            <a:prstGeom prst="roundRect">
              <a:avLst>
                <a:gd name="adj" fmla="val 1488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  <p:pic>
          <p:nvPicPr>
            <p:cNvPr id="17" name="Picture 16" descr="A screenshot of a computer screen&#10;&#10;Description automatically generated with low confidence">
              <a:extLst>
                <a:ext uri="{FF2B5EF4-FFF2-40B4-BE49-F238E27FC236}">
                  <a16:creationId xmlns:a16="http://schemas.microsoft.com/office/drawing/2014/main" id="{8A5F9A90-80B7-6B43-B05D-4AEB3F828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776265" y="6046416"/>
              <a:ext cx="1251505" cy="1251502"/>
            </a:xfrm>
            <a:prstGeom prst="rect">
              <a:avLst/>
            </a:prstGeom>
          </p:spPr>
        </p:pic>
      </p:grpSp>
      <p:sp>
        <p:nvSpPr>
          <p:cNvPr id="21" name="Text Box 10">
            <a:extLst>
              <a:ext uri="{FF2B5EF4-FFF2-40B4-BE49-F238E27FC236}">
                <a16:creationId xmlns:a16="http://schemas.microsoft.com/office/drawing/2014/main" id="{5C7A55AB-161E-4E4E-BA9F-1D151E318BC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55925" y="5898945"/>
            <a:ext cx="6845644" cy="7540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prstShdw prst="shdw13" dist="53882" dir="13500000">
              <a:schemeClr val="accent1">
                <a:gamma/>
                <a:shade val="60000"/>
                <a:invGamma/>
                <a:alpha val="50000"/>
              </a:schemeClr>
            </a:prstShdw>
          </a:effectLst>
        </p:spPr>
        <p:txBody>
          <a:bodyPr wrap="square">
            <a:spAutoFit/>
          </a:bodyPr>
          <a:lstStyle>
            <a:defPPr>
              <a:defRPr lang="en-US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286000" algn="l" defTabSz="914400" rtl="0" eaLnBrk="1" latinLnBrk="0" hangingPunct="1"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6pPr>
            <a:lvl7pPr marL="2743200" algn="l" defTabSz="914400" rtl="0" eaLnBrk="1" latinLnBrk="0" hangingPunct="1"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7pPr>
            <a:lvl8pPr marL="3200400" algn="l" defTabSz="914400" rtl="0" eaLnBrk="1" latinLnBrk="0" hangingPunct="1"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8pPr>
            <a:lvl9pPr marL="3657600" algn="l" defTabSz="914400" rtl="0" eaLnBrk="1" latinLnBrk="0" hangingPunct="1">
              <a:defRPr b="1" kern="1200">
                <a:solidFill>
                  <a:schemeClr val="accent2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50000"/>
              </a:spcBef>
              <a:buClr>
                <a:srgbClr val="CC3300"/>
              </a:buClr>
              <a:buSzPct val="150000"/>
              <a:defRPr/>
            </a:pPr>
            <a:r>
              <a:rPr lang="en-GB" sz="1000" b="0" dirty="0">
                <a:latin typeface="+mj-lt"/>
                <a:cs typeface="+mn-cs"/>
              </a:rPr>
              <a:t>Global Offices: </a:t>
            </a:r>
          </a:p>
          <a:p>
            <a:pPr algn="ctr">
              <a:spcBef>
                <a:spcPct val="50000"/>
              </a:spcBef>
              <a:buClr>
                <a:srgbClr val="CC3300"/>
              </a:buClr>
              <a:buSzPct val="150000"/>
              <a:defRPr/>
            </a:pPr>
            <a:r>
              <a:rPr lang="en-GB" sz="1000" b="0" dirty="0">
                <a:latin typeface="+mj-lt"/>
                <a:cs typeface="+mn-cs"/>
              </a:rPr>
              <a:t>London </a:t>
            </a:r>
            <a:r>
              <a:rPr lang="en-GB" sz="1200" b="0" dirty="0">
                <a:latin typeface="+mj-lt"/>
                <a:cs typeface="+mn-cs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Jersey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Mumbai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Pune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Chennai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Dubai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Bahrain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baseline="0" dirty="0">
                <a:latin typeface="+mj-lt"/>
                <a:cs typeface="+mn-cs"/>
              </a:rPr>
              <a:t> Singapore</a:t>
            </a:r>
            <a:r>
              <a:rPr lang="en-GB" sz="1000" b="0" kern="1200" dirty="0"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kern="1200" baseline="0" dirty="0">
                <a:latin typeface="+mj-lt"/>
                <a:ea typeface="+mn-ea"/>
                <a:cs typeface="+mn-cs"/>
              </a:rPr>
              <a:t> Manila</a:t>
            </a:r>
            <a:r>
              <a:rPr lang="en-GB" sz="1000" b="0" kern="1200" baseline="0" dirty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. Toronto</a:t>
            </a:r>
            <a:r>
              <a:rPr lang="en-GB" sz="1000" b="0" kern="1200" dirty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</a:t>
            </a:r>
            <a:r>
              <a:rPr lang="en-GB" sz="1200" b="0" kern="1200" dirty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.</a:t>
            </a:r>
            <a:r>
              <a:rPr lang="en-GB" sz="1000" b="0" kern="1200" baseline="0" dirty="0">
                <a:solidFill>
                  <a:schemeClr val="accent2"/>
                </a:solidFill>
                <a:latin typeface="+mj-lt"/>
                <a:ea typeface="+mn-ea"/>
                <a:cs typeface="Arial" panose="020B0604020202020204" pitchFamily="34" charset="0"/>
              </a:rPr>
              <a:t> New York</a:t>
            </a:r>
            <a:endParaRPr lang="en-GB" sz="1000" b="0" baseline="0" dirty="0">
              <a:latin typeface="+mj-lt"/>
              <a:cs typeface="+mn-cs"/>
            </a:endParaRPr>
          </a:p>
          <a:p>
            <a:pPr algn="ctr">
              <a:spcBef>
                <a:spcPct val="50000"/>
              </a:spcBef>
              <a:buClr>
                <a:srgbClr val="CC3300"/>
              </a:buClr>
              <a:buSzPct val="150000"/>
              <a:defRPr/>
            </a:pPr>
            <a:r>
              <a:rPr lang="en-GB" sz="1000" b="0" baseline="0" dirty="0">
                <a:latin typeface="+mj-lt"/>
                <a:cs typeface="+mn-cs"/>
              </a:rPr>
              <a:t>Business Partner Network in over 35 countries </a:t>
            </a:r>
            <a:endParaRPr lang="en-GB" sz="1000" b="0" dirty="0">
              <a:latin typeface="+mj-lt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BEAEB2C-D983-4C66-56AA-35C91158A7BA}"/>
              </a:ext>
            </a:extLst>
          </p:cNvPr>
          <p:cNvSpPr txBox="1"/>
          <p:nvPr userDrawn="1"/>
        </p:nvSpPr>
        <p:spPr>
          <a:xfrm>
            <a:off x="7038611" y="363417"/>
            <a:ext cx="509746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b="1" dirty="0">
                <a:solidFill>
                  <a:schemeClr val="bg1"/>
                </a:solidFill>
                <a:latin typeface="+mj-lt"/>
              </a:rPr>
              <a:t>We are excited to partner with you on your digital transformation journey.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51D8F6CD-7113-65DF-E7C6-303268033287}"/>
              </a:ext>
            </a:extLst>
          </p:cNvPr>
          <p:cNvGrpSpPr/>
          <p:nvPr userDrawn="1"/>
        </p:nvGrpSpPr>
        <p:grpSpPr>
          <a:xfrm>
            <a:off x="8579224" y="-1"/>
            <a:ext cx="3612778" cy="6858001"/>
            <a:chOff x="8579224" y="-1"/>
            <a:chExt cx="3612778" cy="6858001"/>
          </a:xfrm>
        </p:grpSpPr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C4E2126A-D345-FF68-3200-814671C02986}"/>
                </a:ext>
              </a:extLst>
            </p:cNvPr>
            <p:cNvSpPr/>
            <p:nvPr/>
          </p:nvSpPr>
          <p:spPr>
            <a:xfrm rot="10800000">
              <a:off x="8579224" y="-1"/>
              <a:ext cx="3612776" cy="5526741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BCA936C4-FDC2-026D-635F-153B8878A280}"/>
                </a:ext>
              </a:extLst>
            </p:cNvPr>
            <p:cNvSpPr/>
            <p:nvPr/>
          </p:nvSpPr>
          <p:spPr>
            <a:xfrm rot="16200000">
              <a:off x="8617326" y="3283323"/>
              <a:ext cx="4222376" cy="2926977"/>
            </a:xfrm>
            <a:prstGeom prst="rtTriangle">
              <a:avLst/>
            </a:pr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</p:spTree>
    <p:extLst>
      <p:ext uri="{BB962C8B-B14F-4D97-AF65-F5344CB8AC3E}">
        <p14:creationId xmlns:p14="http://schemas.microsoft.com/office/powerpoint/2010/main" val="39242722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Object 7"/>
          <p:cNvPicPr>
            <a:picLocks noChangeAspect="1"/>
          </p:cNvPicPr>
          <p:nvPr/>
        </p:nvPicPr>
        <p:blipFill>
          <a:blip r:embed="rId17"/>
          <a:srcRect/>
          <a:stretch>
            <a:fillRect/>
          </a:stretch>
        </p:blipFill>
        <p:spPr bwMode="auto">
          <a:xfrm>
            <a:off x="1588" y="1588"/>
            <a:ext cx="1588" cy="1588"/>
          </a:xfrm>
          <a:prstGeom prst="rect">
            <a:avLst/>
          </a:prstGeom>
          <a:noFill/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9E48A0-8669-4C6A-9D99-BE5BF71BD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9228F4-3BE9-4CEA-AD11-A63AB6342E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049F119-B1D8-40D8-8850-0C7B56C65EE6}"/>
              </a:ext>
            </a:extLst>
          </p:cNvPr>
          <p:cNvSpPr txBox="1">
            <a:spLocks/>
          </p:cNvSpPr>
          <p:nvPr userDrawn="1"/>
        </p:nvSpPr>
        <p:spPr>
          <a:xfrm>
            <a:off x="110402" y="6671291"/>
            <a:ext cx="2454383" cy="1384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9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900" dirty="0"/>
              <a:t>KiyaAI © 2025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76AEB765-1291-A547-B08F-852CB335551E}"/>
              </a:ext>
            </a:extLst>
          </p:cNvPr>
          <p:cNvSpPr txBox="1">
            <a:spLocks/>
          </p:cNvSpPr>
          <p:nvPr userDrawn="1"/>
        </p:nvSpPr>
        <p:spPr>
          <a:xfrm>
            <a:off x="11965253" y="6676808"/>
            <a:ext cx="207580" cy="1231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lang="en-US"/>
            </a:defPPr>
            <a:lvl1pPr marL="0" algn="ctr" defTabSz="914400" rtl="0" eaLnBrk="1" latinLnBrk="0" hangingPunct="1">
              <a:defRPr sz="8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25CC604-E3A7-4F52-8848-933FA40E3455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679EC4-EC94-BA46-8728-F4C18AD6E47A}"/>
              </a:ext>
            </a:extLst>
          </p:cNvPr>
          <p:cNvGrpSpPr/>
          <p:nvPr userDrawn="1"/>
        </p:nvGrpSpPr>
        <p:grpSpPr>
          <a:xfrm>
            <a:off x="11649316" y="6262166"/>
            <a:ext cx="542684" cy="524050"/>
            <a:chOff x="-22" y="-168754"/>
            <a:chExt cx="7280821" cy="7030794"/>
          </a:xfrm>
        </p:grpSpPr>
        <p:sp>
          <p:nvSpPr>
            <p:cNvPr id="13" name="Freeform: Shape 19">
              <a:extLst>
                <a:ext uri="{FF2B5EF4-FFF2-40B4-BE49-F238E27FC236}">
                  <a16:creationId xmlns:a16="http://schemas.microsoft.com/office/drawing/2014/main" id="{5311EDE3-FA01-F041-86D1-4720AACB7075}"/>
                </a:ext>
              </a:extLst>
            </p:cNvPr>
            <p:cNvSpPr/>
            <p:nvPr/>
          </p:nvSpPr>
          <p:spPr>
            <a:xfrm flipV="1">
              <a:off x="-22" y="4250335"/>
              <a:ext cx="2762533" cy="2611705"/>
            </a:xfrm>
            <a:custGeom>
              <a:avLst/>
              <a:gdLst>
                <a:gd name="connsiteX0" fmla="*/ 570400 w 2762533"/>
                <a:gd name="connsiteY0" fmla="*/ 2611443 h 2611705"/>
                <a:gd name="connsiteX1" fmla="*/ 128477 w 2762533"/>
                <a:gd name="connsiteY1" fmla="*/ 2611443 h 2611705"/>
                <a:gd name="connsiteX2" fmla="*/ 14169 w 2762533"/>
                <a:gd name="connsiteY2" fmla="*/ 2422610 h 2611705"/>
                <a:gd name="connsiteX3" fmla="*/ 1349231 w 2762533"/>
                <a:gd name="connsiteY3" fmla="*/ -263 h 2611705"/>
                <a:gd name="connsiteX4" fmla="*/ 2761827 w 2762533"/>
                <a:gd name="connsiteY4" fmla="*/ -263 h 2611705"/>
                <a:gd name="connsiteX5" fmla="*/ 1875852 w 2762533"/>
                <a:gd name="connsiteY5" fmla="*/ 1821213 h 2611705"/>
                <a:gd name="connsiteX6" fmla="*/ 570400 w 2762533"/>
                <a:gd name="connsiteY6" fmla="*/ 2611443 h 26117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762533" h="2611705">
                  <a:moveTo>
                    <a:pt x="570400" y="2611443"/>
                  </a:moveTo>
                  <a:lnTo>
                    <a:pt x="128477" y="2611443"/>
                  </a:lnTo>
                  <a:cubicBezTo>
                    <a:pt x="31529" y="2611443"/>
                    <a:pt x="-30773" y="2508508"/>
                    <a:pt x="14169" y="2422610"/>
                  </a:cubicBezTo>
                  <a:lnTo>
                    <a:pt x="1349231" y="-263"/>
                  </a:lnTo>
                  <a:lnTo>
                    <a:pt x="2761827" y="-263"/>
                  </a:lnTo>
                  <a:lnTo>
                    <a:pt x="1875852" y="1821213"/>
                  </a:lnTo>
                  <a:cubicBezTo>
                    <a:pt x="1621635" y="2306999"/>
                    <a:pt x="1118688" y="2611443"/>
                    <a:pt x="570400" y="2611443"/>
                  </a:cubicBezTo>
                </a:path>
              </a:pathLst>
            </a:custGeom>
            <a:gradFill flip="none" rotWithShape="1">
              <a:gsLst>
                <a:gs pos="0">
                  <a:srgbClr val="65AC3D"/>
                </a:gs>
                <a:gs pos="100000">
                  <a:srgbClr val="366D22"/>
                </a:gs>
              </a:gsLst>
              <a:lin ang="0" scaled="1"/>
              <a:tileRect/>
            </a:gradFill>
            <a:ln w="2504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  <p:sp>
          <p:nvSpPr>
            <p:cNvPr id="14" name="Freeform: Shape 20">
              <a:extLst>
                <a:ext uri="{FF2B5EF4-FFF2-40B4-BE49-F238E27FC236}">
                  <a16:creationId xmlns:a16="http://schemas.microsoft.com/office/drawing/2014/main" id="{D1DFBB71-904C-834F-B38A-BE59B2998647}"/>
                </a:ext>
              </a:extLst>
            </p:cNvPr>
            <p:cNvSpPr/>
            <p:nvPr/>
          </p:nvSpPr>
          <p:spPr>
            <a:xfrm>
              <a:off x="1349937" y="-168754"/>
              <a:ext cx="5930862" cy="7030771"/>
            </a:xfrm>
            <a:custGeom>
              <a:avLst/>
              <a:gdLst>
                <a:gd name="connsiteX0" fmla="*/ 1412741 w 5930862"/>
                <a:gd name="connsiteY0" fmla="*/ 7030850 h 7030771"/>
                <a:gd name="connsiteX1" fmla="*/ 146 w 5930862"/>
                <a:gd name="connsiteY1" fmla="*/ 7030850 h 7030771"/>
                <a:gd name="connsiteX2" fmla="*/ 5931009 w 5930862"/>
                <a:gd name="connsiteY2" fmla="*/ 78 h 70307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930862" h="7030771">
                  <a:moveTo>
                    <a:pt x="1412741" y="7030850"/>
                  </a:moveTo>
                  <a:lnTo>
                    <a:pt x="146" y="7030850"/>
                  </a:lnTo>
                  <a:lnTo>
                    <a:pt x="5931009" y="78"/>
                  </a:lnTo>
                  <a:close/>
                </a:path>
              </a:pathLst>
            </a:custGeom>
            <a:solidFill>
              <a:srgbClr val="72BE44"/>
            </a:solidFill>
            <a:ln w="25039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IN" dirty="0"/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ED22C99-CDD4-3749-B3B5-EDDBE72262FF}"/>
              </a:ext>
            </a:extLst>
          </p:cNvPr>
          <p:cNvSpPr/>
          <p:nvPr userDrawn="1"/>
        </p:nvSpPr>
        <p:spPr>
          <a:xfrm flipH="1">
            <a:off x="-2" y="6802785"/>
            <a:ext cx="12192001" cy="55215"/>
          </a:xfrm>
          <a:custGeom>
            <a:avLst/>
            <a:gdLst>
              <a:gd name="connsiteX0" fmla="*/ 12049090 w 12049090"/>
              <a:gd name="connsiteY0" fmla="*/ 0 h 55215"/>
              <a:gd name="connsiteX1" fmla="*/ 0 w 12049090"/>
              <a:gd name="connsiteY1" fmla="*/ 0 h 55215"/>
              <a:gd name="connsiteX2" fmla="*/ 0 w 12049090"/>
              <a:gd name="connsiteY2" fmla="*/ 55215 h 55215"/>
              <a:gd name="connsiteX3" fmla="*/ 12049090 w 12049090"/>
              <a:gd name="connsiteY3" fmla="*/ 55215 h 552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049090" h="55215">
                <a:moveTo>
                  <a:pt x="12049090" y="0"/>
                </a:moveTo>
                <a:lnTo>
                  <a:pt x="0" y="0"/>
                </a:lnTo>
                <a:lnTo>
                  <a:pt x="0" y="55215"/>
                </a:lnTo>
                <a:lnTo>
                  <a:pt x="12049090" y="55215"/>
                </a:lnTo>
                <a:close/>
              </a:path>
            </a:pathLst>
          </a:custGeom>
          <a:solidFill>
            <a:srgbClr val="2E9BD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2A0E4CE8-219C-6777-CE63-58650A8E88DF}"/>
              </a:ext>
            </a:extLst>
          </p:cNvPr>
          <p:cNvSpPr/>
          <p:nvPr userDrawn="1"/>
        </p:nvSpPr>
        <p:spPr>
          <a:xfrm>
            <a:off x="0" y="6805270"/>
            <a:ext cx="4284000" cy="54000"/>
          </a:xfrm>
          <a:custGeom>
            <a:avLst/>
            <a:gdLst/>
            <a:ahLst/>
            <a:cxnLst/>
            <a:rect l="0" t="0" r="r" b="b"/>
            <a:pathLst>
              <a:path w="10400" h="187">
                <a:moveTo>
                  <a:pt x="0" y="0"/>
                </a:moveTo>
                <a:lnTo>
                  <a:pt x="10400" y="0"/>
                </a:lnTo>
                <a:lnTo>
                  <a:pt x="10400" y="187"/>
                </a:lnTo>
                <a:lnTo>
                  <a:pt x="0" y="187"/>
                </a:lnTo>
                <a:lnTo>
                  <a:pt x="0" y="0"/>
                </a:lnTo>
                <a:close/>
              </a:path>
            </a:pathLst>
          </a:custGeom>
          <a:solidFill>
            <a:schemeClr val="accent2"/>
          </a:solidFill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US" sz="2734" dirty="0">
              <a:solidFill>
                <a:srgbClr val="FFFFFF"/>
              </a:solidFill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998715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7" r:id="rId2"/>
    <p:sldLayoutId id="2147483743" r:id="rId3"/>
    <p:sldLayoutId id="2147483708" r:id="rId4"/>
    <p:sldLayoutId id="2147483709" r:id="rId5"/>
    <p:sldLayoutId id="2147483735" r:id="rId6"/>
    <p:sldLayoutId id="2147483736" r:id="rId7"/>
    <p:sldLayoutId id="2147483742" r:id="rId8"/>
    <p:sldLayoutId id="2147483737" r:id="rId9"/>
    <p:sldLayoutId id="2147483738" r:id="rId10"/>
    <p:sldLayoutId id="2147483739" r:id="rId11"/>
    <p:sldLayoutId id="2147483740" r:id="rId12"/>
    <p:sldLayoutId id="2147483746" r:id="rId13"/>
    <p:sldLayoutId id="2147483741" r:id="rId14"/>
    <p:sldLayoutId id="2147483713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3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0F371D70-8A29-1EF9-E77A-8752651053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62591" y="1873672"/>
            <a:ext cx="5300230" cy="1661993"/>
          </a:xfrm>
        </p:spPr>
        <p:txBody>
          <a:bodyPr/>
          <a:lstStyle/>
          <a:p>
            <a:r>
              <a:rPr lang="en-US" sz="5400" dirty="0"/>
              <a:t>Data Engineering Presentation</a:t>
            </a:r>
            <a:endParaRPr lang="en-IN" sz="5400" dirty="0"/>
          </a:p>
        </p:txBody>
      </p:sp>
      <p:sp>
        <p:nvSpPr>
          <p:cNvPr id="3" name="Subtitle 1">
            <a:extLst>
              <a:ext uri="{FF2B5EF4-FFF2-40B4-BE49-F238E27FC236}">
                <a16:creationId xmlns:a16="http://schemas.microsoft.com/office/drawing/2014/main" id="{7A41BF8D-54A2-2F5A-94C6-843BEE964A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75344" y="4118385"/>
            <a:ext cx="5116006" cy="307777"/>
          </a:xfrm>
        </p:spPr>
        <p:txBody>
          <a:bodyPr/>
          <a:lstStyle/>
          <a:p>
            <a:r>
              <a:rPr lang="en-US" dirty="0"/>
              <a:t>By Nitin</a:t>
            </a:r>
            <a:endParaRPr lang="en-IN" dirty="0"/>
          </a:p>
        </p:txBody>
      </p:sp>
      <p:pic>
        <p:nvPicPr>
          <p:cNvPr id="13" name="Picture 2">
            <a:extLst>
              <a:ext uri="{FF2B5EF4-FFF2-40B4-BE49-F238E27FC236}">
                <a16:creationId xmlns:a16="http://schemas.microsoft.com/office/drawing/2014/main" id="{C3AAEB58-955E-3E79-ED2A-409492FA76E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34212880"/>
      </p:ext>
    </p:extLst>
  </p:cSld>
  <p:clrMapOvr>
    <a:masterClrMapping/>
  </p:clrMapOvr>
  <p:transition spd="med">
    <p:pull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393B6E-EC74-40F8-EBCA-B35F0E4BE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27C5E-7901-C46E-8BA3-012299A4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27" y="254912"/>
            <a:ext cx="10391716" cy="430887"/>
          </a:xfrm>
        </p:spPr>
        <p:txBody>
          <a:bodyPr/>
          <a:lstStyle/>
          <a:p>
            <a:r>
              <a:rPr lang="en-IN" dirty="0"/>
              <a:t>Introduction About Me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29601C-5D6A-E38E-B24B-E9307A57B2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583BAF3-746F-5079-68F9-50707AE1C6BD}"/>
              </a:ext>
            </a:extLst>
          </p:cNvPr>
          <p:cNvSpPr txBox="1"/>
          <p:nvPr/>
        </p:nvSpPr>
        <p:spPr>
          <a:xfrm>
            <a:off x="1320716" y="1231660"/>
            <a:ext cx="8047571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solidFill>
                  <a:schemeClr val="bg1"/>
                </a:solidFill>
                <a:latin typeface="Aptos" panose="020B0004020202020204" pitchFamily="34" charset="0"/>
              </a:defRPr>
            </a:lvl1pPr>
          </a:lstStyle>
          <a:p>
            <a:r>
              <a:rPr lang="en-IN" dirty="0"/>
              <a:t>I am a Data Analytics professional with over 18+ years of experience across Data Analytics, Business Intelligence, and modern data platforms. I have led multiple BI modernization initiatives, including the migration of 500+ SAP BusinessObjects reports to Power BI and driving BI strategy implementations. I have also delivered solutions using Microsoft Fabric, with a focus on Medallion architecture. My expertise spans end-to-end BI development, including data ingestion, semantic modelling, advanced analytics, and performance optimization. I have managed full project lifecycles from requirements gathering  and POCs to production delivery and automation. I am passionate about building scalable data solutions that enable informed decision-making and deliver business value.</a:t>
            </a:r>
          </a:p>
        </p:txBody>
      </p:sp>
    </p:spTree>
    <p:extLst>
      <p:ext uri="{BB962C8B-B14F-4D97-AF65-F5344CB8AC3E}">
        <p14:creationId xmlns:p14="http://schemas.microsoft.com/office/powerpoint/2010/main" val="2673975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ECEFBA-FC39-263C-72C7-19F6BA7AC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about 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76DDB6-04D9-BFE4-2224-8AD55C5655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227C9EA-C91D-19CA-4FA5-F081EAA2E601}"/>
              </a:ext>
            </a:extLst>
          </p:cNvPr>
          <p:cNvSpPr/>
          <p:nvPr/>
        </p:nvSpPr>
        <p:spPr>
          <a:xfrm>
            <a:off x="695074" y="1817888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2.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00D2B27-46EC-FA12-AE5E-F4DAC0DCD5BE}"/>
              </a:ext>
            </a:extLst>
          </p:cNvPr>
          <p:cNvSpPr txBox="1"/>
          <p:nvPr/>
        </p:nvSpPr>
        <p:spPr>
          <a:xfrm>
            <a:off x="1320716" y="1945531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Access Pre-requisites from Ogier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E57F03E-1FC8-9A1F-DBA3-C77BE2CA0A1F}"/>
              </a:ext>
            </a:extLst>
          </p:cNvPr>
          <p:cNvSpPr/>
          <p:nvPr/>
        </p:nvSpPr>
        <p:spPr>
          <a:xfrm>
            <a:off x="671012" y="2563843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3.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2E66707-A460-36AA-A3FE-8E4B3DC0B5AE}"/>
              </a:ext>
            </a:extLst>
          </p:cNvPr>
          <p:cNvSpPr txBox="1"/>
          <p:nvPr/>
        </p:nvSpPr>
        <p:spPr>
          <a:xfrm>
            <a:off x="1312696" y="2691489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Project Assumptions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E1BFF901-6FBD-6A17-B51D-129178635BC1}"/>
              </a:ext>
            </a:extLst>
          </p:cNvPr>
          <p:cNvCxnSpPr>
            <a:cxnSpLocks/>
          </p:cNvCxnSpPr>
          <p:nvPr/>
        </p:nvCxnSpPr>
        <p:spPr>
          <a:xfrm>
            <a:off x="1320716" y="1647812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83ACA56-FF31-8AFE-5EA6-4AAA10F00ED0}"/>
              </a:ext>
            </a:extLst>
          </p:cNvPr>
          <p:cNvCxnSpPr>
            <a:cxnSpLocks/>
          </p:cNvCxnSpPr>
          <p:nvPr/>
        </p:nvCxnSpPr>
        <p:spPr>
          <a:xfrm>
            <a:off x="1320716" y="2447026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8C578780-ED0A-712C-CE89-8CAE8CB6B2BD}"/>
              </a:ext>
            </a:extLst>
          </p:cNvPr>
          <p:cNvCxnSpPr>
            <a:cxnSpLocks/>
          </p:cNvCxnSpPr>
          <p:nvPr/>
        </p:nvCxnSpPr>
        <p:spPr>
          <a:xfrm>
            <a:off x="1320716" y="3173446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3CD11FD7-04E3-35C7-384A-B3CA72205BAC}"/>
              </a:ext>
            </a:extLst>
          </p:cNvPr>
          <p:cNvSpPr/>
          <p:nvPr/>
        </p:nvSpPr>
        <p:spPr>
          <a:xfrm>
            <a:off x="679034" y="3325846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4.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16354C-13D6-8939-C6BE-A2FDAD708E73}"/>
              </a:ext>
            </a:extLst>
          </p:cNvPr>
          <p:cNvSpPr txBox="1"/>
          <p:nvPr/>
        </p:nvSpPr>
        <p:spPr>
          <a:xfrm>
            <a:off x="1304676" y="3453489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Project Governance: Project Management &amp; Execution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325740-2447-CA8E-2528-1A716A989B68}"/>
              </a:ext>
            </a:extLst>
          </p:cNvPr>
          <p:cNvCxnSpPr>
            <a:cxnSpLocks/>
          </p:cNvCxnSpPr>
          <p:nvPr/>
        </p:nvCxnSpPr>
        <p:spPr>
          <a:xfrm>
            <a:off x="1312696" y="3935446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689867DF-9B72-DBF8-AB6A-A95375039D66}"/>
              </a:ext>
            </a:extLst>
          </p:cNvPr>
          <p:cNvSpPr/>
          <p:nvPr/>
        </p:nvSpPr>
        <p:spPr>
          <a:xfrm>
            <a:off x="711118" y="4095865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5.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C5B51F3-201F-ADF0-9355-401F3B8362D4}"/>
              </a:ext>
            </a:extLst>
          </p:cNvPr>
          <p:cNvSpPr txBox="1"/>
          <p:nvPr/>
        </p:nvSpPr>
        <p:spPr>
          <a:xfrm>
            <a:off x="1336760" y="4223508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Project Governance: Escalation Matrix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F04C921-C4DF-64DC-D996-48B7E439984B}"/>
              </a:ext>
            </a:extLst>
          </p:cNvPr>
          <p:cNvCxnSpPr>
            <a:cxnSpLocks/>
          </p:cNvCxnSpPr>
          <p:nvPr/>
        </p:nvCxnSpPr>
        <p:spPr>
          <a:xfrm>
            <a:off x="1344780" y="4705465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8DDA946E-9235-D1DD-A4D1-EAB41B21440E}"/>
              </a:ext>
            </a:extLst>
          </p:cNvPr>
          <p:cNvSpPr/>
          <p:nvPr/>
        </p:nvSpPr>
        <p:spPr>
          <a:xfrm>
            <a:off x="695076" y="4879595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6.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1980CD-DFF5-5EC0-558F-A7E561CDBF37}"/>
              </a:ext>
            </a:extLst>
          </p:cNvPr>
          <p:cNvSpPr txBox="1"/>
          <p:nvPr/>
        </p:nvSpPr>
        <p:spPr>
          <a:xfrm>
            <a:off x="1320718" y="5007238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Project Timelines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E5FD60E-3859-3864-52F4-5F0A411F313B}"/>
              </a:ext>
            </a:extLst>
          </p:cNvPr>
          <p:cNvCxnSpPr>
            <a:cxnSpLocks/>
          </p:cNvCxnSpPr>
          <p:nvPr/>
        </p:nvCxnSpPr>
        <p:spPr>
          <a:xfrm>
            <a:off x="1328738" y="5489195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1239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B7310-3C29-CD53-3439-BBBDECED6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18BBA-6BA2-83AB-F222-F63B69C28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Proposal Contents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283DBC-9D50-A133-E17A-DA2BC631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D05F031D-C3C1-E81E-57A6-591B95B157BF}"/>
              </a:ext>
            </a:extLst>
          </p:cNvPr>
          <p:cNvSpPr/>
          <p:nvPr/>
        </p:nvSpPr>
        <p:spPr>
          <a:xfrm>
            <a:off x="695074" y="1104017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1.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438D3-F109-390F-4286-47F945F4E72D}"/>
              </a:ext>
            </a:extLst>
          </p:cNvPr>
          <p:cNvSpPr txBox="1"/>
          <p:nvPr/>
        </p:nvSpPr>
        <p:spPr>
          <a:xfrm>
            <a:off x="1320716" y="1231660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Data Engineering/Architecture – Requirement and Scope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A2C8567-C20D-D304-059C-F5A7AF942C8B}"/>
              </a:ext>
            </a:extLst>
          </p:cNvPr>
          <p:cNvSpPr/>
          <p:nvPr/>
        </p:nvSpPr>
        <p:spPr>
          <a:xfrm>
            <a:off x="695074" y="1817888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2.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3124271-B1D6-65D7-4E36-34A591CAA7A4}"/>
              </a:ext>
            </a:extLst>
          </p:cNvPr>
          <p:cNvSpPr txBox="1"/>
          <p:nvPr/>
        </p:nvSpPr>
        <p:spPr>
          <a:xfrm>
            <a:off x="1320716" y="1945531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Access Pre-requisites from Ogier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399DAAEE-20AC-9815-033E-CB5D701F6ADB}"/>
              </a:ext>
            </a:extLst>
          </p:cNvPr>
          <p:cNvSpPr/>
          <p:nvPr/>
        </p:nvSpPr>
        <p:spPr>
          <a:xfrm>
            <a:off x="671012" y="2563843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3.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19F2BCD-FD0E-DA27-2F02-60201780617F}"/>
              </a:ext>
            </a:extLst>
          </p:cNvPr>
          <p:cNvSpPr txBox="1"/>
          <p:nvPr/>
        </p:nvSpPr>
        <p:spPr>
          <a:xfrm>
            <a:off x="1312696" y="2691489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Project Assumptions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FB6EBF65-7D02-902A-B796-C6278F889C8B}"/>
              </a:ext>
            </a:extLst>
          </p:cNvPr>
          <p:cNvCxnSpPr>
            <a:cxnSpLocks/>
          </p:cNvCxnSpPr>
          <p:nvPr/>
        </p:nvCxnSpPr>
        <p:spPr>
          <a:xfrm>
            <a:off x="1320716" y="1647812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BE73927-D48F-DFE1-C2BC-26BF6C3487A8}"/>
              </a:ext>
            </a:extLst>
          </p:cNvPr>
          <p:cNvCxnSpPr>
            <a:cxnSpLocks/>
          </p:cNvCxnSpPr>
          <p:nvPr/>
        </p:nvCxnSpPr>
        <p:spPr>
          <a:xfrm>
            <a:off x="1320716" y="2447026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E7DB9D3-D0B5-9B05-364F-4115EDA9868D}"/>
              </a:ext>
            </a:extLst>
          </p:cNvPr>
          <p:cNvCxnSpPr>
            <a:cxnSpLocks/>
          </p:cNvCxnSpPr>
          <p:nvPr/>
        </p:nvCxnSpPr>
        <p:spPr>
          <a:xfrm>
            <a:off x="1320716" y="3173446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>
            <a:extLst>
              <a:ext uri="{FF2B5EF4-FFF2-40B4-BE49-F238E27FC236}">
                <a16:creationId xmlns:a16="http://schemas.microsoft.com/office/drawing/2014/main" id="{AEE34725-1657-21FA-6855-C4EC8B1F548F}"/>
              </a:ext>
            </a:extLst>
          </p:cNvPr>
          <p:cNvSpPr/>
          <p:nvPr/>
        </p:nvSpPr>
        <p:spPr>
          <a:xfrm>
            <a:off x="679034" y="3325846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4.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841259D-0268-4FDE-5088-9A5915ABD945}"/>
              </a:ext>
            </a:extLst>
          </p:cNvPr>
          <p:cNvSpPr txBox="1"/>
          <p:nvPr/>
        </p:nvSpPr>
        <p:spPr>
          <a:xfrm>
            <a:off x="1304676" y="3453489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Project Governance: Project Management &amp; Execution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E6CCEF6-E213-FBEE-4320-5C61B23643C3}"/>
              </a:ext>
            </a:extLst>
          </p:cNvPr>
          <p:cNvCxnSpPr>
            <a:cxnSpLocks/>
          </p:cNvCxnSpPr>
          <p:nvPr/>
        </p:nvCxnSpPr>
        <p:spPr>
          <a:xfrm>
            <a:off x="1312696" y="3935446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>
            <a:extLst>
              <a:ext uri="{FF2B5EF4-FFF2-40B4-BE49-F238E27FC236}">
                <a16:creationId xmlns:a16="http://schemas.microsoft.com/office/drawing/2014/main" id="{D5A7FF81-86FE-CCFC-4D14-8EC852854A52}"/>
              </a:ext>
            </a:extLst>
          </p:cNvPr>
          <p:cNvSpPr/>
          <p:nvPr/>
        </p:nvSpPr>
        <p:spPr>
          <a:xfrm>
            <a:off x="711118" y="4095865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5.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1394197-AD99-5BDC-B58D-10E6AD2A99A9}"/>
              </a:ext>
            </a:extLst>
          </p:cNvPr>
          <p:cNvSpPr txBox="1"/>
          <p:nvPr/>
        </p:nvSpPr>
        <p:spPr>
          <a:xfrm>
            <a:off x="1336760" y="4223508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Project Governance: Escalation Matrix</a:t>
            </a:r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923DA9C8-CAF2-2500-D27A-8CA242C81FD9}"/>
              </a:ext>
            </a:extLst>
          </p:cNvPr>
          <p:cNvCxnSpPr>
            <a:cxnSpLocks/>
          </p:cNvCxnSpPr>
          <p:nvPr/>
        </p:nvCxnSpPr>
        <p:spPr>
          <a:xfrm>
            <a:off x="1344780" y="4705465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Oval 26">
            <a:extLst>
              <a:ext uri="{FF2B5EF4-FFF2-40B4-BE49-F238E27FC236}">
                <a16:creationId xmlns:a16="http://schemas.microsoft.com/office/drawing/2014/main" id="{DA858CA6-042D-22B8-8AD5-2D05A3C65452}"/>
              </a:ext>
            </a:extLst>
          </p:cNvPr>
          <p:cNvSpPr/>
          <p:nvPr/>
        </p:nvSpPr>
        <p:spPr>
          <a:xfrm>
            <a:off x="695076" y="4879595"/>
            <a:ext cx="625642" cy="60960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6.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5EDCA9D-E85E-2771-CB49-49AD3BF77A66}"/>
              </a:ext>
            </a:extLst>
          </p:cNvPr>
          <p:cNvSpPr txBox="1"/>
          <p:nvPr/>
        </p:nvSpPr>
        <p:spPr>
          <a:xfrm>
            <a:off x="1320718" y="5007238"/>
            <a:ext cx="7571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Aptos" panose="020B0004020202020204" pitchFamily="34" charset="0"/>
              </a:rPr>
              <a:t>Project Timelines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D56B76D2-6213-4AAD-330B-0A580C7A777A}"/>
              </a:ext>
            </a:extLst>
          </p:cNvPr>
          <p:cNvCxnSpPr>
            <a:cxnSpLocks/>
          </p:cNvCxnSpPr>
          <p:nvPr/>
        </p:nvCxnSpPr>
        <p:spPr>
          <a:xfrm>
            <a:off x="1328738" y="5489195"/>
            <a:ext cx="784985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3805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7B7BF-4DBE-99F6-581A-E8AC8748A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27" y="254912"/>
            <a:ext cx="11746806" cy="430887"/>
          </a:xfrm>
        </p:spPr>
        <p:txBody>
          <a:bodyPr/>
          <a:lstStyle/>
          <a:p>
            <a:r>
              <a:rPr lang="en-US" dirty="0"/>
              <a:t>Data Engineering/Architecture – Requirement And Scope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5DEADF-865C-87DB-6A82-7D89630144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5</a:t>
            </a:fld>
            <a:endParaRPr lang="en-US" dirty="0"/>
          </a:p>
        </p:txBody>
      </p:sp>
      <p:graphicFrame>
        <p:nvGraphicFramePr>
          <p:cNvPr id="18" name="Diagram 17">
            <a:extLst>
              <a:ext uri="{FF2B5EF4-FFF2-40B4-BE49-F238E27FC236}">
                <a16:creationId xmlns:a16="http://schemas.microsoft.com/office/drawing/2014/main" id="{CA424E82-55E9-BADD-DF18-E50CBF11DB8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44971692"/>
              </p:ext>
            </p:extLst>
          </p:nvPr>
        </p:nvGraphicFramePr>
        <p:xfrm>
          <a:off x="1573202" y="1325232"/>
          <a:ext cx="8490424" cy="47121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2682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457756-631A-F712-DB02-E40EF5926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48010D7E-46CD-B781-EA86-A41BCF467A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412987"/>
              </p:ext>
            </p:extLst>
          </p:nvPr>
        </p:nvGraphicFramePr>
        <p:xfrm>
          <a:off x="240631" y="5002159"/>
          <a:ext cx="11708578" cy="15818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8578">
                  <a:extLst>
                    <a:ext uri="{9D8B030D-6E8A-4147-A177-3AD203B41FA5}">
                      <a16:colId xmlns:a16="http://schemas.microsoft.com/office/drawing/2014/main" val="1877225929"/>
                    </a:ext>
                  </a:extLst>
                </a:gridCol>
              </a:tblGrid>
              <a:tr h="1581895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029125"/>
                  </a:ext>
                </a:extLst>
              </a:tr>
            </a:tbl>
          </a:graphicData>
        </a:graphic>
      </p:graphicFrame>
      <p:graphicFrame>
        <p:nvGraphicFramePr>
          <p:cNvPr id="40" name="Table 39">
            <a:extLst>
              <a:ext uri="{FF2B5EF4-FFF2-40B4-BE49-F238E27FC236}">
                <a16:creationId xmlns:a16="http://schemas.microsoft.com/office/drawing/2014/main" id="{7FE0930C-77AE-8B5D-E61D-580AC4AD3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25104"/>
              </p:ext>
            </p:extLst>
          </p:nvPr>
        </p:nvGraphicFramePr>
        <p:xfrm>
          <a:off x="256675" y="3236949"/>
          <a:ext cx="11708578" cy="150523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8578">
                  <a:extLst>
                    <a:ext uri="{9D8B030D-6E8A-4147-A177-3AD203B41FA5}">
                      <a16:colId xmlns:a16="http://schemas.microsoft.com/office/drawing/2014/main" val="1877225929"/>
                    </a:ext>
                  </a:extLst>
                </a:gridCol>
              </a:tblGrid>
              <a:tr h="1505233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029125"/>
                  </a:ext>
                </a:extLst>
              </a:tr>
            </a:tbl>
          </a:graphicData>
        </a:graphic>
      </p:graphicFrame>
      <p:graphicFrame>
        <p:nvGraphicFramePr>
          <p:cNvPr id="41" name="Table 40">
            <a:extLst>
              <a:ext uri="{FF2B5EF4-FFF2-40B4-BE49-F238E27FC236}">
                <a16:creationId xmlns:a16="http://schemas.microsoft.com/office/drawing/2014/main" id="{715F2B5D-CB8D-AC3D-E53F-5270AE885E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91621502"/>
              </p:ext>
            </p:extLst>
          </p:nvPr>
        </p:nvGraphicFramePr>
        <p:xfrm>
          <a:off x="256675" y="1507047"/>
          <a:ext cx="11708578" cy="150523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708578">
                  <a:extLst>
                    <a:ext uri="{9D8B030D-6E8A-4147-A177-3AD203B41FA5}">
                      <a16:colId xmlns:a16="http://schemas.microsoft.com/office/drawing/2014/main" val="1877225929"/>
                    </a:ext>
                  </a:extLst>
                </a:gridCol>
              </a:tblGrid>
              <a:tr h="1505234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76200" cap="flat" cmpd="sng" algn="ctr">
                      <a:solidFill>
                        <a:schemeClr val="accent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2029125"/>
                  </a:ext>
                </a:extLst>
              </a:tr>
            </a:tbl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56B29229-98A7-C2B0-5C43-765B1FF084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6027" y="254912"/>
            <a:ext cx="11746806" cy="430887"/>
          </a:xfrm>
        </p:spPr>
        <p:txBody>
          <a:bodyPr/>
          <a:lstStyle/>
          <a:p>
            <a:r>
              <a:rPr lang="en-US" dirty="0"/>
              <a:t>Data Engineering/Architecture – Requirement And Scope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2330B9-329C-4AC6-AE42-DC4D3A69D6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0D7EDDA-1F66-4BE4-1FE1-BC3BE531223D}"/>
              </a:ext>
            </a:extLst>
          </p:cNvPr>
          <p:cNvSpPr/>
          <p:nvPr/>
        </p:nvSpPr>
        <p:spPr>
          <a:xfrm>
            <a:off x="610283" y="1870366"/>
            <a:ext cx="1931500" cy="572004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SOURCE</a:t>
            </a:r>
            <a:endParaRPr lang="en-IN" b="1" dirty="0"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  <a:latin typeface="Aptos" panose="020B0004020202020204" pitchFamily="34" charset="0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DE0B48D-93B9-D48B-BA53-64EE0F89BF39}"/>
              </a:ext>
            </a:extLst>
          </p:cNvPr>
          <p:cNvSpPr/>
          <p:nvPr/>
        </p:nvSpPr>
        <p:spPr>
          <a:xfrm>
            <a:off x="610283" y="3600971"/>
            <a:ext cx="1927520" cy="677556"/>
          </a:xfrm>
          <a:prstGeom prst="roundRect">
            <a:avLst/>
          </a:prstGeom>
          <a:solidFill>
            <a:schemeClr val="accent3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REQUIREMENT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A4E5A25-23E2-EC56-1532-5C33B6F28FA8}"/>
              </a:ext>
            </a:extLst>
          </p:cNvPr>
          <p:cNvSpPr/>
          <p:nvPr/>
        </p:nvSpPr>
        <p:spPr>
          <a:xfrm>
            <a:off x="610283" y="5459609"/>
            <a:ext cx="1927519" cy="572004"/>
          </a:xfrm>
          <a:prstGeom prst="roundRect">
            <a:avLst/>
          </a:prstGeom>
          <a:solidFill>
            <a:schemeClr val="accent2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ptos" panose="020B0004020202020204" pitchFamily="34" charset="0"/>
              </a:rPr>
              <a:t>TARGET</a:t>
            </a:r>
            <a:endParaRPr lang="en-IN" b="1" dirty="0">
              <a:latin typeface="Aptos" panose="020B0004020202020204" pitchFamily="34" charset="0"/>
            </a:endParaRPr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79E9B787-A6CA-C766-A184-7875970028B3}"/>
              </a:ext>
            </a:extLst>
          </p:cNvPr>
          <p:cNvSpPr/>
          <p:nvPr/>
        </p:nvSpPr>
        <p:spPr>
          <a:xfrm>
            <a:off x="2537801" y="2020248"/>
            <a:ext cx="436730" cy="24379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Arrow: Right 7">
            <a:extLst>
              <a:ext uri="{FF2B5EF4-FFF2-40B4-BE49-F238E27FC236}">
                <a16:creationId xmlns:a16="http://schemas.microsoft.com/office/drawing/2014/main" id="{27C752C2-8CAA-E96C-DA64-340DEBF3FD6D}"/>
              </a:ext>
            </a:extLst>
          </p:cNvPr>
          <p:cNvSpPr/>
          <p:nvPr/>
        </p:nvSpPr>
        <p:spPr>
          <a:xfrm>
            <a:off x="2537802" y="3765075"/>
            <a:ext cx="436730" cy="288784"/>
          </a:xfrm>
          <a:prstGeom prst="rightArrow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EFF49774-A764-0484-64A1-1E65CA7DF0B7}"/>
              </a:ext>
            </a:extLst>
          </p:cNvPr>
          <p:cNvSpPr/>
          <p:nvPr/>
        </p:nvSpPr>
        <p:spPr>
          <a:xfrm>
            <a:off x="2537802" y="5641477"/>
            <a:ext cx="436730" cy="243796"/>
          </a:xfrm>
          <a:prstGeom prst="rightArrow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7783A09E-42E0-F8EF-FA5B-029CBD81C4B6}"/>
              </a:ext>
            </a:extLst>
          </p:cNvPr>
          <p:cNvSpPr/>
          <p:nvPr/>
        </p:nvSpPr>
        <p:spPr>
          <a:xfrm>
            <a:off x="2967620" y="1710998"/>
            <a:ext cx="2711116" cy="1026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914400" algn="ctr" fontAlgn="base">
              <a:spcBef>
                <a:spcPts val="1000"/>
              </a:spcBef>
              <a:buClr>
                <a:schemeClr val="accent1"/>
              </a:buClr>
            </a:pPr>
            <a:r>
              <a:rPr lang="en-US" sz="1600" dirty="0">
                <a:latin typeface="Aptos" panose="020B0004020202020204" pitchFamily="34" charset="0"/>
              </a:rPr>
              <a:t>Source data from Viewpoint database.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BFBA49A-9CEA-11CA-692B-09BC22064626}"/>
              </a:ext>
            </a:extLst>
          </p:cNvPr>
          <p:cNvSpPr/>
          <p:nvPr/>
        </p:nvSpPr>
        <p:spPr>
          <a:xfrm>
            <a:off x="5784119" y="1710998"/>
            <a:ext cx="2711116" cy="1026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914400" algn="ctr" fontAlgn="base">
              <a:spcBef>
                <a:spcPts val="1000"/>
              </a:spcBef>
              <a:buClr>
                <a:schemeClr val="accent1"/>
              </a:buClr>
            </a:pPr>
            <a:r>
              <a:rPr lang="en-US" sz="1600" dirty="0">
                <a:latin typeface="Aptos" panose="020B0004020202020204" pitchFamily="34" charset="0"/>
              </a:rPr>
              <a:t>Database: On-premise SQL server.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46ED1B5-749A-80AE-9F3A-486C504C5F87}"/>
              </a:ext>
            </a:extLst>
          </p:cNvPr>
          <p:cNvSpPr/>
          <p:nvPr/>
        </p:nvSpPr>
        <p:spPr>
          <a:xfrm>
            <a:off x="8734011" y="1710998"/>
            <a:ext cx="2711116" cy="102669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914400" algn="ctr" fontAlgn="base">
              <a:spcBef>
                <a:spcPts val="1000"/>
              </a:spcBef>
              <a:buClr>
                <a:schemeClr val="accent1"/>
              </a:buClr>
            </a:pPr>
            <a:r>
              <a:rPr lang="en-US" sz="1600" dirty="0">
                <a:latin typeface="Aptos" panose="020B0004020202020204" pitchFamily="34" charset="0"/>
              </a:rPr>
              <a:t>Reporting Platform SSRS Reports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6CCF325-5A75-2DC2-6021-270109DAF755}"/>
              </a:ext>
            </a:extLst>
          </p:cNvPr>
          <p:cNvSpPr/>
          <p:nvPr/>
        </p:nvSpPr>
        <p:spPr>
          <a:xfrm>
            <a:off x="2980929" y="5250027"/>
            <a:ext cx="4065298" cy="102669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914400" algn="ctr" fontAlgn="base">
              <a:spcBef>
                <a:spcPts val="1000"/>
              </a:spcBef>
              <a:buClr>
                <a:schemeClr val="accent1"/>
              </a:buClr>
            </a:pPr>
            <a:r>
              <a:rPr lang="en-GB" sz="1600" dirty="0">
                <a:latin typeface="Aptos" panose="020B0004020202020204" pitchFamily="34" charset="0"/>
              </a:rPr>
              <a:t>Microsoft Fabric </a:t>
            </a:r>
            <a:r>
              <a:rPr lang="en-GB" sz="1600" dirty="0" err="1">
                <a:latin typeface="Aptos" panose="020B0004020202020204" pitchFamily="34" charset="0"/>
              </a:rPr>
              <a:t>OneLake</a:t>
            </a:r>
            <a:r>
              <a:rPr lang="en-GB" sz="1600" dirty="0"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E1679DF-52BF-6E9B-5E7F-69231F215248}"/>
              </a:ext>
            </a:extLst>
          </p:cNvPr>
          <p:cNvSpPr/>
          <p:nvPr/>
        </p:nvSpPr>
        <p:spPr>
          <a:xfrm>
            <a:off x="7323915" y="5250027"/>
            <a:ext cx="4065298" cy="1026695"/>
          </a:xfrm>
          <a:prstGeom prst="roundRect">
            <a:avLst/>
          </a:prstGeom>
          <a:solidFill>
            <a:schemeClr val="accent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914400" algn="ctr" fontAlgn="base">
              <a:spcBef>
                <a:spcPts val="1000"/>
              </a:spcBef>
              <a:buClr>
                <a:schemeClr val="accent1"/>
              </a:buClr>
            </a:pPr>
            <a:r>
              <a:rPr lang="en-GB" sz="1600" dirty="0">
                <a:latin typeface="Aptos" panose="020B0004020202020204" pitchFamily="34" charset="0"/>
              </a:rPr>
              <a:t>Existing medallion architecture.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F270510-8526-58EE-F0D8-3E6E4F904F55}"/>
              </a:ext>
            </a:extLst>
          </p:cNvPr>
          <p:cNvSpPr/>
          <p:nvPr/>
        </p:nvSpPr>
        <p:spPr>
          <a:xfrm>
            <a:off x="2982973" y="3429981"/>
            <a:ext cx="2070291" cy="102669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914400" fontAlgn="base">
              <a:spcBef>
                <a:spcPts val="1000"/>
              </a:spcBef>
              <a:buClr>
                <a:schemeClr val="accent1"/>
              </a:buClr>
            </a:pPr>
            <a:r>
              <a:rPr lang="en-US" sz="1100" dirty="0">
                <a:latin typeface="Aptos" panose="020B0004020202020204" pitchFamily="34" charset="0"/>
              </a:rPr>
              <a:t>Migration of 50 reports from current platform to the new Fabric architecture by creating Fabric data items, semantic models</a:t>
            </a:r>
            <a:endParaRPr lang="en-GB" sz="1100" dirty="0">
              <a:latin typeface="Aptos" panose="020B000402020202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26F8ADF5-D75E-77F2-6793-3CC1D86A05C7}"/>
              </a:ext>
            </a:extLst>
          </p:cNvPr>
          <p:cNvSpPr/>
          <p:nvPr/>
        </p:nvSpPr>
        <p:spPr>
          <a:xfrm>
            <a:off x="5200116" y="3430000"/>
            <a:ext cx="2070291" cy="102669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914400" algn="ctr" fontAlgn="base">
              <a:spcBef>
                <a:spcPts val="1000"/>
              </a:spcBef>
              <a:buClr>
                <a:schemeClr val="accent1"/>
              </a:buClr>
            </a:pPr>
            <a:r>
              <a:rPr lang="en-US" sz="1100" dirty="0">
                <a:latin typeface="Aptos" panose="020B0004020202020204" pitchFamily="34" charset="0"/>
              </a:rPr>
              <a:t>Seamless integration of the new models with the existing enterprise data model.</a:t>
            </a:r>
            <a:endParaRPr lang="en-GB" sz="1100" dirty="0">
              <a:latin typeface="Aptos" panose="020B000402020202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761FCB3-297F-D0B5-1F18-A7A0FCAFA613}"/>
              </a:ext>
            </a:extLst>
          </p:cNvPr>
          <p:cNvSpPr/>
          <p:nvPr/>
        </p:nvSpPr>
        <p:spPr>
          <a:xfrm>
            <a:off x="7417259" y="3464679"/>
            <a:ext cx="2070291" cy="102669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-914400" algn="ctr" fontAlgn="base">
              <a:spcBef>
                <a:spcPts val="1000"/>
              </a:spcBef>
              <a:buClr>
                <a:schemeClr val="accent1"/>
              </a:buClr>
            </a:pPr>
            <a:r>
              <a:rPr lang="en-US" sz="1100" dirty="0">
                <a:latin typeface="Aptos" panose="020B0004020202020204" pitchFamily="34" charset="0"/>
              </a:rPr>
              <a:t>Adherence to appropriate naming conventions in consultation with the data team.</a:t>
            </a:r>
            <a:endParaRPr lang="en-GB" sz="1100" dirty="0">
              <a:latin typeface="Aptos" panose="020B0004020202020204" pitchFamily="34" charset="0"/>
            </a:endParaRP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3F5341FD-99E8-3A32-BC72-3F798F195C7B}"/>
              </a:ext>
            </a:extLst>
          </p:cNvPr>
          <p:cNvSpPr/>
          <p:nvPr/>
        </p:nvSpPr>
        <p:spPr>
          <a:xfrm>
            <a:off x="9579106" y="3447339"/>
            <a:ext cx="2070291" cy="1026695"/>
          </a:xfrm>
          <a:prstGeom prst="round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2" algn="ctr" fontAlgn="base">
              <a:spcBef>
                <a:spcPts val="1000"/>
              </a:spcBef>
              <a:buClr>
                <a:schemeClr val="accent1"/>
              </a:buClr>
            </a:pPr>
            <a:r>
              <a:rPr lang="en-US" sz="1100" dirty="0">
                <a:latin typeface="Aptos" panose="020B0004020202020204" pitchFamily="34" charset="0"/>
              </a:rPr>
              <a:t>Application of best approach for the migration.</a:t>
            </a:r>
            <a:endParaRPr lang="en-GB" sz="1100" dirty="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37827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11B275-4506-09B9-26B4-4285787CF8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C9C7E7-4DEB-3A94-D932-DE29F3CB1E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Pre-requisites from Ogier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F60D20-AD91-3292-0E77-76191B325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CF8EF0C-6BF3-C8CB-20EE-890B72E080C3}"/>
              </a:ext>
            </a:extLst>
          </p:cNvPr>
          <p:cNvSpPr/>
          <p:nvPr/>
        </p:nvSpPr>
        <p:spPr>
          <a:xfrm>
            <a:off x="1131841" y="1383637"/>
            <a:ext cx="9231359" cy="5614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Entra ID (Azure AD): Access required to the tenant to authenticate and use various services.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F82E3F5-2066-83B3-E170-7D77843F0D08}"/>
              </a:ext>
            </a:extLst>
          </p:cNvPr>
          <p:cNvSpPr/>
          <p:nvPr/>
        </p:nvSpPr>
        <p:spPr>
          <a:xfrm>
            <a:off x="1131841" y="2350169"/>
            <a:ext cx="9231359" cy="5614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Gateway: Admin access if an on-premises data gateway is required for connectivity.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67D9428-F398-4865-98BE-448B7302F152}"/>
              </a:ext>
            </a:extLst>
          </p:cNvPr>
          <p:cNvSpPr/>
          <p:nvPr/>
        </p:nvSpPr>
        <p:spPr>
          <a:xfrm>
            <a:off x="1131841" y="3292641"/>
            <a:ext cx="9231359" cy="5614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On-Prem SQL Server: Read permissions to the Viewpoint database, including views, stored procedures, and scripts. 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96E2756D-960A-E283-8267-2F526AB7F93E}"/>
              </a:ext>
            </a:extLst>
          </p:cNvPr>
          <p:cNvSpPr/>
          <p:nvPr/>
        </p:nvSpPr>
        <p:spPr>
          <a:xfrm>
            <a:off x="1131841" y="4072681"/>
            <a:ext cx="9231359" cy="5614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Access to other data sources like SharePoint/OneDrive locations. Service account credentials if automated ingestion is planned.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5BC12CF6-BDB9-4F98-09F2-2C7F3FAE3C8A}"/>
              </a:ext>
            </a:extLst>
          </p:cNvPr>
          <p:cNvSpPr/>
          <p:nvPr/>
        </p:nvSpPr>
        <p:spPr>
          <a:xfrm>
            <a:off x="1131841" y="4965018"/>
            <a:ext cx="9231359" cy="5614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OneLake: Access with appropriate permissions for ingestion and semantic model creation (including lakehouse, warehouse, pipeline, etc.).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065EC5BD-EB68-414B-74F8-24DBF3DA92BE}"/>
              </a:ext>
            </a:extLst>
          </p:cNvPr>
          <p:cNvSpPr/>
          <p:nvPr/>
        </p:nvSpPr>
        <p:spPr>
          <a:xfrm>
            <a:off x="426027" y="1263301"/>
            <a:ext cx="657726" cy="689807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6F682265-9BC8-2095-E2BE-905AFE197FB3}"/>
              </a:ext>
            </a:extLst>
          </p:cNvPr>
          <p:cNvSpPr/>
          <p:nvPr/>
        </p:nvSpPr>
        <p:spPr>
          <a:xfrm>
            <a:off x="426027" y="2243869"/>
            <a:ext cx="657726" cy="689807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2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4EC2161E-B0F2-6F71-4EFD-040A8E823331}"/>
              </a:ext>
            </a:extLst>
          </p:cNvPr>
          <p:cNvSpPr/>
          <p:nvPr/>
        </p:nvSpPr>
        <p:spPr>
          <a:xfrm>
            <a:off x="378812" y="3116181"/>
            <a:ext cx="657726" cy="689807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3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4FCF4CC6-2886-5C1A-420A-3717EBA27A11}"/>
              </a:ext>
            </a:extLst>
          </p:cNvPr>
          <p:cNvSpPr/>
          <p:nvPr/>
        </p:nvSpPr>
        <p:spPr>
          <a:xfrm>
            <a:off x="378812" y="3960350"/>
            <a:ext cx="657726" cy="689807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4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874FFFF7-C710-E157-DD49-3545AF8280FF}"/>
              </a:ext>
            </a:extLst>
          </p:cNvPr>
          <p:cNvSpPr/>
          <p:nvPr/>
        </p:nvSpPr>
        <p:spPr>
          <a:xfrm>
            <a:off x="378812" y="4836690"/>
            <a:ext cx="657726" cy="689807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5.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200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3E8566-1B43-9792-E3FD-067C1BDB5D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CB96-0ADE-1766-D19E-964E6365F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Access Pre-requisites from Ogier </a:t>
            </a:r>
            <a:r>
              <a:rPr lang="en-US" dirty="0" err="1"/>
              <a:t>Cont</a:t>
            </a:r>
            <a:r>
              <a:rPr lang="en-US" dirty="0"/>
              <a:t>…</a:t>
            </a:r>
            <a:endParaRPr lang="en-IN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46DD3D3-DD86-36EA-C3B5-77F8D64D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9500B9-D393-ED46-B7E6-4DE96F71A354}"/>
              </a:ext>
            </a:extLst>
          </p:cNvPr>
          <p:cNvSpPr/>
          <p:nvPr/>
        </p:nvSpPr>
        <p:spPr>
          <a:xfrm>
            <a:off x="1131841" y="1383637"/>
            <a:ext cx="9231359" cy="5614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Fabric Workspaces: Appropriate access (Admin or Contributor) to create or manage existing  workspaces (Dev, Test, Prod).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6632B08D-B8B6-9509-B32A-861CE809D37A}"/>
              </a:ext>
            </a:extLst>
          </p:cNvPr>
          <p:cNvSpPr/>
          <p:nvPr/>
        </p:nvSpPr>
        <p:spPr>
          <a:xfrm>
            <a:off x="1131841" y="2350169"/>
            <a:ext cx="9231359" cy="5614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Service Accounts: Credentials with MFA enabled if needed for automation or ingestion.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6BA7131-F95A-04AC-D871-092099C34FA4}"/>
              </a:ext>
            </a:extLst>
          </p:cNvPr>
          <p:cNvSpPr/>
          <p:nvPr/>
        </p:nvSpPr>
        <p:spPr>
          <a:xfrm>
            <a:off x="1131841" y="3292641"/>
            <a:ext cx="9231359" cy="5614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Azure Role: Administrator role for managing Fabric capacity, workspace assignments, and governance.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C225C2B-69E8-4DE2-6312-7B719D42D37C}"/>
              </a:ext>
            </a:extLst>
          </p:cNvPr>
          <p:cNvSpPr/>
          <p:nvPr/>
        </p:nvSpPr>
        <p:spPr>
          <a:xfrm>
            <a:off x="1131841" y="4197376"/>
            <a:ext cx="9231359" cy="5614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 dirty="0">
                <a:solidFill>
                  <a:schemeClr val="tx1"/>
                </a:solidFill>
              </a:rPr>
              <a:t>Deployment Pipeline: Workspaces must be in Premium or Fabric capacity; Admin access required (not only Admin).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6207FC43-AF7E-4528-3706-F939AE257E45}"/>
              </a:ext>
            </a:extLst>
          </p:cNvPr>
          <p:cNvSpPr/>
          <p:nvPr/>
        </p:nvSpPr>
        <p:spPr>
          <a:xfrm>
            <a:off x="1192948" y="5101379"/>
            <a:ext cx="9231359" cy="561473"/>
          </a:xfrm>
          <a:prstGeom prst="round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000">
                <a:solidFill>
                  <a:schemeClr val="tx1"/>
                </a:solidFill>
              </a:rPr>
              <a:t>Git Integration: Requires Premium/Fabric license; Admin role in workspace plus Read/Write access to Git repository (Azure DevOps or GitHub).</a:t>
            </a:r>
            <a:endParaRPr lang="en-US" sz="1000" dirty="0">
              <a:solidFill>
                <a:schemeClr val="tx1"/>
              </a:solidFill>
            </a:endParaRPr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84E8768E-51F2-8240-2AE6-2E4335FE562B}"/>
              </a:ext>
            </a:extLst>
          </p:cNvPr>
          <p:cNvSpPr/>
          <p:nvPr/>
        </p:nvSpPr>
        <p:spPr>
          <a:xfrm>
            <a:off x="426027" y="1263301"/>
            <a:ext cx="657726" cy="689807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6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99DC720A-D8F3-9AFE-99B2-5B308130F067}"/>
              </a:ext>
            </a:extLst>
          </p:cNvPr>
          <p:cNvSpPr/>
          <p:nvPr/>
        </p:nvSpPr>
        <p:spPr>
          <a:xfrm>
            <a:off x="426027" y="2243869"/>
            <a:ext cx="657726" cy="689807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7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Isosceles Triangle 18">
            <a:extLst>
              <a:ext uri="{FF2B5EF4-FFF2-40B4-BE49-F238E27FC236}">
                <a16:creationId xmlns:a16="http://schemas.microsoft.com/office/drawing/2014/main" id="{01FB7F40-D1A4-1559-A2CE-212A7873AF49}"/>
              </a:ext>
            </a:extLst>
          </p:cNvPr>
          <p:cNvSpPr/>
          <p:nvPr/>
        </p:nvSpPr>
        <p:spPr>
          <a:xfrm>
            <a:off x="378812" y="3116181"/>
            <a:ext cx="657726" cy="689807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8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65D18001-0542-7E78-B477-4E895386A1CB}"/>
              </a:ext>
            </a:extLst>
          </p:cNvPr>
          <p:cNvSpPr/>
          <p:nvPr/>
        </p:nvSpPr>
        <p:spPr>
          <a:xfrm>
            <a:off x="378812" y="4085045"/>
            <a:ext cx="657726" cy="689807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9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21" name="Isosceles Triangle 20">
            <a:extLst>
              <a:ext uri="{FF2B5EF4-FFF2-40B4-BE49-F238E27FC236}">
                <a16:creationId xmlns:a16="http://schemas.microsoft.com/office/drawing/2014/main" id="{37D02C54-319C-C5E3-3D62-6C21A201C784}"/>
              </a:ext>
            </a:extLst>
          </p:cNvPr>
          <p:cNvSpPr/>
          <p:nvPr/>
        </p:nvSpPr>
        <p:spPr>
          <a:xfrm>
            <a:off x="269616" y="4997120"/>
            <a:ext cx="876117" cy="689807"/>
          </a:xfrm>
          <a:prstGeom prst="triangle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10</a:t>
            </a:r>
            <a:endParaRPr lang="en-IN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57160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54FD88-D8B5-9D3A-F3EA-A46E2289D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Project Timelines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141DC20-ECDE-FE33-5DC0-221289F55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CC604-E3A7-4F52-8848-933FA40E345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89B2A14-9983-808F-2D8E-853B419A38EA}"/>
              </a:ext>
            </a:extLst>
          </p:cNvPr>
          <p:cNvSpPr/>
          <p:nvPr/>
        </p:nvSpPr>
        <p:spPr>
          <a:xfrm>
            <a:off x="1110343" y="2127002"/>
            <a:ext cx="9829800" cy="252664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2">
                <a:lumMod val="20000"/>
                <a:lumOff val="80000"/>
              </a:schemeClr>
            </a:solidFill>
          </a:ln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b="1" dirty="0">
              <a:solidFill>
                <a:schemeClr val="tx1"/>
              </a:solidFill>
              <a:latin typeface="Calibiri"/>
            </a:endParaRPr>
          </a:p>
        </p:txBody>
      </p:sp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C7B4466B-1643-F952-76AD-4A9EA6591CF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65051587"/>
              </p:ext>
            </p:extLst>
          </p:nvPr>
        </p:nvGraphicFramePr>
        <p:xfrm>
          <a:off x="1375168" y="2379469"/>
          <a:ext cx="9264260" cy="20781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C499D026-5F12-3ED7-BD79-1C544F634673}"/>
              </a:ext>
            </a:extLst>
          </p:cNvPr>
          <p:cNvCxnSpPr/>
          <p:nvPr/>
        </p:nvCxnSpPr>
        <p:spPr>
          <a:xfrm>
            <a:off x="1375168" y="2988096"/>
            <a:ext cx="1580304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1AF138-D169-3010-205B-5BCD0F78AB21}"/>
              </a:ext>
            </a:extLst>
          </p:cNvPr>
          <p:cNvCxnSpPr/>
          <p:nvPr/>
        </p:nvCxnSpPr>
        <p:spPr>
          <a:xfrm>
            <a:off x="3323711" y="2988096"/>
            <a:ext cx="1580304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758EC5A-6775-3652-BFC7-1B87E380539C}"/>
              </a:ext>
            </a:extLst>
          </p:cNvPr>
          <p:cNvCxnSpPr/>
          <p:nvPr/>
        </p:nvCxnSpPr>
        <p:spPr>
          <a:xfrm>
            <a:off x="5289520" y="2949996"/>
            <a:ext cx="1580304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96C0126-33DF-4FAB-A9A9-FAA9604599EA}"/>
              </a:ext>
            </a:extLst>
          </p:cNvPr>
          <p:cNvCxnSpPr/>
          <p:nvPr/>
        </p:nvCxnSpPr>
        <p:spPr>
          <a:xfrm>
            <a:off x="7090168" y="2971767"/>
            <a:ext cx="1580304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8C40A3A1-EC75-2DF0-1067-15D87580D393}"/>
              </a:ext>
            </a:extLst>
          </p:cNvPr>
          <p:cNvCxnSpPr/>
          <p:nvPr/>
        </p:nvCxnSpPr>
        <p:spPr>
          <a:xfrm>
            <a:off x="9059124" y="2962574"/>
            <a:ext cx="1580304" cy="0"/>
          </a:xfrm>
          <a:prstGeom prst="straightConnector1">
            <a:avLst/>
          </a:prstGeom>
          <a:ln>
            <a:solidFill>
              <a:schemeClr val="bg1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31CD04AD-6914-BF5D-BB52-41095D639F2B}"/>
              </a:ext>
            </a:extLst>
          </p:cNvPr>
          <p:cNvSpPr txBox="1"/>
          <p:nvPr/>
        </p:nvSpPr>
        <p:spPr>
          <a:xfrm>
            <a:off x="1681843" y="2539388"/>
            <a:ext cx="106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3 Weeks</a:t>
            </a:r>
            <a:endParaRPr lang="en-IN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C7510B4-748E-C60D-F6E5-FD319EB7C17F}"/>
              </a:ext>
            </a:extLst>
          </p:cNvPr>
          <p:cNvSpPr txBox="1"/>
          <p:nvPr/>
        </p:nvSpPr>
        <p:spPr>
          <a:xfrm>
            <a:off x="3548746" y="2561158"/>
            <a:ext cx="106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3 Weeks</a:t>
            </a:r>
            <a:endParaRPr lang="en-IN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DAA993-0E37-12D4-6596-761C9BB2FAE2}"/>
              </a:ext>
            </a:extLst>
          </p:cNvPr>
          <p:cNvSpPr txBox="1"/>
          <p:nvPr/>
        </p:nvSpPr>
        <p:spPr>
          <a:xfrm>
            <a:off x="5459194" y="2561159"/>
            <a:ext cx="106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8 Weeks</a:t>
            </a:r>
            <a:endParaRPr lang="en-IN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AEAB5AB-86A6-7E04-B6B5-4573C0F3DE47}"/>
              </a:ext>
            </a:extLst>
          </p:cNvPr>
          <p:cNvSpPr txBox="1"/>
          <p:nvPr/>
        </p:nvSpPr>
        <p:spPr>
          <a:xfrm>
            <a:off x="7287996" y="2544827"/>
            <a:ext cx="106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3 Weeks</a:t>
            </a:r>
            <a:endParaRPr lang="en-IN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5EC08D8-51AC-41F2-D2EA-538C679F6F7B}"/>
              </a:ext>
            </a:extLst>
          </p:cNvPr>
          <p:cNvSpPr txBox="1"/>
          <p:nvPr/>
        </p:nvSpPr>
        <p:spPr>
          <a:xfrm>
            <a:off x="9231095" y="2544827"/>
            <a:ext cx="10613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  <a:latin typeface="Aptos" panose="020B0004020202020204" pitchFamily="34" charset="0"/>
              </a:rPr>
              <a:t>3 Weeks</a:t>
            </a:r>
            <a:endParaRPr lang="en-IN" b="1" dirty="0">
              <a:solidFill>
                <a:schemeClr val="bg1"/>
              </a:solidFill>
              <a:latin typeface="Aptos" panose="020B0004020202020204" pitchFamily="34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850EE69-1F3C-E448-D05F-E2675CB9EDF6}"/>
              </a:ext>
            </a:extLst>
          </p:cNvPr>
          <p:cNvSpPr/>
          <p:nvPr/>
        </p:nvSpPr>
        <p:spPr>
          <a:xfrm>
            <a:off x="2212522" y="1402752"/>
            <a:ext cx="7339263" cy="368719"/>
          </a:xfrm>
          <a:prstGeom prst="rect">
            <a:avLst/>
          </a:prstGeom>
          <a:solidFill>
            <a:schemeClr val="accent3"/>
          </a:solidFill>
          <a:ln>
            <a:solidFill>
              <a:schemeClr val="accent3">
                <a:lumMod val="40000"/>
                <a:lumOff val="60000"/>
              </a:schemeClr>
            </a:solidFill>
          </a:ln>
          <a:scene3d>
            <a:camera prst="perspectiveFront"/>
            <a:lightRig rig="threePt" dir="t"/>
          </a:scene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  <a:latin typeface="Calibiri"/>
              </a:rPr>
              <a:t>PROJECT MANAGEMENT AND GOVERNANCE LAYER</a:t>
            </a:r>
            <a:endParaRPr lang="en-IN" b="1" dirty="0">
              <a:solidFill>
                <a:schemeClr val="tx1"/>
              </a:solidFill>
              <a:latin typeface="Calibiri"/>
            </a:endParaRPr>
          </a:p>
        </p:txBody>
      </p:sp>
      <p:sp>
        <p:nvSpPr>
          <p:cNvPr id="27" name="Arrow: Right 26">
            <a:extLst>
              <a:ext uri="{FF2B5EF4-FFF2-40B4-BE49-F238E27FC236}">
                <a16:creationId xmlns:a16="http://schemas.microsoft.com/office/drawing/2014/main" id="{E5A849E3-31D1-5D3E-AD7F-9260E1AE09EF}"/>
              </a:ext>
            </a:extLst>
          </p:cNvPr>
          <p:cNvSpPr/>
          <p:nvPr/>
        </p:nvSpPr>
        <p:spPr>
          <a:xfrm rot="5400000">
            <a:off x="5893046" y="1829011"/>
            <a:ext cx="324149" cy="24379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AD10F084-4089-735D-B6BC-0C4895139E0E}"/>
              </a:ext>
            </a:extLst>
          </p:cNvPr>
          <p:cNvSpPr/>
          <p:nvPr/>
        </p:nvSpPr>
        <p:spPr>
          <a:xfrm>
            <a:off x="1288145" y="4748244"/>
            <a:ext cx="1633694" cy="185484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Set up project plan, timelines, and communication plan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Provision system/access credentials and environments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73231B82-C746-DE5C-C3EA-AF857E4D59AA}"/>
              </a:ext>
            </a:extLst>
          </p:cNvPr>
          <p:cNvSpPr/>
          <p:nvPr/>
        </p:nvSpPr>
        <p:spPr>
          <a:xfrm>
            <a:off x="3324898" y="4765068"/>
            <a:ext cx="1633694" cy="185484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Analyze existing reports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Assess current systems and data landscape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Define solution architecture and scope baseline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F9B4656-D03D-21F3-307B-950BE521F6E8}"/>
              </a:ext>
            </a:extLst>
          </p:cNvPr>
          <p:cNvSpPr/>
          <p:nvPr/>
        </p:nvSpPr>
        <p:spPr>
          <a:xfrm>
            <a:off x="5274207" y="4748244"/>
            <a:ext cx="1633694" cy="185484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Design and develop data pipelines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Perform data migration and transformation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Execute unit, integration, and system testing.</a:t>
            </a:r>
            <a:endParaRPr lang="en-IN" sz="12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88F21F4-30BF-4C24-A8F2-CF388E916783}"/>
              </a:ext>
            </a:extLst>
          </p:cNvPr>
          <p:cNvSpPr/>
          <p:nvPr/>
        </p:nvSpPr>
        <p:spPr>
          <a:xfrm>
            <a:off x="7167178" y="4748243"/>
            <a:ext cx="1633694" cy="185484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UAT Implementation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Resolve defects and implement fixes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Provide end-user training and documentation</a:t>
            </a:r>
            <a:endParaRPr lang="en-IN" sz="12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58EEDA97-C67B-9DBD-ADCF-A048B11F59A1}"/>
              </a:ext>
            </a:extLst>
          </p:cNvPr>
          <p:cNvSpPr/>
          <p:nvPr/>
        </p:nvSpPr>
        <p:spPr>
          <a:xfrm>
            <a:off x="9088664" y="4765462"/>
            <a:ext cx="1633694" cy="1854843"/>
          </a:xfrm>
          <a:prstGeom prst="rect">
            <a:avLst/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Provide stabilization support</a:t>
            </a:r>
          </a:p>
          <a:p>
            <a:pPr marL="285750" indent="-285750" fontAlgn="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tx1"/>
                </a:solidFill>
                <a:latin typeface="Aptos" panose="020B0004020202020204" pitchFamily="34" charset="0"/>
              </a:rPr>
              <a:t>Monitor system performance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200" dirty="0">
                <a:solidFill>
                  <a:schemeClr val="tx1"/>
                </a:solidFill>
                <a:latin typeface="Aptos" panose="020B0004020202020204" pitchFamily="34" charset="0"/>
              </a:rPr>
              <a:t>Implement minor enhancements and optimizations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200" dirty="0">
              <a:solidFill>
                <a:schemeClr val="tx1"/>
              </a:solidFill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29570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7962338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Custom 8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2993D1"/>
      </a:accent1>
      <a:accent2>
        <a:srgbClr val="71BF44"/>
      </a:accent2>
      <a:accent3>
        <a:srgbClr val="FFC000"/>
      </a:accent3>
      <a:accent4>
        <a:srgbClr val="10577F"/>
      </a:accent4>
      <a:accent5>
        <a:srgbClr val="407A28"/>
      </a:accent5>
      <a:accent6>
        <a:srgbClr val="BF9000"/>
      </a:accent6>
      <a:hlink>
        <a:srgbClr val="0563C1"/>
      </a:hlink>
      <a:folHlink>
        <a:srgbClr val="954F72"/>
      </a:folHlink>
    </a:clrScheme>
    <a:fontScheme name="Calibri-Cambria">
      <a:majorFont>
        <a:latin typeface="Calibri" panose="020F0502020204030204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9B3FBF88-8C1A-49D2-9E83-8EA0C86DC926}" vid="{1EA50CF0-1881-43F7-84B7-6153323EBA2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AA202B54C34C4A958E57E4F430CF34" ma:contentTypeVersion="2" ma:contentTypeDescription="Create a new document." ma:contentTypeScope="" ma:versionID="f4f44b84593c8a1549d60d67b07a2188">
  <xsd:schema xmlns:xsd="http://www.w3.org/2001/XMLSchema" xmlns:xs="http://www.w3.org/2001/XMLSchema" xmlns:p="http://schemas.microsoft.com/office/2006/metadata/properties" xmlns:ns2="9833e60f-8929-4696-abbe-6d18358f7eec" targetNamespace="http://schemas.microsoft.com/office/2006/metadata/properties" ma:root="true" ma:fieldsID="7538e8248ccd2a2ff63364dbd29064df" ns2:_="">
    <xsd:import namespace="9833e60f-8929-4696-abbe-6d18358f7ee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833e60f-8929-4696-abbe-6d18358f7eec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9528B65-88F5-40AD-9AFA-F05D891F74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833e60f-8929-4696-abbe-6d18358f7ee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CBCC9074-13FC-493C-8AFC-2E5CD86F3EA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InfrasoftTech Standard Template 25th anniversary version</Template>
  <TotalTime>58138</TotalTime>
  <Words>708</Words>
  <Application>Microsoft Office PowerPoint</Application>
  <PresentationFormat>Widescreen</PresentationFormat>
  <Paragraphs>110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1" baseType="lpstr">
      <vt:lpstr>ADLaM Display</vt:lpstr>
      <vt:lpstr>Aptos</vt:lpstr>
      <vt:lpstr>Arial</vt:lpstr>
      <vt:lpstr>Calibiri</vt:lpstr>
      <vt:lpstr>Calibri</vt:lpstr>
      <vt:lpstr>Cambria</vt:lpstr>
      <vt:lpstr>Courier New</vt:lpstr>
      <vt:lpstr>PPMori</vt:lpstr>
      <vt:lpstr>Times New Roman</vt:lpstr>
      <vt:lpstr>Wingdings</vt:lpstr>
      <vt:lpstr>1_Office Theme</vt:lpstr>
      <vt:lpstr>Data Engineering Presentation</vt:lpstr>
      <vt:lpstr>Introduction About Me</vt:lpstr>
      <vt:lpstr>Introduction about </vt:lpstr>
      <vt:lpstr>Proposal Contents</vt:lpstr>
      <vt:lpstr>Data Engineering/Architecture – Requirement And Scope</vt:lpstr>
      <vt:lpstr>Data Engineering/Architecture – Requirement And Scope</vt:lpstr>
      <vt:lpstr>Access Pre-requisites from Ogier</vt:lpstr>
      <vt:lpstr>Access Pre-requisites from Ogier Cont…</vt:lpstr>
      <vt:lpstr>Project Timelines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KiyaAI</dc:creator>
  <cp:keywords/>
  <dc:description/>
  <cp:lastModifiedBy>Nitin Kumar</cp:lastModifiedBy>
  <cp:revision>1905</cp:revision>
  <dcterms:created xsi:type="dcterms:W3CDTF">2020-10-14T12:36:59Z</dcterms:created>
  <dcterms:modified xsi:type="dcterms:W3CDTF">2026-06-16T04:54:40Z</dcterms:modified>
  <cp:category/>
</cp:coreProperties>
</file>