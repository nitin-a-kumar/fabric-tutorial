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7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7120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7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4C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3334695" y="0"/>
            <a:ext cx="4953305" cy="10287000"/>
          </a:xfrm>
          <a:prstGeom prst="rect">
            <a:avLst/>
          </a:prstGeom>
          <a:solidFill>
            <a:srgbClr val="E36F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gen-dedup-e801ced4d72430ea5a4d650a00b4bdd5.png"/>
          <p:cNvPicPr>
            <a:picLocks noChangeAspect="1"/>
          </p:cNvPicPr>
          <p:nvPr/>
        </p:nvPicPr>
        <p:blipFill>
          <a:blip r:embed="rId3">
            <a:alphaModFix amt="60000"/>
          </a:blip>
          <a:srcRect l="-400" r="-400"/>
          <a:stretch/>
        </p:blipFill>
        <p:spPr>
          <a:xfrm>
            <a:off x="13334695" y="0"/>
            <a:ext cx="19202" cy="10287000"/>
          </a:xfrm>
          <a:prstGeom prst="rect">
            <a:avLst/>
          </a:prstGeom>
        </p:spPr>
      </p:pic>
      <p:pic>
        <p:nvPicPr>
          <p:cNvPr id="5" name="Image 1" descr="gen-dedup-c9bf1e35bfd7e60da4380111a882f8cf.png"/>
          <p:cNvPicPr>
            <a:picLocks noChangeAspect="1"/>
          </p:cNvPicPr>
          <p:nvPr/>
        </p:nvPicPr>
        <p:blipFill>
          <a:blip r:embed="rId4"/>
          <a:srcRect t="-375" b="-375"/>
          <a:stretch/>
        </p:blipFill>
        <p:spPr>
          <a:xfrm>
            <a:off x="1143000" y="838505"/>
            <a:ext cx="609905" cy="38405"/>
          </a:xfrm>
          <a:prstGeom prst="rect">
            <a:avLst/>
          </a:prstGeom>
        </p:spPr>
      </p:pic>
      <p:pic>
        <p:nvPicPr>
          <p:cNvPr id="7" name="Image 3" descr="gen-dedup-46fd4671c43ca8bb74b375fae524ba0f.png"/>
          <p:cNvPicPr>
            <a:picLocks noChangeAspect="1"/>
          </p:cNvPicPr>
          <p:nvPr/>
        </p:nvPicPr>
        <p:blipFill>
          <a:blip r:embed="rId5">
            <a:alphaModFix amt="60000"/>
          </a:blip>
          <a:srcRect t="-400" b="-400"/>
          <a:stretch/>
        </p:blipFill>
        <p:spPr>
          <a:xfrm>
            <a:off x="13811098" y="1476756"/>
            <a:ext cx="457200" cy="19202"/>
          </a:xfrm>
          <a:prstGeom prst="rect">
            <a:avLst/>
          </a:prstGeom>
        </p:spPr>
      </p:pic>
      <p:pic>
        <p:nvPicPr>
          <p:cNvPr id="8" name="Image 4" descr="gen-dedup-73106c69e64f10f08b80d179e8fa11f7.png"/>
          <p:cNvPicPr>
            <a:picLocks noChangeAspect="1"/>
          </p:cNvPicPr>
          <p:nvPr/>
        </p:nvPicPr>
        <p:blipFill>
          <a:blip r:embed="rId6">
            <a:alphaModFix amt="25000"/>
          </a:blip>
          <a:srcRect l="-2089" r="-2089"/>
          <a:stretch/>
        </p:blipFill>
        <p:spPr>
          <a:xfrm>
            <a:off x="13811098" y="3619195"/>
            <a:ext cx="3810305" cy="9144"/>
          </a:xfrm>
          <a:prstGeom prst="rect">
            <a:avLst/>
          </a:prstGeom>
        </p:spPr>
      </p:pic>
      <p:pic>
        <p:nvPicPr>
          <p:cNvPr id="9" name="Image 5" descr="gen-dedup-73106c69e64f10f08b80d179e8fa11f7.png"/>
          <p:cNvPicPr>
            <a:picLocks noChangeAspect="1"/>
          </p:cNvPicPr>
          <p:nvPr/>
        </p:nvPicPr>
        <p:blipFill>
          <a:blip r:embed="rId6">
            <a:alphaModFix amt="25000"/>
          </a:blip>
          <a:srcRect l="-2089" r="-2089"/>
          <a:stretch/>
        </p:blipFill>
        <p:spPr>
          <a:xfrm>
            <a:off x="13811098" y="5715000"/>
            <a:ext cx="3810305" cy="9144"/>
          </a:xfrm>
          <a:prstGeom prst="rect">
            <a:avLst/>
          </a:prstGeom>
        </p:spPr>
      </p:pic>
      <p:sp>
        <p:nvSpPr>
          <p:cNvPr id="11" name="Text 3"/>
          <p:cNvSpPr txBox="1"/>
          <p:nvPr/>
        </p:nvSpPr>
        <p:spPr>
          <a:xfrm>
            <a:off x="1143000" y="1047902"/>
            <a:ext cx="9525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kern="0" spc="363" dirty="0">
                <a:solidFill>
                  <a:srgbClr val="F5C4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&amp; Analytics · Practitioner Briefing</a:t>
            </a:r>
            <a:endParaRPr lang="en-US" sz="1600" dirty="0"/>
          </a:p>
        </p:txBody>
      </p:sp>
      <p:sp>
        <p:nvSpPr>
          <p:cNvPr id="12" name="Text 4"/>
          <p:cNvSpPr txBox="1"/>
          <p:nvPr/>
        </p:nvSpPr>
        <p:spPr>
          <a:xfrm>
            <a:off x="1143000" y="2857500"/>
            <a:ext cx="11811305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i="1" dirty="0">
                <a:solidFill>
                  <a:srgbClr val="F5C451">
                    <a:alpha val="95000"/>
                  </a:srgbClr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 practitioner's brief on modernising enterprise BI —</a:t>
            </a:r>
            <a:endParaRPr lang="en-US" sz="2700" dirty="0"/>
          </a:p>
        </p:txBody>
      </p:sp>
      <p:sp>
        <p:nvSpPr>
          <p:cNvPr id="13" name="Text 5"/>
          <p:cNvSpPr txBox="1"/>
          <p:nvPr/>
        </p:nvSpPr>
        <p:spPr>
          <a:xfrm>
            <a:off x="961491" y="4519879"/>
            <a:ext cx="11811305" cy="3152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900" b="1" kern="0" spc="-451" dirty="0">
                <a:solidFill>
                  <a:srgbClr val="FFFFFF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From </a:t>
            </a:r>
            <a:r>
              <a:rPr lang="en-US" sz="12900" b="1" i="1" kern="0" spc="-451" dirty="0">
                <a:solidFill>
                  <a:srgbClr val="F5C45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SAP BO</a:t>
            </a:r>
            <a:endParaRPr lang="en-US" sz="12900" dirty="0"/>
          </a:p>
          <a:p>
            <a:pPr marL="0" indent="0" algn="l">
              <a:buNone/>
            </a:pPr>
            <a:r>
              <a:rPr lang="en-US" sz="12900" b="1" kern="0" spc="-451" dirty="0">
                <a:solidFill>
                  <a:srgbClr val="FFFFFF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to Power BI /</a:t>
            </a:r>
            <a:r>
              <a:rPr lang="en-US" sz="12900" b="1" i="1" kern="0" spc="-451" dirty="0">
                <a:solidFill>
                  <a:srgbClr val="E36F4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Fabric.</a:t>
            </a:r>
            <a:endParaRPr lang="en-US" sz="12900" dirty="0"/>
          </a:p>
        </p:txBody>
      </p:sp>
      <p:sp>
        <p:nvSpPr>
          <p:cNvPr id="15" name="Text 7"/>
          <p:cNvSpPr txBox="1"/>
          <p:nvPr/>
        </p:nvSpPr>
        <p:spPr>
          <a:xfrm>
            <a:off x="13811098" y="1143000"/>
            <a:ext cx="4191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384" dirty="0">
                <a:solidFill>
                  <a:srgbClr val="FFFFFF">
                    <a:alpha val="9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this deck</a:t>
            </a:r>
            <a:endParaRPr lang="en-US" sz="1200" dirty="0"/>
          </a:p>
        </p:txBody>
      </p:sp>
      <p:sp>
        <p:nvSpPr>
          <p:cNvPr id="16" name="Text 8"/>
          <p:cNvSpPr txBox="1"/>
          <p:nvPr/>
        </p:nvSpPr>
        <p:spPr>
          <a:xfrm>
            <a:off x="13811098" y="2095805"/>
            <a:ext cx="5715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i="1" kern="0" spc="-29" dirty="0">
                <a:solidFill>
                  <a:srgbClr val="F5C45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01</a:t>
            </a:r>
            <a:endParaRPr lang="en-US" sz="2800" dirty="0"/>
          </a:p>
        </p:txBody>
      </p:sp>
      <p:sp>
        <p:nvSpPr>
          <p:cNvPr id="17" name="Text 9"/>
          <p:cNvSpPr txBox="1"/>
          <p:nvPr/>
        </p:nvSpPr>
        <p:spPr>
          <a:xfrm>
            <a:off x="14477695" y="2190902"/>
            <a:ext cx="35250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The speaker</a:t>
            </a:r>
            <a:endParaRPr lang="en-US" sz="2200" dirty="0"/>
          </a:p>
        </p:txBody>
      </p:sp>
      <p:sp>
        <p:nvSpPr>
          <p:cNvPr id="18" name="Text 10"/>
          <p:cNvSpPr txBox="1"/>
          <p:nvPr/>
        </p:nvSpPr>
        <p:spPr>
          <a:xfrm>
            <a:off x="14477695" y="2590495"/>
            <a:ext cx="35250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18+ years across BI, analytics &amp; modern data platforms.</a:t>
            </a:r>
            <a:endParaRPr lang="en-US" sz="1200" dirty="0"/>
          </a:p>
        </p:txBody>
      </p:sp>
      <p:sp>
        <p:nvSpPr>
          <p:cNvPr id="19" name="Text 11"/>
          <p:cNvSpPr txBox="1"/>
          <p:nvPr/>
        </p:nvSpPr>
        <p:spPr>
          <a:xfrm>
            <a:off x="13811098" y="4000500"/>
            <a:ext cx="5715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i="1" kern="0" spc="-29" dirty="0">
                <a:solidFill>
                  <a:srgbClr val="F5C45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02</a:t>
            </a:r>
            <a:endParaRPr lang="en-US" sz="2800" dirty="0"/>
          </a:p>
        </p:txBody>
      </p:sp>
      <p:sp>
        <p:nvSpPr>
          <p:cNvPr id="20" name="Text 12"/>
          <p:cNvSpPr txBox="1"/>
          <p:nvPr/>
        </p:nvSpPr>
        <p:spPr>
          <a:xfrm>
            <a:off x="14477695" y="4095598"/>
            <a:ext cx="395203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Medallion architecture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4477695" y="4496105"/>
            <a:ext cx="35250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→ Bronze → Silver → Gold, end-to-end in Fabric.</a:t>
            </a:r>
            <a:endParaRPr lang="en-US" sz="1200" dirty="0"/>
          </a:p>
        </p:txBody>
      </p:sp>
      <p:sp>
        <p:nvSpPr>
          <p:cNvPr id="22" name="Text 14"/>
          <p:cNvSpPr txBox="1"/>
          <p:nvPr/>
        </p:nvSpPr>
        <p:spPr>
          <a:xfrm>
            <a:off x="13811098" y="6096305"/>
            <a:ext cx="5715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i="1" kern="0" spc="-29" dirty="0">
                <a:solidFill>
                  <a:srgbClr val="F5C45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Text 15"/>
          <p:cNvSpPr txBox="1"/>
          <p:nvPr/>
        </p:nvSpPr>
        <p:spPr>
          <a:xfrm>
            <a:off x="14477695" y="6191402"/>
            <a:ext cx="35250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Seven capabilities</a:t>
            </a:r>
            <a:endParaRPr lang="en-US" sz="2200" dirty="0"/>
          </a:p>
        </p:txBody>
      </p:sp>
      <p:sp>
        <p:nvSpPr>
          <p:cNvPr id="24" name="Text 16"/>
          <p:cNvSpPr txBox="1"/>
          <p:nvPr/>
        </p:nvSpPr>
        <p:spPr>
          <a:xfrm>
            <a:off x="14477695" y="6590995"/>
            <a:ext cx="35250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 · Transform · Orchestrate — what's running in production.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858000" cy="10287000"/>
          </a:xfrm>
          <a:prstGeom prst="rect">
            <a:avLst/>
          </a:prstGeom>
          <a:solidFill>
            <a:srgbClr val="E36F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gen-dedup-85f8e5fec7560c7c83abb2623c4b06fa.png"/>
          <p:cNvPicPr>
            <a:picLocks noChangeAspect="1"/>
          </p:cNvPicPr>
          <p:nvPr/>
        </p:nvPicPr>
        <p:blipFill>
          <a:blip r:embed="rId3"/>
          <a:srcRect l="-400" r="-400"/>
          <a:stretch/>
        </p:blipFill>
        <p:spPr>
          <a:xfrm>
            <a:off x="6858000" y="0"/>
            <a:ext cx="19202" cy="10287000"/>
          </a:xfrm>
          <a:prstGeom prst="rect">
            <a:avLst/>
          </a:prstGeom>
        </p:spPr>
      </p:pic>
      <p:pic>
        <p:nvPicPr>
          <p:cNvPr id="5" name="Image 1" descr="gen-dedup-a4741cffbb7480261516f7d41af67dd2.png"/>
          <p:cNvPicPr>
            <a:picLocks noChangeAspect="1"/>
          </p:cNvPicPr>
          <p:nvPr/>
        </p:nvPicPr>
        <p:blipFill>
          <a:blip r:embed="rId4"/>
          <a:srcRect t="-375" b="-375"/>
          <a:stretch/>
        </p:blipFill>
        <p:spPr>
          <a:xfrm>
            <a:off x="8001000" y="838505"/>
            <a:ext cx="609905" cy="38405"/>
          </a:xfrm>
          <a:prstGeom prst="rect">
            <a:avLst/>
          </a:prstGeom>
        </p:spPr>
      </p:pic>
      <p:pic>
        <p:nvPicPr>
          <p:cNvPr id="6" name="Image 2" descr="gen-dedup-cfc5717e97f52a75e7422c68b6d264a4.png"/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8001000" y="6782105"/>
            <a:ext cx="1143000" cy="2834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9334195"/>
            <a:ext cx="3429000" cy="514807"/>
          </a:xfrm>
          <a:prstGeom prst="roundRect">
            <a:avLst>
              <a:gd name="adj" fmla="val 3730"/>
            </a:avLst>
          </a:prstGeom>
          <a:solidFill>
            <a:srgbClr val="0F4C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001000" y="1047902"/>
            <a:ext cx="9525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kern="0" spc="297" dirty="0">
                <a:solidFill>
                  <a:srgbClr val="0F4C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Speaker Introduction · Data &amp; Analytics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8001000" y="1638605"/>
            <a:ext cx="9906610" cy="2105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0" b="1" kern="0" spc="-156" dirty="0">
                <a:solidFill>
                  <a:srgbClr val="0F4C5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Data Analytics</a:t>
            </a:r>
            <a:endParaRPr lang="en-US" sz="7800" dirty="0"/>
          </a:p>
          <a:p>
            <a:pPr marL="0" indent="0" algn="l">
              <a:buNone/>
            </a:pPr>
            <a:r>
              <a:rPr lang="en-US" sz="7800" b="1" kern="0" spc="-156" dirty="0">
                <a:solidFill>
                  <a:srgbClr val="0F4C5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&amp; BI Leader.</a:t>
            </a:r>
            <a:endParaRPr lang="en-US" sz="7800" dirty="0"/>
          </a:p>
        </p:txBody>
      </p:sp>
      <p:sp>
        <p:nvSpPr>
          <p:cNvPr id="10" name="Text 5"/>
          <p:cNvSpPr txBox="1"/>
          <p:nvPr/>
        </p:nvSpPr>
        <p:spPr>
          <a:xfrm>
            <a:off x="8001000" y="4552798"/>
            <a:ext cx="9715500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1F2937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Eighteen-plus years building scalable data platforms — including SAP BusinessObjects to Power BI and Microsoft Fabric — with a Medallion-architecture backbone.</a:t>
            </a:r>
            <a:endParaRPr lang="en-US" sz="2400" dirty="0"/>
          </a:p>
        </p:txBody>
      </p:sp>
      <p:sp>
        <p:nvSpPr>
          <p:cNvPr id="11" name="Text 6"/>
          <p:cNvSpPr txBox="1"/>
          <p:nvPr/>
        </p:nvSpPr>
        <p:spPr>
          <a:xfrm>
            <a:off x="8001000" y="7162495"/>
            <a:ext cx="3048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23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8001000" y="7401154"/>
            <a:ext cx="3327502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4C5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BI Modernization</a:t>
            </a:r>
            <a:endParaRPr lang="en-US" sz="2500" dirty="0"/>
          </a:p>
        </p:txBody>
      </p:sp>
      <p:sp>
        <p:nvSpPr>
          <p:cNvPr id="13" name="Text 8"/>
          <p:cNvSpPr txBox="1"/>
          <p:nvPr/>
        </p:nvSpPr>
        <p:spPr>
          <a:xfrm>
            <a:off x="8001000" y="7830007"/>
            <a:ext cx="3048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 BO → Power BI · BI strategy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1239805" y="7162495"/>
            <a:ext cx="3048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23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11239805" y="7401154"/>
            <a:ext cx="3048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4C5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MS Fabric</a:t>
            </a:r>
            <a:endParaRPr lang="en-US" sz="2500" dirty="0"/>
          </a:p>
        </p:txBody>
      </p:sp>
      <p:sp>
        <p:nvSpPr>
          <p:cNvPr id="16" name="Text 11"/>
          <p:cNvSpPr txBox="1"/>
          <p:nvPr/>
        </p:nvSpPr>
        <p:spPr>
          <a:xfrm>
            <a:off x="11239805" y="7830007"/>
            <a:ext cx="332110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Medallion architecture · Power BI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4477695" y="7162495"/>
            <a:ext cx="3238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23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Lifecycle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14477695" y="7401154"/>
            <a:ext cx="32388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4C5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End-to-End</a:t>
            </a:r>
            <a:endParaRPr lang="en-US" sz="2500" dirty="0"/>
          </a:p>
        </p:txBody>
      </p:sp>
      <p:sp>
        <p:nvSpPr>
          <p:cNvPr id="19" name="Text 14"/>
          <p:cNvSpPr txBox="1"/>
          <p:nvPr/>
        </p:nvSpPr>
        <p:spPr>
          <a:xfrm>
            <a:off x="14477695" y="7830007"/>
            <a:ext cx="3238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 → POC → production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001000" y="9334195"/>
            <a:ext cx="9525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F4C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Ingestion · Semantic modelling · Advanced analytics · Performance tuning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571500" y="571500"/>
            <a:ext cx="5715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kern="0" spc="528" dirty="0">
                <a:solidFill>
                  <a:srgbClr val="FFFFFF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Years of experience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571500" y="1714500"/>
            <a:ext cx="8572500" cy="4286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0" b="1" kern="0" spc="-1260" dirty="0">
                <a:solidFill>
                  <a:srgbClr val="FFFFFF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18</a:t>
            </a:r>
            <a:r>
              <a:rPr lang="en-US" sz="21000" b="1" kern="0" spc="-1260" dirty="0">
                <a:solidFill>
                  <a:srgbClr val="FFFFFF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+</a:t>
            </a:r>
            <a:endParaRPr lang="en-US" sz="31500" dirty="0"/>
          </a:p>
        </p:txBody>
      </p:sp>
      <p:sp>
        <p:nvSpPr>
          <p:cNvPr id="23" name="Text 18"/>
          <p:cNvSpPr txBox="1"/>
          <p:nvPr/>
        </p:nvSpPr>
        <p:spPr>
          <a:xfrm>
            <a:off x="571500" y="7334402"/>
            <a:ext cx="609630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FFFFFF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“Passionate about building scalable data solutions that enable informed decision-making and deliver business value.”</a:t>
            </a:r>
            <a:endParaRPr lang="en-US" sz="2200" dirty="0"/>
          </a:p>
        </p:txBody>
      </p:sp>
      <p:sp>
        <p:nvSpPr>
          <p:cNvPr id="24" name="Text 19"/>
          <p:cNvSpPr txBox="1"/>
          <p:nvPr/>
        </p:nvSpPr>
        <p:spPr>
          <a:xfrm>
            <a:off x="571500" y="8637422"/>
            <a:ext cx="6096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72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On the work that matters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571500" y="9334195"/>
            <a:ext cx="342900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kern="0" spc="162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500+ REPORTS MIGRATED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17335195" y="9715500"/>
            <a:ext cx="5715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F4C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01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gen-dedup-dea394f699c29b6082e746d375da625b.png"/>
          <p:cNvPicPr>
            <a:picLocks noChangeAspect="1"/>
          </p:cNvPicPr>
          <p:nvPr/>
        </p:nvPicPr>
        <p:blipFill>
          <a:blip r:embed="rId3">
            <a:alphaModFix amt="25000"/>
          </a:blip>
          <a:srcRect t="-400" b="-400"/>
          <a:stretch/>
        </p:blipFill>
        <p:spPr>
          <a:xfrm>
            <a:off x="2286000" y="5048402"/>
            <a:ext cx="14859000" cy="19202"/>
          </a:xfrm>
          <a:prstGeom prst="rect">
            <a:avLst/>
          </a:prstGeom>
        </p:spPr>
      </p:pic>
      <p:pic>
        <p:nvPicPr>
          <p:cNvPr id="4" name="Image 1" descr="gen-dedup-c9bf1e35bfd7e60da4380111a882f8cf.png"/>
          <p:cNvPicPr>
            <a:picLocks noChangeAspect="1"/>
          </p:cNvPicPr>
          <p:nvPr/>
        </p:nvPicPr>
        <p:blipFill>
          <a:blip r:embed="rId4"/>
          <a:srcRect t="-375" b="-375"/>
          <a:stretch/>
        </p:blipFill>
        <p:spPr>
          <a:xfrm>
            <a:off x="1143000" y="838505"/>
            <a:ext cx="609905" cy="3840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143000" y="4095598"/>
            <a:ext cx="3619195" cy="4953305"/>
          </a:xfrm>
          <a:prstGeom prst="roundRect">
            <a:avLst>
              <a:gd name="adj" fmla="val 10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25400" dir="16200000" algn="bl" rotWithShape="0">
              <a:srgbClr val="0F4C5C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2"/>
          <p:cNvSpPr/>
          <p:nvPr/>
        </p:nvSpPr>
        <p:spPr>
          <a:xfrm>
            <a:off x="5143500" y="4095598"/>
            <a:ext cx="3619195" cy="4953305"/>
          </a:xfrm>
          <a:prstGeom prst="roundRect">
            <a:avLst>
              <a:gd name="adj" fmla="val 10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25400" dir="16200000" algn="bl" rotWithShape="0">
              <a:srgbClr val="B45309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3"/>
          <p:cNvSpPr/>
          <p:nvPr/>
        </p:nvSpPr>
        <p:spPr>
          <a:xfrm>
            <a:off x="9144000" y="4095598"/>
            <a:ext cx="3619195" cy="4953305"/>
          </a:xfrm>
          <a:prstGeom prst="roundRect">
            <a:avLst>
              <a:gd name="adj" fmla="val 10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25400" dir="16200000" algn="bl" rotWithShape="0">
              <a:srgbClr val="6B728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4"/>
          <p:cNvSpPr/>
          <p:nvPr/>
        </p:nvSpPr>
        <p:spPr>
          <a:xfrm>
            <a:off x="13144500" y="4095598"/>
            <a:ext cx="3619195" cy="4953305"/>
          </a:xfrm>
          <a:prstGeom prst="roundRect">
            <a:avLst>
              <a:gd name="adj" fmla="val 10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25400" dir="16200000" algn="bl" rotWithShape="0">
              <a:srgbClr val="B8860B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2" descr="gen-dedup-cfc5717e97f52a75e7422c68b6d264a4.png"/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1143000" y="9525305"/>
            <a:ext cx="1143000" cy="2834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762402" y="4762195"/>
            <a:ext cx="571500" cy="5715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3" descr="gen-dedup-9d6907a1b3f4942d27b879de9c00d2ba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1429207" y="6858000"/>
            <a:ext cx="457200" cy="19202"/>
          </a:xfrm>
          <a:prstGeom prst="rect">
            <a:avLst/>
          </a:prstGeom>
        </p:spPr>
      </p:pic>
      <p:pic>
        <p:nvPicPr>
          <p:cNvPr id="12" name="Image 4" descr="gen-dedup-e85147320a7bed96bee90d5194781e06.png"/>
          <p:cNvPicPr>
            <a:picLocks noChangeAspect="1"/>
          </p:cNvPicPr>
          <p:nvPr/>
        </p:nvPicPr>
        <p:blipFill>
          <a:blip r:embed="rId7"/>
          <a:srcRect t="-404" b="-404"/>
          <a:stretch/>
        </p:blipFill>
        <p:spPr>
          <a:xfrm>
            <a:off x="5143500" y="4095598"/>
            <a:ext cx="3619195" cy="57607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6762902" y="4762195"/>
            <a:ext cx="571500" cy="5715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5" descr="gen-dedup-5b03225e8c805d2b1f410554ac18dc21.png"/>
          <p:cNvPicPr>
            <a:picLocks noChangeAspect="1"/>
          </p:cNvPicPr>
          <p:nvPr/>
        </p:nvPicPr>
        <p:blipFill>
          <a:blip r:embed="rId8"/>
          <a:srcRect t="-400" b="-400"/>
          <a:stretch/>
        </p:blipFill>
        <p:spPr>
          <a:xfrm>
            <a:off x="5429707" y="6858000"/>
            <a:ext cx="457200" cy="19202"/>
          </a:xfrm>
          <a:prstGeom prst="rect">
            <a:avLst/>
          </a:prstGeom>
        </p:spPr>
      </p:pic>
      <p:pic>
        <p:nvPicPr>
          <p:cNvPr id="15" name="Image 6" descr="gen-dedup-5057e2632bcd3c280bde5bbd8eaec235.png"/>
          <p:cNvPicPr>
            <a:picLocks noChangeAspect="1"/>
          </p:cNvPicPr>
          <p:nvPr/>
        </p:nvPicPr>
        <p:blipFill>
          <a:blip r:embed="rId9"/>
          <a:srcRect t="-404" b="-404"/>
          <a:stretch/>
        </p:blipFill>
        <p:spPr>
          <a:xfrm>
            <a:off x="9144000" y="4095598"/>
            <a:ext cx="3619195" cy="57607"/>
          </a:xfrm>
          <a:prstGeom prst="rect">
            <a:avLst/>
          </a:prstGeom>
        </p:spPr>
      </p:pic>
      <p:sp>
        <p:nvSpPr>
          <p:cNvPr id="16" name="Shape 7"/>
          <p:cNvSpPr/>
          <p:nvPr/>
        </p:nvSpPr>
        <p:spPr>
          <a:xfrm>
            <a:off x="10763402" y="4762195"/>
            <a:ext cx="571500" cy="57150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7" descr="gen-dedup-49cb6718b726b710d65b529807b06620.png"/>
          <p:cNvPicPr>
            <a:picLocks noChangeAspect="1"/>
          </p:cNvPicPr>
          <p:nvPr/>
        </p:nvPicPr>
        <p:blipFill>
          <a:blip r:embed="rId10"/>
          <a:srcRect t="-400" b="-400"/>
          <a:stretch/>
        </p:blipFill>
        <p:spPr>
          <a:xfrm>
            <a:off x="9430207" y="6858000"/>
            <a:ext cx="457200" cy="19202"/>
          </a:xfrm>
          <a:prstGeom prst="rect">
            <a:avLst/>
          </a:prstGeom>
        </p:spPr>
      </p:pic>
      <p:pic>
        <p:nvPicPr>
          <p:cNvPr id="18" name="Image 8" descr="gen-dedup-af47e23ddd66570f97944ca762589531.png"/>
          <p:cNvPicPr>
            <a:picLocks noChangeAspect="1"/>
          </p:cNvPicPr>
          <p:nvPr/>
        </p:nvPicPr>
        <p:blipFill>
          <a:blip r:embed="rId11"/>
          <a:srcRect t="-404" b="-404"/>
          <a:stretch/>
        </p:blipFill>
        <p:spPr>
          <a:xfrm>
            <a:off x="13144500" y="4095598"/>
            <a:ext cx="3619195" cy="57607"/>
          </a:xfrm>
          <a:prstGeom prst="rect">
            <a:avLst/>
          </a:prstGeom>
        </p:spPr>
      </p:pic>
      <p:sp>
        <p:nvSpPr>
          <p:cNvPr id="19" name="Shape 8"/>
          <p:cNvSpPr/>
          <p:nvPr/>
        </p:nvSpPr>
        <p:spPr>
          <a:xfrm>
            <a:off x="14763902" y="4762195"/>
            <a:ext cx="571500" cy="57150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9" descr="gen-dedup-c1049baf499f8d6a2aa39fa91946bba6.png"/>
          <p:cNvPicPr>
            <a:picLocks noChangeAspect="1"/>
          </p:cNvPicPr>
          <p:nvPr/>
        </p:nvPicPr>
        <p:blipFill>
          <a:blip r:embed="rId12"/>
          <a:srcRect t="-400" b="-400"/>
          <a:stretch/>
        </p:blipFill>
        <p:spPr>
          <a:xfrm>
            <a:off x="13430707" y="6858000"/>
            <a:ext cx="457200" cy="19202"/>
          </a:xfrm>
          <a:prstGeom prst="rect">
            <a:avLst/>
          </a:prstGeom>
        </p:spPr>
      </p:pic>
      <p:sp>
        <p:nvSpPr>
          <p:cNvPr id="21" name="Text 9"/>
          <p:cNvSpPr txBox="1"/>
          <p:nvPr/>
        </p:nvSpPr>
        <p:spPr>
          <a:xfrm>
            <a:off x="1143000" y="1047902"/>
            <a:ext cx="9525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kern="0" spc="297" dirty="0">
                <a:solidFill>
                  <a:srgbClr val="0F4C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Microsoft Fabric · Implementation Approach</a:t>
            </a:r>
            <a:endParaRPr lang="en-US" sz="1600" dirty="0"/>
          </a:p>
        </p:txBody>
      </p:sp>
      <p:sp>
        <p:nvSpPr>
          <p:cNvPr id="22" name="Text 10"/>
          <p:cNvSpPr txBox="1"/>
          <p:nvPr/>
        </p:nvSpPr>
        <p:spPr>
          <a:xfrm>
            <a:off x="16192195" y="1047902"/>
            <a:ext cx="1714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F4C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02</a:t>
            </a:r>
            <a:endParaRPr lang="en-US" sz="1300" dirty="0"/>
          </a:p>
        </p:txBody>
      </p:sp>
      <p:sp>
        <p:nvSpPr>
          <p:cNvPr id="23" name="Text 11"/>
          <p:cNvSpPr txBox="1"/>
          <p:nvPr/>
        </p:nvSpPr>
        <p:spPr>
          <a:xfrm>
            <a:off x="1143000" y="1619402"/>
            <a:ext cx="160020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0F4C5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Medallion architecture, </a:t>
            </a:r>
            <a:r>
              <a:rPr lang="en-US" sz="5400" b="1" i="1" kern="0" spc="-108" dirty="0">
                <a:solidFill>
                  <a:srgbClr val="E36F4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end-to-end.</a:t>
            </a:r>
            <a:endParaRPr lang="en-US" sz="5400" dirty="0"/>
          </a:p>
        </p:txBody>
      </p:sp>
      <p:sp>
        <p:nvSpPr>
          <p:cNvPr id="24" name="Text 12"/>
          <p:cNvSpPr txBox="1"/>
          <p:nvPr/>
        </p:nvSpPr>
        <p:spPr>
          <a:xfrm>
            <a:off x="1143000" y="2762402"/>
            <a:ext cx="1600200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1F2937">
                    <a:alpha val="78000"/>
                  </a:srgbClr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From a GitHub-versioned source through Bronze raw, Silver modelled, and Gold business-ready — one repeatable pipeline pattern in Microsoft Fabric.</a:t>
            </a:r>
            <a:endParaRPr lang="en-US" sz="2100" dirty="0"/>
          </a:p>
        </p:txBody>
      </p:sp>
      <p:sp>
        <p:nvSpPr>
          <p:cNvPr id="25" name="Text 13"/>
          <p:cNvSpPr txBox="1"/>
          <p:nvPr/>
        </p:nvSpPr>
        <p:spPr>
          <a:xfrm>
            <a:off x="2762402" y="4762195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00</a:t>
            </a:r>
            <a:endParaRPr lang="en-US" sz="1600" dirty="0"/>
          </a:p>
        </p:txBody>
      </p:sp>
      <p:sp>
        <p:nvSpPr>
          <p:cNvPr id="26" name="Text 14"/>
          <p:cNvSpPr txBox="1"/>
          <p:nvPr/>
        </p:nvSpPr>
        <p:spPr>
          <a:xfrm>
            <a:off x="1429207" y="4381805"/>
            <a:ext cx="3048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231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</a:t>
            </a:r>
            <a:endParaRPr lang="en-US" sz="1000" dirty="0"/>
          </a:p>
        </p:txBody>
      </p:sp>
      <p:sp>
        <p:nvSpPr>
          <p:cNvPr id="27" name="Text 15"/>
          <p:cNvSpPr txBox="1"/>
          <p:nvPr/>
        </p:nvSpPr>
        <p:spPr>
          <a:xfrm>
            <a:off x="1429207" y="5572354"/>
            <a:ext cx="3048610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33" dirty="0">
                <a:solidFill>
                  <a:srgbClr val="0F4C5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GitHub</a:t>
            </a:r>
            <a:endParaRPr lang="en-US" sz="3300" dirty="0"/>
          </a:p>
          <a:p>
            <a:pPr marL="0" indent="0" algn="l">
              <a:buNone/>
            </a:pPr>
            <a:r>
              <a:rPr lang="en-US" sz="3300" b="1" kern="0" spc="-33" dirty="0">
                <a:solidFill>
                  <a:srgbClr val="0F4C5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Repository</a:t>
            </a:r>
            <a:endParaRPr lang="en-US" sz="3300" dirty="0"/>
          </a:p>
        </p:txBody>
      </p:sp>
      <p:sp>
        <p:nvSpPr>
          <p:cNvPr id="28" name="Text 16"/>
          <p:cNvSpPr txBox="1"/>
          <p:nvPr/>
        </p:nvSpPr>
        <p:spPr>
          <a:xfrm>
            <a:off x="1429207" y="7095744"/>
            <a:ext cx="30486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Version-controlled assets &amp; pipeline definitions feeding the platform.</a:t>
            </a:r>
            <a:endParaRPr lang="en-US" sz="1300" dirty="0"/>
          </a:p>
        </p:txBody>
      </p:sp>
      <p:sp>
        <p:nvSpPr>
          <p:cNvPr id="29" name="Text 17"/>
          <p:cNvSpPr txBox="1"/>
          <p:nvPr/>
        </p:nvSpPr>
        <p:spPr>
          <a:xfrm>
            <a:off x="1429207" y="8429854"/>
            <a:ext cx="3048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37" dirty="0">
                <a:solidFill>
                  <a:srgbClr val="0F4C5C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Single source of truth</a:t>
            </a:r>
            <a:endParaRPr lang="en-US" sz="900" dirty="0"/>
          </a:p>
        </p:txBody>
      </p:sp>
      <p:sp>
        <p:nvSpPr>
          <p:cNvPr id="30" name="Text 18"/>
          <p:cNvSpPr txBox="1"/>
          <p:nvPr/>
        </p:nvSpPr>
        <p:spPr>
          <a:xfrm>
            <a:off x="6762902" y="4762195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600" dirty="0"/>
          </a:p>
        </p:txBody>
      </p:sp>
      <p:sp>
        <p:nvSpPr>
          <p:cNvPr id="31" name="Text 19"/>
          <p:cNvSpPr txBox="1"/>
          <p:nvPr/>
        </p:nvSpPr>
        <p:spPr>
          <a:xfrm>
            <a:off x="5429707" y="4381805"/>
            <a:ext cx="3048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231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Bronze · Raw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5429707" y="5572354"/>
            <a:ext cx="3048610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33" dirty="0">
                <a:solidFill>
                  <a:srgbClr val="0F4C5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Pipeline</a:t>
            </a:r>
            <a:endParaRPr lang="en-US" sz="3300" dirty="0"/>
          </a:p>
          <a:p>
            <a:pPr marL="0" indent="0" algn="l">
              <a:buNone/>
            </a:pPr>
            <a:r>
              <a:rPr lang="en-US" sz="3300" b="1" kern="0" spc="-33" dirty="0">
                <a:solidFill>
                  <a:srgbClr val="0F4C5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orchestration</a:t>
            </a:r>
            <a:endParaRPr lang="en-US" sz="3300" dirty="0"/>
          </a:p>
        </p:txBody>
      </p:sp>
      <p:sp>
        <p:nvSpPr>
          <p:cNvPr id="33" name="Text 21"/>
          <p:cNvSpPr txBox="1"/>
          <p:nvPr/>
        </p:nvSpPr>
        <p:spPr>
          <a:xfrm>
            <a:off x="5429707" y="7095744"/>
            <a:ext cx="30486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control file · Lookup activity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For-Each loop · Dynamic copy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Dataflow Gen2 · Load to Silver</a:t>
            </a:r>
            <a:endParaRPr lang="en-US" sz="1300" dirty="0"/>
          </a:p>
        </p:txBody>
      </p:sp>
      <p:sp>
        <p:nvSpPr>
          <p:cNvPr id="34" name="Text 22"/>
          <p:cNvSpPr txBox="1"/>
          <p:nvPr/>
        </p:nvSpPr>
        <p:spPr>
          <a:xfrm>
            <a:off x="5429707" y="8429854"/>
            <a:ext cx="3048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37" dirty="0">
                <a:solidFill>
                  <a:srgbClr val="B45309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Land as-is, lineage intact</a:t>
            </a:r>
            <a:endParaRPr lang="en-US" sz="900" dirty="0"/>
          </a:p>
        </p:txBody>
      </p:sp>
      <p:sp>
        <p:nvSpPr>
          <p:cNvPr id="35" name="Text 23"/>
          <p:cNvSpPr txBox="1"/>
          <p:nvPr/>
        </p:nvSpPr>
        <p:spPr>
          <a:xfrm>
            <a:off x="10763402" y="4762195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600" dirty="0"/>
          </a:p>
        </p:txBody>
      </p:sp>
      <p:sp>
        <p:nvSpPr>
          <p:cNvPr id="36" name="Text 24"/>
          <p:cNvSpPr txBox="1"/>
          <p:nvPr/>
        </p:nvSpPr>
        <p:spPr>
          <a:xfrm>
            <a:off x="9430207" y="4381805"/>
            <a:ext cx="3048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231" dirty="0">
                <a:solidFill>
                  <a:srgbClr val="3741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Silver · Modelled</a:t>
            </a:r>
            <a:endParaRPr lang="en-US" sz="1000" dirty="0"/>
          </a:p>
        </p:txBody>
      </p:sp>
      <p:sp>
        <p:nvSpPr>
          <p:cNvPr id="37" name="Text 25"/>
          <p:cNvSpPr txBox="1"/>
          <p:nvPr/>
        </p:nvSpPr>
        <p:spPr>
          <a:xfrm>
            <a:off x="9430207" y="5572354"/>
            <a:ext cx="3048610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33" dirty="0">
                <a:solidFill>
                  <a:srgbClr val="0F4C5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PySpark</a:t>
            </a:r>
            <a:endParaRPr lang="en-US" sz="3300" dirty="0"/>
          </a:p>
          <a:p>
            <a:pPr marL="0" indent="0" algn="l">
              <a:buNone/>
            </a:pPr>
            <a:r>
              <a:rPr lang="en-US" sz="3300" b="1" kern="0" spc="-33" dirty="0">
                <a:solidFill>
                  <a:srgbClr val="0F4C5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notebooks</a:t>
            </a:r>
            <a:endParaRPr lang="en-US" sz="3300" dirty="0"/>
          </a:p>
        </p:txBody>
      </p:sp>
      <p:sp>
        <p:nvSpPr>
          <p:cNvPr id="38" name="Text 26"/>
          <p:cNvSpPr txBox="1"/>
          <p:nvPr/>
        </p:nvSpPr>
        <p:spPr>
          <a:xfrm>
            <a:off x="9430207" y="7095744"/>
            <a:ext cx="30486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Cleansing · Business transforms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 quality · Standardisation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Delta-table creation</a:t>
            </a:r>
            <a:endParaRPr lang="en-US" sz="1300" dirty="0"/>
          </a:p>
        </p:txBody>
      </p:sp>
      <p:sp>
        <p:nvSpPr>
          <p:cNvPr id="39" name="Text 27"/>
          <p:cNvSpPr txBox="1"/>
          <p:nvPr/>
        </p:nvSpPr>
        <p:spPr>
          <a:xfrm>
            <a:off x="9430207" y="8429854"/>
            <a:ext cx="3048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37" dirty="0">
                <a:solidFill>
                  <a:srgbClr val="374151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Clean &amp; conformed</a:t>
            </a:r>
            <a:endParaRPr lang="en-US" sz="900" dirty="0"/>
          </a:p>
        </p:txBody>
      </p:sp>
      <p:sp>
        <p:nvSpPr>
          <p:cNvPr id="40" name="Text 28"/>
          <p:cNvSpPr txBox="1"/>
          <p:nvPr/>
        </p:nvSpPr>
        <p:spPr>
          <a:xfrm>
            <a:off x="14763902" y="4762195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600" dirty="0"/>
          </a:p>
        </p:txBody>
      </p:sp>
      <p:sp>
        <p:nvSpPr>
          <p:cNvPr id="41" name="Text 29"/>
          <p:cNvSpPr txBox="1"/>
          <p:nvPr/>
        </p:nvSpPr>
        <p:spPr>
          <a:xfrm>
            <a:off x="13430707" y="4381805"/>
            <a:ext cx="3048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231" dirty="0">
                <a:solidFill>
                  <a:srgbClr val="B886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Gold · Business-ready</a:t>
            </a:r>
            <a:endParaRPr lang="en-US" sz="1000" dirty="0"/>
          </a:p>
        </p:txBody>
      </p:sp>
      <p:sp>
        <p:nvSpPr>
          <p:cNvPr id="42" name="Text 30"/>
          <p:cNvSpPr txBox="1"/>
          <p:nvPr/>
        </p:nvSpPr>
        <p:spPr>
          <a:xfrm>
            <a:off x="13430707" y="5572354"/>
            <a:ext cx="3048610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33" dirty="0">
                <a:solidFill>
                  <a:srgbClr val="0F4C5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T-SQL</a:t>
            </a:r>
            <a:endParaRPr lang="en-US" sz="3300" dirty="0"/>
          </a:p>
          <a:p>
            <a:pPr marL="0" indent="0" algn="l">
              <a:buNone/>
            </a:pPr>
            <a:r>
              <a:rPr lang="en-US" sz="3300" b="1" kern="0" spc="-33" dirty="0">
                <a:solidFill>
                  <a:srgbClr val="0F4C5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transformation</a:t>
            </a:r>
            <a:endParaRPr lang="en-US" sz="3300" dirty="0"/>
          </a:p>
        </p:txBody>
      </p:sp>
      <p:sp>
        <p:nvSpPr>
          <p:cNvPr id="43" name="Text 31"/>
          <p:cNvSpPr txBox="1"/>
          <p:nvPr/>
        </p:nvSpPr>
        <p:spPr>
          <a:xfrm>
            <a:off x="13430707" y="7095744"/>
            <a:ext cx="30486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 &amp; dimension modelling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Aggregations · KPI calculations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Reporting tables for Power BI</a:t>
            </a:r>
            <a:endParaRPr lang="en-US" sz="1300" dirty="0"/>
          </a:p>
        </p:txBody>
      </p:sp>
      <p:sp>
        <p:nvSpPr>
          <p:cNvPr id="44" name="Text 32"/>
          <p:cNvSpPr txBox="1"/>
          <p:nvPr/>
        </p:nvSpPr>
        <p:spPr>
          <a:xfrm>
            <a:off x="13430707" y="8429854"/>
            <a:ext cx="3048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37" dirty="0">
                <a:solidFill>
                  <a:srgbClr val="B8860B">
                    <a:alpha val="9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Decision-ready</a:t>
            </a:r>
            <a:endParaRPr lang="en-US" sz="900" dirty="0"/>
          </a:p>
        </p:txBody>
      </p:sp>
      <p:sp>
        <p:nvSpPr>
          <p:cNvPr id="45" name="Text 33"/>
          <p:cNvSpPr txBox="1"/>
          <p:nvPr/>
        </p:nvSpPr>
        <p:spPr>
          <a:xfrm>
            <a:off x="1143000" y="9715500"/>
            <a:ext cx="16002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F4C5C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pattern, repeatable across domains — versioned in Git, orchestrated in Fabric, served to Power BI.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gen-dedup-c9bf1e35bfd7e60da4380111a882f8cf.png"/>
          <p:cNvPicPr>
            <a:picLocks noChangeAspect="1"/>
          </p:cNvPicPr>
          <p:nvPr/>
        </p:nvPicPr>
        <p:blipFill>
          <a:blip r:embed="rId3"/>
          <a:srcRect t="-375" b="-375"/>
          <a:stretch/>
        </p:blipFill>
        <p:spPr>
          <a:xfrm>
            <a:off x="1143000" y="838505"/>
            <a:ext cx="609905" cy="38405"/>
          </a:xfrm>
          <a:prstGeom prst="rect">
            <a:avLst/>
          </a:prstGeom>
        </p:spPr>
      </p:pic>
      <p:pic>
        <p:nvPicPr>
          <p:cNvPr id="4" name="Image 1" descr="gen-dedup-95ba997e37275fcc7bf4594caf3f446d.png"/>
          <p:cNvPicPr>
            <a:picLocks noChangeAspect="1"/>
          </p:cNvPicPr>
          <p:nvPr/>
        </p:nvPicPr>
        <p:blipFill>
          <a:blip r:embed="rId4"/>
          <a:srcRect t="-403" b="-403"/>
          <a:stretch/>
        </p:blipFill>
        <p:spPr>
          <a:xfrm>
            <a:off x="1143000" y="3981298"/>
            <a:ext cx="5333695" cy="19202"/>
          </a:xfrm>
          <a:prstGeom prst="rect">
            <a:avLst/>
          </a:prstGeom>
        </p:spPr>
      </p:pic>
      <p:pic>
        <p:nvPicPr>
          <p:cNvPr id="5" name="Image 2" descr="gen-dedup-f6b3e949d88c9ce41ef6e32bd15dae72.png"/>
          <p:cNvPicPr>
            <a:picLocks noChangeAspect="1"/>
          </p:cNvPicPr>
          <p:nvPr/>
        </p:nvPicPr>
        <p:blipFill>
          <a:blip r:embed="rId5"/>
          <a:srcRect t="-403" b="-403"/>
          <a:stretch/>
        </p:blipFill>
        <p:spPr>
          <a:xfrm>
            <a:off x="6858000" y="3981298"/>
            <a:ext cx="5333695" cy="19202"/>
          </a:xfrm>
          <a:prstGeom prst="rect">
            <a:avLst/>
          </a:prstGeom>
        </p:spPr>
      </p:pic>
      <p:pic>
        <p:nvPicPr>
          <p:cNvPr id="6" name="Image 3" descr="gen-dedup-604a78bee7028d5bec6f0e66ac1e6ca6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12573000" y="3981298"/>
            <a:ext cx="4572000" cy="19202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12573000" y="4286707"/>
            <a:ext cx="4572000" cy="4496105"/>
          </a:xfrm>
          <a:prstGeom prst="roundRect">
            <a:avLst>
              <a:gd name="adj" fmla="val 854"/>
            </a:avLst>
          </a:prstGeom>
          <a:solidFill>
            <a:srgbClr val="0F4C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4" descr="gen-dedup-cfc5717e97f52a75e7422c68b6d264a4.png"/>
          <p:cNvPicPr>
            <a:picLocks noChangeAspect="1"/>
          </p:cNvPicPr>
          <p:nvPr/>
        </p:nvPicPr>
        <p:blipFill>
          <a:blip r:embed="rId7"/>
          <a:srcRect l="-404" r="-404"/>
          <a:stretch/>
        </p:blipFill>
        <p:spPr>
          <a:xfrm>
            <a:off x="1143000" y="9525305"/>
            <a:ext cx="1143000" cy="28346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14859000" y="4724705"/>
            <a:ext cx="2095805" cy="323698"/>
          </a:xfrm>
          <a:prstGeom prst="roundRect">
            <a:avLst>
              <a:gd name="adj" fmla="val 5932"/>
            </a:avLst>
          </a:prstGeom>
          <a:solidFill>
            <a:srgbClr val="E36F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5" descr="gen-dedup-9d6907a1b3f4942d27b879de9c00d2ba.png"/>
          <p:cNvPicPr>
            <a:picLocks noChangeAspect="1"/>
          </p:cNvPicPr>
          <p:nvPr/>
        </p:nvPicPr>
        <p:blipFill>
          <a:blip r:embed="rId8"/>
          <a:srcRect t="-400" b="-400"/>
          <a:stretch/>
        </p:blipFill>
        <p:spPr>
          <a:xfrm>
            <a:off x="12877495" y="7391095"/>
            <a:ext cx="457200" cy="19202"/>
          </a:xfrm>
          <a:prstGeom prst="rect">
            <a:avLst/>
          </a:prstGeom>
        </p:spPr>
      </p:pic>
      <p:sp>
        <p:nvSpPr>
          <p:cNvPr id="11" name="Text 3"/>
          <p:cNvSpPr txBox="1"/>
          <p:nvPr/>
        </p:nvSpPr>
        <p:spPr>
          <a:xfrm>
            <a:off x="1143000" y="1047902"/>
            <a:ext cx="9525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kern="0" spc="297" dirty="0">
                <a:solidFill>
                  <a:srgbClr val="0F4C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What the platform delivers</a:t>
            </a:r>
            <a:endParaRPr lang="en-US" sz="1600" dirty="0"/>
          </a:p>
        </p:txBody>
      </p:sp>
      <p:sp>
        <p:nvSpPr>
          <p:cNvPr id="12" name="Text 4"/>
          <p:cNvSpPr txBox="1"/>
          <p:nvPr/>
        </p:nvSpPr>
        <p:spPr>
          <a:xfrm>
            <a:off x="16192195" y="1047902"/>
            <a:ext cx="1714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F4C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03</a:t>
            </a:r>
            <a:endParaRPr lang="en-US" sz="1300" dirty="0"/>
          </a:p>
        </p:txBody>
      </p:sp>
      <p:sp>
        <p:nvSpPr>
          <p:cNvPr id="13" name="Text 5"/>
          <p:cNvSpPr txBox="1"/>
          <p:nvPr/>
        </p:nvSpPr>
        <p:spPr>
          <a:xfrm>
            <a:off x="1143000" y="1619402"/>
            <a:ext cx="160020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0F4C5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Seven capabilities, </a:t>
            </a:r>
            <a:r>
              <a:rPr lang="en-US" sz="5400" b="1" i="1" kern="0" spc="-108" dirty="0">
                <a:solidFill>
                  <a:srgbClr val="E36F4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delivered.</a:t>
            </a:r>
            <a:endParaRPr lang="en-US" sz="5400" dirty="0"/>
          </a:p>
        </p:txBody>
      </p:sp>
      <p:sp>
        <p:nvSpPr>
          <p:cNvPr id="14" name="Text 6"/>
          <p:cNvSpPr txBox="1"/>
          <p:nvPr/>
        </p:nvSpPr>
        <p:spPr>
          <a:xfrm>
            <a:off x="1143000" y="2743200"/>
            <a:ext cx="166878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1F2937">
                    <a:alpha val="78000"/>
                  </a:srgbClr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From JSON-driven ingestion to fail-safe end-to-end orchestration — the production capabilities live in this Fabric implementation.</a:t>
            </a:r>
            <a:endParaRPr lang="en-US" sz="1900" dirty="0"/>
          </a:p>
        </p:txBody>
      </p:sp>
      <p:sp>
        <p:nvSpPr>
          <p:cNvPr id="15" name="Text 7"/>
          <p:cNvSpPr txBox="1"/>
          <p:nvPr/>
        </p:nvSpPr>
        <p:spPr>
          <a:xfrm>
            <a:off x="1143000" y="3715207"/>
            <a:ext cx="5334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252" dirty="0">
                <a:solidFill>
                  <a:srgbClr val="E36F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Ingest &amp; Pattern</a:t>
            </a:r>
            <a:endParaRPr lang="en-US" sz="1000" dirty="0"/>
          </a:p>
        </p:txBody>
      </p:sp>
      <p:sp>
        <p:nvSpPr>
          <p:cNvPr id="16" name="Text 8"/>
          <p:cNvSpPr txBox="1"/>
          <p:nvPr/>
        </p:nvSpPr>
        <p:spPr>
          <a:xfrm>
            <a:off x="6858000" y="3715207"/>
            <a:ext cx="5334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252" dirty="0">
                <a:solidFill>
                  <a:srgbClr val="0F4C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Transform &amp; Model</a:t>
            </a:r>
            <a:endParaRPr lang="en-US" sz="1000" dirty="0"/>
          </a:p>
        </p:txBody>
      </p:sp>
      <p:sp>
        <p:nvSpPr>
          <p:cNvPr id="17" name="Text 9"/>
          <p:cNvSpPr txBox="1"/>
          <p:nvPr/>
        </p:nvSpPr>
        <p:spPr>
          <a:xfrm>
            <a:off x="12573000" y="3715207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252" dirty="0">
                <a:solidFill>
                  <a:srgbClr val="B886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Orchestrate &amp; Operate</a:t>
            </a:r>
            <a:endParaRPr lang="en-US" sz="1000" dirty="0"/>
          </a:p>
        </p:txBody>
      </p:sp>
      <p:sp>
        <p:nvSpPr>
          <p:cNvPr id="18" name="Text 10"/>
          <p:cNvSpPr txBox="1"/>
          <p:nvPr/>
        </p:nvSpPr>
        <p:spPr>
          <a:xfrm>
            <a:off x="1143000" y="4267505"/>
            <a:ext cx="857707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i="1" kern="0" spc="-84" dirty="0">
                <a:solidFill>
                  <a:srgbClr val="E36F4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01</a:t>
            </a:r>
            <a:endParaRPr lang="en-US" sz="4200" dirty="0"/>
          </a:p>
        </p:txBody>
      </p:sp>
      <p:sp>
        <p:nvSpPr>
          <p:cNvPr id="19" name="Text 11"/>
          <p:cNvSpPr txBox="1"/>
          <p:nvPr/>
        </p:nvSpPr>
        <p:spPr>
          <a:xfrm>
            <a:off x="2095805" y="4324198"/>
            <a:ext cx="43818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0F4C5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Dynamic file ingestion from GitHub</a:t>
            </a:r>
            <a:endParaRPr lang="en-US" sz="2200" dirty="0"/>
          </a:p>
        </p:txBody>
      </p:sp>
      <p:sp>
        <p:nvSpPr>
          <p:cNvPr id="20" name="Text 12"/>
          <p:cNvSpPr txBox="1"/>
          <p:nvPr/>
        </p:nvSpPr>
        <p:spPr>
          <a:xfrm>
            <a:off x="2095805" y="5105095"/>
            <a:ext cx="4381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JSON-driven metadata makes every new source a config change, not a code change.</a:t>
            </a:r>
            <a:endParaRPr lang="en-US" sz="1300" dirty="0"/>
          </a:p>
        </p:txBody>
      </p:sp>
      <p:sp>
        <p:nvSpPr>
          <p:cNvPr id="21" name="Text 13"/>
          <p:cNvSpPr txBox="1"/>
          <p:nvPr/>
        </p:nvSpPr>
        <p:spPr>
          <a:xfrm>
            <a:off x="1143000" y="5867705"/>
            <a:ext cx="857707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i="1" kern="0" spc="-84" dirty="0">
                <a:solidFill>
                  <a:srgbClr val="E36F4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02</a:t>
            </a:r>
            <a:endParaRPr lang="en-US" sz="4200" dirty="0"/>
          </a:p>
        </p:txBody>
      </p:sp>
      <p:sp>
        <p:nvSpPr>
          <p:cNvPr id="22" name="Text 14"/>
          <p:cNvSpPr txBox="1"/>
          <p:nvPr/>
        </p:nvSpPr>
        <p:spPr>
          <a:xfrm>
            <a:off x="2095805" y="5924398"/>
            <a:ext cx="43818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0F4C5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Metadata-driven ETL</a:t>
            </a:r>
            <a:endParaRPr lang="en-US" sz="2200" dirty="0"/>
          </a:p>
        </p:txBody>
      </p:sp>
      <p:sp>
        <p:nvSpPr>
          <p:cNvPr id="23" name="Text 15"/>
          <p:cNvSpPr txBox="1"/>
          <p:nvPr/>
        </p:nvSpPr>
        <p:spPr>
          <a:xfrm>
            <a:off x="2095805" y="6362395"/>
            <a:ext cx="4381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Lookup + For-Each pattern scales to N sources with one parameterised pipeline.</a:t>
            </a:r>
            <a:endParaRPr lang="en-US" sz="1300" dirty="0"/>
          </a:p>
        </p:txBody>
      </p:sp>
      <p:sp>
        <p:nvSpPr>
          <p:cNvPr id="24" name="Text 16"/>
          <p:cNvSpPr txBox="1"/>
          <p:nvPr/>
        </p:nvSpPr>
        <p:spPr>
          <a:xfrm>
            <a:off x="1143000" y="7467905"/>
            <a:ext cx="857707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i="1" kern="0" spc="-84" dirty="0">
                <a:solidFill>
                  <a:srgbClr val="E36F4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03</a:t>
            </a:r>
            <a:endParaRPr lang="en-US" sz="4200" dirty="0"/>
          </a:p>
        </p:txBody>
      </p:sp>
      <p:sp>
        <p:nvSpPr>
          <p:cNvPr id="25" name="Text 17"/>
          <p:cNvSpPr txBox="1"/>
          <p:nvPr/>
        </p:nvSpPr>
        <p:spPr>
          <a:xfrm>
            <a:off x="2095805" y="7524598"/>
            <a:ext cx="43818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0F4C5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Dataflow Gen2 integration</a:t>
            </a:r>
            <a:endParaRPr lang="en-US" sz="2200" dirty="0"/>
          </a:p>
        </p:txBody>
      </p:sp>
      <p:sp>
        <p:nvSpPr>
          <p:cNvPr id="26" name="Text 18"/>
          <p:cNvSpPr txBox="1"/>
          <p:nvPr/>
        </p:nvSpPr>
        <p:spPr>
          <a:xfrm>
            <a:off x="2095805" y="7962595"/>
            <a:ext cx="4381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Low-code data prep flows alongside the engineered pipelines, governed centrally.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6858000" y="4267505"/>
            <a:ext cx="857707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i="1" kern="0" spc="-84" dirty="0">
                <a:solidFill>
                  <a:srgbClr val="0F4C5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04</a:t>
            </a:r>
            <a:endParaRPr lang="en-US" sz="4200" dirty="0"/>
          </a:p>
        </p:txBody>
      </p:sp>
      <p:sp>
        <p:nvSpPr>
          <p:cNvPr id="28" name="Text 20"/>
          <p:cNvSpPr txBox="1"/>
          <p:nvPr/>
        </p:nvSpPr>
        <p:spPr>
          <a:xfrm>
            <a:off x="7810805" y="4324198"/>
            <a:ext cx="50676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0F4C5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Parent pipeline builds Bronze</a:t>
            </a:r>
            <a:endParaRPr lang="en-US" sz="2200" dirty="0"/>
          </a:p>
        </p:txBody>
      </p:sp>
      <p:sp>
        <p:nvSpPr>
          <p:cNvPr id="29" name="Text 21"/>
          <p:cNvSpPr txBox="1"/>
          <p:nvPr/>
        </p:nvSpPr>
        <p:spPr>
          <a:xfrm>
            <a:off x="7810805" y="4762195"/>
            <a:ext cx="4381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orchestrator lands every raw source into the Bronze layer with lineage intact.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6858000" y="5867705"/>
            <a:ext cx="857707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i="1" kern="0" spc="-84" dirty="0">
                <a:solidFill>
                  <a:srgbClr val="0F4C5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05</a:t>
            </a:r>
            <a:endParaRPr lang="en-US" sz="4200" dirty="0"/>
          </a:p>
        </p:txBody>
      </p:sp>
      <p:sp>
        <p:nvSpPr>
          <p:cNvPr id="31" name="Text 23"/>
          <p:cNvSpPr txBox="1"/>
          <p:nvPr/>
        </p:nvSpPr>
        <p:spPr>
          <a:xfrm>
            <a:off x="7810805" y="5924398"/>
            <a:ext cx="48234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0F4C5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PySpark cleansing in Silver</a:t>
            </a:r>
            <a:endParaRPr lang="en-US" sz="2200" dirty="0"/>
          </a:p>
        </p:txBody>
      </p:sp>
      <p:sp>
        <p:nvSpPr>
          <p:cNvPr id="32" name="Text 24"/>
          <p:cNvSpPr txBox="1"/>
          <p:nvPr/>
        </p:nvSpPr>
        <p:spPr>
          <a:xfrm>
            <a:off x="7810805" y="6362395"/>
            <a:ext cx="4381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Standardisation, data-quality checks, and conformed Delta tables ready for modelling.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6858000" y="7467905"/>
            <a:ext cx="857707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i="1" kern="0" spc="-84" dirty="0">
                <a:solidFill>
                  <a:srgbClr val="0F4C5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06</a:t>
            </a:r>
            <a:endParaRPr lang="en-US" sz="4200" dirty="0"/>
          </a:p>
        </p:txBody>
      </p:sp>
      <p:sp>
        <p:nvSpPr>
          <p:cNvPr id="34" name="Text 26"/>
          <p:cNvSpPr txBox="1"/>
          <p:nvPr/>
        </p:nvSpPr>
        <p:spPr>
          <a:xfrm>
            <a:off x="7810805" y="7524598"/>
            <a:ext cx="43818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0F4C5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T-SQL modelling in Gold</a:t>
            </a:r>
            <a:endParaRPr lang="en-US" sz="2200" dirty="0"/>
          </a:p>
        </p:txBody>
      </p:sp>
      <p:sp>
        <p:nvSpPr>
          <p:cNvPr id="35" name="Text 27"/>
          <p:cNvSpPr txBox="1"/>
          <p:nvPr/>
        </p:nvSpPr>
        <p:spPr>
          <a:xfrm>
            <a:off x="7810805" y="7962595"/>
            <a:ext cx="4381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 &amp; dimension modelling, aggregations, and KPI calculations served to Power BI.</a:t>
            </a:r>
            <a:endParaRPr lang="en-US" sz="1300" dirty="0"/>
          </a:p>
        </p:txBody>
      </p:sp>
      <p:sp>
        <p:nvSpPr>
          <p:cNvPr id="36" name="Text 28"/>
          <p:cNvSpPr txBox="1"/>
          <p:nvPr/>
        </p:nvSpPr>
        <p:spPr>
          <a:xfrm>
            <a:off x="12859207" y="4362602"/>
            <a:ext cx="2095805" cy="1666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0" i="1" kern="0" spc="-315" dirty="0">
                <a:solidFill>
                  <a:srgbClr val="F5C45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07</a:t>
            </a:r>
            <a:endParaRPr lang="en-US" sz="10500" dirty="0"/>
          </a:p>
        </p:txBody>
      </p:sp>
      <p:sp>
        <p:nvSpPr>
          <p:cNvPr id="37" name="Text 29"/>
          <p:cNvSpPr txBox="1"/>
          <p:nvPr/>
        </p:nvSpPr>
        <p:spPr>
          <a:xfrm>
            <a:off x="14859000" y="4724705"/>
            <a:ext cx="20958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68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FLAGSHIP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12877495" y="6096305"/>
            <a:ext cx="4096512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FFFFFF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End-to-end ETL with fail-safe notifications</a:t>
            </a:r>
            <a:endParaRPr lang="en-US" sz="2700" dirty="0"/>
          </a:p>
        </p:txBody>
      </p:sp>
      <p:sp>
        <p:nvSpPr>
          <p:cNvPr id="39" name="Text 31"/>
          <p:cNvSpPr txBox="1"/>
          <p:nvPr/>
        </p:nvSpPr>
        <p:spPr>
          <a:xfrm>
            <a:off x="12877495" y="7601407"/>
            <a:ext cx="409651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Scheduled run, Bronze→Silver→Gold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Stage-level failure alerts to email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Final load confirmation on success</a:t>
            </a:r>
            <a:endParaRPr lang="en-US" sz="1300" dirty="0"/>
          </a:p>
        </p:txBody>
      </p:sp>
      <p:sp>
        <p:nvSpPr>
          <p:cNvPr id="40" name="Text 32"/>
          <p:cNvSpPr txBox="1"/>
          <p:nvPr/>
        </p:nvSpPr>
        <p:spPr>
          <a:xfrm>
            <a:off x="1143000" y="9715500"/>
            <a:ext cx="16002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F4C5C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capability above is metadata-driven — adding the next source is a config change, not a rebuild.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1185</TotalTime>
  <Words>523</Words>
  <Application>Microsoft Office PowerPoint</Application>
  <PresentationFormat>Custom</PresentationFormat>
  <Paragraphs>105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Inter</vt:lpstr>
      <vt:lpstr>JetBrains Mono</vt:lpstr>
      <vt:lpstr>Source Serif Pro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Nitin Kumar</cp:lastModifiedBy>
  <cp:revision>6</cp:revision>
  <dcterms:created xsi:type="dcterms:W3CDTF">2026-06-16T11:41:52Z</dcterms:created>
  <dcterms:modified xsi:type="dcterms:W3CDTF">2026-06-18T05:44:21Z</dcterms:modified>
</cp:coreProperties>
</file>