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3"/>
  </p:sldMasterIdLst>
  <p:notesMasterIdLst>
    <p:notesMasterId r:id="rId8"/>
  </p:notesMasterIdLst>
  <p:handoutMasterIdLst>
    <p:handoutMasterId r:id="rId9"/>
  </p:handoutMasterIdLst>
  <p:sldIdLst>
    <p:sldId id="2147478537" r:id="rId4"/>
    <p:sldId id="2147478574" r:id="rId5"/>
    <p:sldId id="2147478555" r:id="rId6"/>
    <p:sldId id="21474785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19615E-FC20-7B34-7505-430768E2D4EC}" name="Rehan Chopra" initials="RC" userId="S::rehan.chopra@kiya.ai::283dc738-055f-45ff-9a58-73f5381e91d8" providerId="AD"/>
  <p188:author id="{A0AFBFA0-BA24-F3DD-004C-5B649F917685}" name="Aditya Singh" initials="AS" userId="S::aditya.singh@kiya.ai::7a4e7b08-ae2c-4cd6-8d57-2b29f0c24353" providerId="AD"/>
  <p188:author id="{17BD6BCE-64ED-6C4B-BC49-6F4AB0DE417D}" name="Pratap Parab" initials="PP" userId="S::pratap.parab@kiya.ai::3396cd52-7fbf-447a-98c0-cdf239b49dac" providerId="AD"/>
  <p188:author id="{94F9D5CE-D2EC-29BB-CB3A-2176F22F0E19}" name="Pradeep Kamath" initials="PK" userId="S::pradeep.kamath@kiya.ai::116b6829-bd4f-4408-89da-fcd47f727ae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2C3F"/>
    <a:srgbClr val="02172A"/>
    <a:srgbClr val="2C6281"/>
    <a:srgbClr val="0C4A6C"/>
    <a:srgbClr val="13131B"/>
    <a:srgbClr val="005B99"/>
    <a:srgbClr val="333243"/>
    <a:srgbClr val="354143"/>
    <a:srgbClr val="4B5857"/>
    <a:srgbClr val="3C6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6" autoAdjust="0"/>
    <p:restoredTop sz="93969" autoAdjust="0"/>
  </p:normalViewPr>
  <p:slideViewPr>
    <p:cSldViewPr snapToGrid="0">
      <p:cViewPr varScale="1">
        <p:scale>
          <a:sx n="111" d="100"/>
          <a:sy n="111" d="100"/>
        </p:scale>
        <p:origin x="666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0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8A498B-AD02-416E-9334-4152211D20F8}" type="doc">
      <dgm:prSet loTypeId="urn:microsoft.com/office/officeart/2005/8/layout/lProcess2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DCBEB2BB-E582-44B6-AB67-8AE43E978C94}">
      <dgm:prSet phldrT="[Text]" custT="1"/>
      <dgm:spPr/>
      <dgm:t>
        <a:bodyPr/>
        <a:lstStyle/>
        <a:p>
          <a:pPr>
            <a:buClrTx/>
            <a:buSzTx/>
            <a:buFontTx/>
            <a:buNone/>
          </a:pPr>
          <a:r>
            <a:rPr kumimoji="0" lang="en-US" sz="2000" b="1" i="0" u="none" strike="noStrike" cap="none" spc="0" normalizeH="0" baseline="0" noProof="0" dirty="0">
              <a:ln/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Source</a:t>
          </a:r>
          <a:endParaRPr lang="en-IN" sz="2000" b="1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EEE5A85-8752-46AD-A04A-E5040F6A8713}" type="parTrans" cxnId="{443B9327-76D5-4614-BFAF-A7A03FE478F3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E9A942D-8380-471D-A2B7-20EEE5DA80E9}" type="sibTrans" cxnId="{443B9327-76D5-4614-BFAF-A7A03FE478F3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9E108C3-18F5-4DBF-B919-5B76DB718722}">
      <dgm:prSet phldrT="[Text]" custT="1"/>
      <dgm:spPr/>
      <dgm:t>
        <a:bodyPr/>
        <a:lstStyle/>
        <a:p>
          <a:pPr>
            <a:buClrTx/>
            <a:buSzTx/>
            <a:buFontTx/>
            <a:buNone/>
          </a:pPr>
          <a:r>
            <a:rPr kumimoji="0" lang="en-US" sz="2000" b="1" i="0" u="none" strike="noStrike" cap="none" spc="0" normalizeH="0" baseline="0" noProof="0" dirty="0">
              <a:ln/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Silver Layer</a:t>
          </a:r>
          <a:endParaRPr lang="en-IN" sz="2000" b="1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F89004C-148F-4662-A6A8-301FD44A3B06}" type="parTrans" cxnId="{43F6BA9B-C477-4F44-B688-F950423910D1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D3B7332-F421-4B02-9298-BEAD939F4679}" type="sibTrans" cxnId="{43F6BA9B-C477-4F44-B688-F950423910D1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C2787DD-482C-4B35-A759-22CDA9F9152F}">
      <dgm:prSet phldrT="[Text]" custT="1"/>
      <dgm:spPr/>
      <dgm:t>
        <a:bodyPr/>
        <a:lstStyle/>
        <a:p>
          <a:pPr>
            <a:buClrTx/>
            <a:buSzTx/>
            <a:buFontTx/>
            <a:buNone/>
          </a:pPr>
          <a:r>
            <a:rPr lang="en-US" sz="2000" b="1" dirty="0"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Bronze Layer</a:t>
          </a:r>
          <a:endParaRPr lang="en-IN" sz="2000" b="1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6288D9D-DBB9-4E4F-9673-68E2D9B27099}" type="sibTrans" cxnId="{AAAAB48E-D069-4652-AFE2-59E3A8C088AB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7ED70F0-5CD2-460C-B54F-3C33E3A3C42C}" type="parTrans" cxnId="{AAAAB48E-D069-4652-AFE2-59E3A8C088AB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4C8588E-9B3A-4398-9E6F-6832023607AE}">
      <dgm:prSet phldrT="[Text]" phldr="0" custT="1"/>
      <dgm:spPr/>
      <dgm:t>
        <a:bodyPr/>
        <a:lstStyle/>
        <a:p>
          <a:r>
            <a:rPr lang="en-US" sz="2000" b="1" dirty="0"/>
            <a:t>Gold</a:t>
          </a:r>
          <a:r>
            <a:rPr lang="en-US" sz="2000" dirty="0"/>
            <a:t> </a:t>
          </a:r>
          <a:r>
            <a:rPr lang="en-US" sz="2000" b="1" dirty="0"/>
            <a:t>Layer</a:t>
          </a:r>
          <a:endParaRPr lang="en-IN" sz="2000" b="1" dirty="0"/>
        </a:p>
      </dgm:t>
    </dgm:pt>
    <dgm:pt modelId="{17D89E11-4C87-482B-B477-5AC435AA8508}" type="parTrans" cxnId="{FA88F0C8-431F-48B3-B863-0A878DDF4D8F}">
      <dgm:prSet/>
      <dgm:spPr/>
      <dgm:t>
        <a:bodyPr/>
        <a:lstStyle/>
        <a:p>
          <a:endParaRPr lang="en-IN"/>
        </a:p>
      </dgm:t>
    </dgm:pt>
    <dgm:pt modelId="{B6E71FEA-6E5C-4C3A-8310-2EEDA26C1FB9}" type="sibTrans" cxnId="{FA88F0C8-431F-48B3-B863-0A878DDF4D8F}">
      <dgm:prSet/>
      <dgm:spPr/>
      <dgm:t>
        <a:bodyPr/>
        <a:lstStyle/>
        <a:p>
          <a:endParaRPr lang="en-IN"/>
        </a:p>
      </dgm:t>
    </dgm:pt>
    <dgm:pt modelId="{3F225FA5-8509-4635-AC8C-6C5178853389}" type="pres">
      <dgm:prSet presAssocID="{4F8A498B-AD02-416E-9334-4152211D20F8}" presName="theList" presStyleCnt="0">
        <dgm:presLayoutVars>
          <dgm:dir/>
          <dgm:animLvl val="lvl"/>
          <dgm:resizeHandles val="exact"/>
        </dgm:presLayoutVars>
      </dgm:prSet>
      <dgm:spPr/>
    </dgm:pt>
    <dgm:pt modelId="{77B9D854-C561-4219-94A1-52CEDECB5E57}" type="pres">
      <dgm:prSet presAssocID="{DCBEB2BB-E582-44B6-AB67-8AE43E978C94}" presName="compNode" presStyleCnt="0"/>
      <dgm:spPr/>
    </dgm:pt>
    <dgm:pt modelId="{CB991995-D986-4C49-9C80-FB543A6EF60F}" type="pres">
      <dgm:prSet presAssocID="{DCBEB2BB-E582-44B6-AB67-8AE43E978C94}" presName="aNode" presStyleLbl="bgShp" presStyleIdx="0" presStyleCnt="4"/>
      <dgm:spPr/>
    </dgm:pt>
    <dgm:pt modelId="{7ED32EEC-2A86-4399-94D9-5E0B6DBDBD62}" type="pres">
      <dgm:prSet presAssocID="{DCBEB2BB-E582-44B6-AB67-8AE43E978C94}" presName="textNode" presStyleLbl="bgShp" presStyleIdx="0" presStyleCnt="4"/>
      <dgm:spPr/>
    </dgm:pt>
    <dgm:pt modelId="{DBB8E72E-1872-42C1-A38F-49A33E491E56}" type="pres">
      <dgm:prSet presAssocID="{DCBEB2BB-E582-44B6-AB67-8AE43E978C94}" presName="compChildNode" presStyleCnt="0"/>
      <dgm:spPr/>
    </dgm:pt>
    <dgm:pt modelId="{A80865A7-3F68-413B-97A1-DD828BD1D4A8}" type="pres">
      <dgm:prSet presAssocID="{DCBEB2BB-E582-44B6-AB67-8AE43E978C94}" presName="theInnerList" presStyleCnt="0"/>
      <dgm:spPr/>
    </dgm:pt>
    <dgm:pt modelId="{A1789A91-692B-4CA7-B901-86DF38A8DA16}" type="pres">
      <dgm:prSet presAssocID="{DCBEB2BB-E582-44B6-AB67-8AE43E978C94}" presName="aSpace" presStyleCnt="0"/>
      <dgm:spPr/>
    </dgm:pt>
    <dgm:pt modelId="{7301E2BC-8B09-4443-8810-0EA7893F2537}" type="pres">
      <dgm:prSet presAssocID="{EC2787DD-482C-4B35-A759-22CDA9F9152F}" presName="compNode" presStyleCnt="0"/>
      <dgm:spPr/>
    </dgm:pt>
    <dgm:pt modelId="{97D5E87D-DB8F-4297-A629-ED5A080B7F75}" type="pres">
      <dgm:prSet presAssocID="{EC2787DD-482C-4B35-A759-22CDA9F9152F}" presName="aNode" presStyleLbl="bgShp" presStyleIdx="1" presStyleCnt="4"/>
      <dgm:spPr/>
    </dgm:pt>
    <dgm:pt modelId="{DBAEA36C-F842-4DF9-8701-938FDC2DED52}" type="pres">
      <dgm:prSet presAssocID="{EC2787DD-482C-4B35-A759-22CDA9F9152F}" presName="textNode" presStyleLbl="bgShp" presStyleIdx="1" presStyleCnt="4"/>
      <dgm:spPr/>
    </dgm:pt>
    <dgm:pt modelId="{DA58D49E-4781-47B5-BF7D-01D7A9824A35}" type="pres">
      <dgm:prSet presAssocID="{EC2787DD-482C-4B35-A759-22CDA9F9152F}" presName="compChildNode" presStyleCnt="0"/>
      <dgm:spPr/>
    </dgm:pt>
    <dgm:pt modelId="{92C5E337-BC7E-4756-A890-5255AA2E1CCE}" type="pres">
      <dgm:prSet presAssocID="{EC2787DD-482C-4B35-A759-22CDA9F9152F}" presName="theInnerList" presStyleCnt="0"/>
      <dgm:spPr/>
    </dgm:pt>
    <dgm:pt modelId="{A273DBAF-C56A-4C2C-9605-025107B53155}" type="pres">
      <dgm:prSet presAssocID="{EC2787DD-482C-4B35-A759-22CDA9F9152F}" presName="aSpace" presStyleCnt="0"/>
      <dgm:spPr/>
    </dgm:pt>
    <dgm:pt modelId="{DA357AEF-B348-4E6E-AE41-1080348DD91E}" type="pres">
      <dgm:prSet presAssocID="{59E108C3-18F5-4DBF-B919-5B76DB718722}" presName="compNode" presStyleCnt="0"/>
      <dgm:spPr/>
    </dgm:pt>
    <dgm:pt modelId="{8E891598-72FC-4DA1-AC74-DD7313AFEFDD}" type="pres">
      <dgm:prSet presAssocID="{59E108C3-18F5-4DBF-B919-5B76DB718722}" presName="aNode" presStyleLbl="bgShp" presStyleIdx="2" presStyleCnt="4"/>
      <dgm:spPr/>
    </dgm:pt>
    <dgm:pt modelId="{93F412EC-7C46-4D02-B9D7-834AB680AFB1}" type="pres">
      <dgm:prSet presAssocID="{59E108C3-18F5-4DBF-B919-5B76DB718722}" presName="textNode" presStyleLbl="bgShp" presStyleIdx="2" presStyleCnt="4"/>
      <dgm:spPr/>
    </dgm:pt>
    <dgm:pt modelId="{A519E5FC-8386-47B1-968C-516AD806DB17}" type="pres">
      <dgm:prSet presAssocID="{59E108C3-18F5-4DBF-B919-5B76DB718722}" presName="compChildNode" presStyleCnt="0"/>
      <dgm:spPr/>
    </dgm:pt>
    <dgm:pt modelId="{9157C109-6F94-4A20-ACDF-1E4EDEAF1C30}" type="pres">
      <dgm:prSet presAssocID="{59E108C3-18F5-4DBF-B919-5B76DB718722}" presName="theInnerList" presStyleCnt="0"/>
      <dgm:spPr/>
    </dgm:pt>
    <dgm:pt modelId="{097061FB-2C51-4362-80E6-281E4FD0A55B}" type="pres">
      <dgm:prSet presAssocID="{59E108C3-18F5-4DBF-B919-5B76DB718722}" presName="aSpace" presStyleCnt="0"/>
      <dgm:spPr/>
    </dgm:pt>
    <dgm:pt modelId="{FE40C37D-239A-4570-906B-1486ADA15BC3}" type="pres">
      <dgm:prSet presAssocID="{A4C8588E-9B3A-4398-9E6F-6832023607AE}" presName="compNode" presStyleCnt="0"/>
      <dgm:spPr/>
    </dgm:pt>
    <dgm:pt modelId="{EB67CDC3-24EA-4471-9278-5EB51C036DA9}" type="pres">
      <dgm:prSet presAssocID="{A4C8588E-9B3A-4398-9E6F-6832023607AE}" presName="aNode" presStyleLbl="bgShp" presStyleIdx="3" presStyleCnt="4"/>
      <dgm:spPr/>
    </dgm:pt>
    <dgm:pt modelId="{F66451E8-2E72-401C-8AB8-4945DACBDCFA}" type="pres">
      <dgm:prSet presAssocID="{A4C8588E-9B3A-4398-9E6F-6832023607AE}" presName="textNode" presStyleLbl="bgShp" presStyleIdx="3" presStyleCnt="4"/>
      <dgm:spPr/>
    </dgm:pt>
    <dgm:pt modelId="{3061709F-61C1-4EED-AF68-CA245ACA31E2}" type="pres">
      <dgm:prSet presAssocID="{A4C8588E-9B3A-4398-9E6F-6832023607AE}" presName="compChildNode" presStyleCnt="0"/>
      <dgm:spPr/>
    </dgm:pt>
    <dgm:pt modelId="{BAFF3BEC-C3AD-4235-86B8-8AFF0DC52A8C}" type="pres">
      <dgm:prSet presAssocID="{A4C8588E-9B3A-4398-9E6F-6832023607AE}" presName="theInnerList" presStyleCnt="0"/>
      <dgm:spPr/>
    </dgm:pt>
  </dgm:ptLst>
  <dgm:cxnLst>
    <dgm:cxn modelId="{443B9327-76D5-4614-BFAF-A7A03FE478F3}" srcId="{4F8A498B-AD02-416E-9334-4152211D20F8}" destId="{DCBEB2BB-E582-44B6-AB67-8AE43E978C94}" srcOrd="0" destOrd="0" parTransId="{BEEE5A85-8752-46AD-A04A-E5040F6A8713}" sibTransId="{BE9A942D-8380-471D-A2B7-20EEE5DA80E9}"/>
    <dgm:cxn modelId="{62422B63-3DD7-429B-A54A-D077040EF0B7}" type="presOf" srcId="{59E108C3-18F5-4DBF-B919-5B76DB718722}" destId="{93F412EC-7C46-4D02-B9D7-834AB680AFB1}" srcOrd="1" destOrd="0" presId="urn:microsoft.com/office/officeart/2005/8/layout/lProcess2"/>
    <dgm:cxn modelId="{7F48E559-9824-4FD0-8889-3A4E280DDE52}" type="presOf" srcId="{4F8A498B-AD02-416E-9334-4152211D20F8}" destId="{3F225FA5-8509-4635-AC8C-6C5178853389}" srcOrd="0" destOrd="0" presId="urn:microsoft.com/office/officeart/2005/8/layout/lProcess2"/>
    <dgm:cxn modelId="{DD95C98B-33A2-476F-AD05-E67C56577418}" type="presOf" srcId="{DCBEB2BB-E582-44B6-AB67-8AE43E978C94}" destId="{CB991995-D986-4C49-9C80-FB543A6EF60F}" srcOrd="0" destOrd="0" presId="urn:microsoft.com/office/officeart/2005/8/layout/lProcess2"/>
    <dgm:cxn modelId="{AAAAB48E-D069-4652-AFE2-59E3A8C088AB}" srcId="{4F8A498B-AD02-416E-9334-4152211D20F8}" destId="{EC2787DD-482C-4B35-A759-22CDA9F9152F}" srcOrd="1" destOrd="0" parTransId="{77ED70F0-5CD2-460C-B54F-3C33E3A3C42C}" sibTransId="{86288D9D-DBB9-4E4F-9673-68E2D9B27099}"/>
    <dgm:cxn modelId="{43F6BA9B-C477-4F44-B688-F950423910D1}" srcId="{4F8A498B-AD02-416E-9334-4152211D20F8}" destId="{59E108C3-18F5-4DBF-B919-5B76DB718722}" srcOrd="2" destOrd="0" parTransId="{AF89004C-148F-4662-A6A8-301FD44A3B06}" sibTransId="{CD3B7332-F421-4B02-9298-BEAD939F4679}"/>
    <dgm:cxn modelId="{B50998B0-50A9-4D9D-99C7-9DAAA85AC08D}" type="presOf" srcId="{EC2787DD-482C-4B35-A759-22CDA9F9152F}" destId="{DBAEA36C-F842-4DF9-8701-938FDC2DED52}" srcOrd="1" destOrd="0" presId="urn:microsoft.com/office/officeart/2005/8/layout/lProcess2"/>
    <dgm:cxn modelId="{EA78BFBC-8D08-4A1A-9795-FB5C24CDFA88}" type="presOf" srcId="{DCBEB2BB-E582-44B6-AB67-8AE43E978C94}" destId="{7ED32EEC-2A86-4399-94D9-5E0B6DBDBD62}" srcOrd="1" destOrd="0" presId="urn:microsoft.com/office/officeart/2005/8/layout/lProcess2"/>
    <dgm:cxn modelId="{FA88F0C8-431F-48B3-B863-0A878DDF4D8F}" srcId="{4F8A498B-AD02-416E-9334-4152211D20F8}" destId="{A4C8588E-9B3A-4398-9E6F-6832023607AE}" srcOrd="3" destOrd="0" parTransId="{17D89E11-4C87-482B-B477-5AC435AA8508}" sibTransId="{B6E71FEA-6E5C-4C3A-8310-2EEDA26C1FB9}"/>
    <dgm:cxn modelId="{2D81C8D3-9B91-4567-854A-FB30795DD830}" type="presOf" srcId="{A4C8588E-9B3A-4398-9E6F-6832023607AE}" destId="{F66451E8-2E72-401C-8AB8-4945DACBDCFA}" srcOrd="1" destOrd="0" presId="urn:microsoft.com/office/officeart/2005/8/layout/lProcess2"/>
    <dgm:cxn modelId="{2F0659DC-A57D-4013-AB78-6D51A345B980}" type="presOf" srcId="{A4C8588E-9B3A-4398-9E6F-6832023607AE}" destId="{EB67CDC3-24EA-4471-9278-5EB51C036DA9}" srcOrd="0" destOrd="0" presId="urn:microsoft.com/office/officeart/2005/8/layout/lProcess2"/>
    <dgm:cxn modelId="{5C60DDDC-85AD-4316-825A-CCD3B01EA5D4}" type="presOf" srcId="{EC2787DD-482C-4B35-A759-22CDA9F9152F}" destId="{97D5E87D-DB8F-4297-A629-ED5A080B7F75}" srcOrd="0" destOrd="0" presId="urn:microsoft.com/office/officeart/2005/8/layout/lProcess2"/>
    <dgm:cxn modelId="{4CC5E8FE-3E32-4634-9DDA-A888C453E71E}" type="presOf" srcId="{59E108C3-18F5-4DBF-B919-5B76DB718722}" destId="{8E891598-72FC-4DA1-AC74-DD7313AFEFDD}" srcOrd="0" destOrd="0" presId="urn:microsoft.com/office/officeart/2005/8/layout/lProcess2"/>
    <dgm:cxn modelId="{9949FFF6-2184-4F2F-89D8-F655996156D9}" type="presParOf" srcId="{3F225FA5-8509-4635-AC8C-6C5178853389}" destId="{77B9D854-C561-4219-94A1-52CEDECB5E57}" srcOrd="0" destOrd="0" presId="urn:microsoft.com/office/officeart/2005/8/layout/lProcess2"/>
    <dgm:cxn modelId="{C5835DB8-CF68-43B7-9FFA-210AFCF62A22}" type="presParOf" srcId="{77B9D854-C561-4219-94A1-52CEDECB5E57}" destId="{CB991995-D986-4C49-9C80-FB543A6EF60F}" srcOrd="0" destOrd="0" presId="urn:microsoft.com/office/officeart/2005/8/layout/lProcess2"/>
    <dgm:cxn modelId="{61957AA7-8F84-45D5-B84A-93F0A97EE98C}" type="presParOf" srcId="{77B9D854-C561-4219-94A1-52CEDECB5E57}" destId="{7ED32EEC-2A86-4399-94D9-5E0B6DBDBD62}" srcOrd="1" destOrd="0" presId="urn:microsoft.com/office/officeart/2005/8/layout/lProcess2"/>
    <dgm:cxn modelId="{2757070F-059A-41E5-875C-20918963343D}" type="presParOf" srcId="{77B9D854-C561-4219-94A1-52CEDECB5E57}" destId="{DBB8E72E-1872-42C1-A38F-49A33E491E56}" srcOrd="2" destOrd="0" presId="urn:microsoft.com/office/officeart/2005/8/layout/lProcess2"/>
    <dgm:cxn modelId="{75A154D7-5623-4719-98C3-C519CDA2A27B}" type="presParOf" srcId="{DBB8E72E-1872-42C1-A38F-49A33E491E56}" destId="{A80865A7-3F68-413B-97A1-DD828BD1D4A8}" srcOrd="0" destOrd="0" presId="urn:microsoft.com/office/officeart/2005/8/layout/lProcess2"/>
    <dgm:cxn modelId="{66F3A303-F849-4991-8917-7397262D7240}" type="presParOf" srcId="{3F225FA5-8509-4635-AC8C-6C5178853389}" destId="{A1789A91-692B-4CA7-B901-86DF38A8DA16}" srcOrd="1" destOrd="0" presId="urn:microsoft.com/office/officeart/2005/8/layout/lProcess2"/>
    <dgm:cxn modelId="{74A71D37-ED26-4163-A9DB-013EBDB80F2E}" type="presParOf" srcId="{3F225FA5-8509-4635-AC8C-6C5178853389}" destId="{7301E2BC-8B09-4443-8810-0EA7893F2537}" srcOrd="2" destOrd="0" presId="urn:microsoft.com/office/officeart/2005/8/layout/lProcess2"/>
    <dgm:cxn modelId="{01B1989B-4E0C-426A-9846-AEFC9ADCFE21}" type="presParOf" srcId="{7301E2BC-8B09-4443-8810-0EA7893F2537}" destId="{97D5E87D-DB8F-4297-A629-ED5A080B7F75}" srcOrd="0" destOrd="0" presId="urn:microsoft.com/office/officeart/2005/8/layout/lProcess2"/>
    <dgm:cxn modelId="{9CDF285B-FCEE-477C-A7B1-70B53D5DAC1E}" type="presParOf" srcId="{7301E2BC-8B09-4443-8810-0EA7893F2537}" destId="{DBAEA36C-F842-4DF9-8701-938FDC2DED52}" srcOrd="1" destOrd="0" presId="urn:microsoft.com/office/officeart/2005/8/layout/lProcess2"/>
    <dgm:cxn modelId="{69974C81-367D-4EF8-A3E7-FA1E9AAC196A}" type="presParOf" srcId="{7301E2BC-8B09-4443-8810-0EA7893F2537}" destId="{DA58D49E-4781-47B5-BF7D-01D7A9824A35}" srcOrd="2" destOrd="0" presId="urn:microsoft.com/office/officeart/2005/8/layout/lProcess2"/>
    <dgm:cxn modelId="{A239643B-6665-416D-A461-89E2F95A22B3}" type="presParOf" srcId="{DA58D49E-4781-47B5-BF7D-01D7A9824A35}" destId="{92C5E337-BC7E-4756-A890-5255AA2E1CCE}" srcOrd="0" destOrd="0" presId="urn:microsoft.com/office/officeart/2005/8/layout/lProcess2"/>
    <dgm:cxn modelId="{FCD10797-8FAD-48B6-8A9B-504042A25C93}" type="presParOf" srcId="{3F225FA5-8509-4635-AC8C-6C5178853389}" destId="{A273DBAF-C56A-4C2C-9605-025107B53155}" srcOrd="3" destOrd="0" presId="urn:microsoft.com/office/officeart/2005/8/layout/lProcess2"/>
    <dgm:cxn modelId="{CA41DD90-5CB8-487D-B18B-FE6F76601BCB}" type="presParOf" srcId="{3F225FA5-8509-4635-AC8C-6C5178853389}" destId="{DA357AEF-B348-4E6E-AE41-1080348DD91E}" srcOrd="4" destOrd="0" presId="urn:microsoft.com/office/officeart/2005/8/layout/lProcess2"/>
    <dgm:cxn modelId="{1C782623-F7F2-4BFE-8DF2-AE08959A2135}" type="presParOf" srcId="{DA357AEF-B348-4E6E-AE41-1080348DD91E}" destId="{8E891598-72FC-4DA1-AC74-DD7313AFEFDD}" srcOrd="0" destOrd="0" presId="urn:microsoft.com/office/officeart/2005/8/layout/lProcess2"/>
    <dgm:cxn modelId="{C44BE004-E60E-4A2D-8AEE-4341A144E324}" type="presParOf" srcId="{DA357AEF-B348-4E6E-AE41-1080348DD91E}" destId="{93F412EC-7C46-4D02-B9D7-834AB680AFB1}" srcOrd="1" destOrd="0" presId="urn:microsoft.com/office/officeart/2005/8/layout/lProcess2"/>
    <dgm:cxn modelId="{C445ACBB-E459-4D89-B2BF-BC9E6FE5567F}" type="presParOf" srcId="{DA357AEF-B348-4E6E-AE41-1080348DD91E}" destId="{A519E5FC-8386-47B1-968C-516AD806DB17}" srcOrd="2" destOrd="0" presId="urn:microsoft.com/office/officeart/2005/8/layout/lProcess2"/>
    <dgm:cxn modelId="{D89F707E-8BF9-4823-B67B-60777F0AD3E2}" type="presParOf" srcId="{A519E5FC-8386-47B1-968C-516AD806DB17}" destId="{9157C109-6F94-4A20-ACDF-1E4EDEAF1C30}" srcOrd="0" destOrd="0" presId="urn:microsoft.com/office/officeart/2005/8/layout/lProcess2"/>
    <dgm:cxn modelId="{B0295519-52E5-48C5-9914-46D7ADE19842}" type="presParOf" srcId="{3F225FA5-8509-4635-AC8C-6C5178853389}" destId="{097061FB-2C51-4362-80E6-281E4FD0A55B}" srcOrd="5" destOrd="0" presId="urn:microsoft.com/office/officeart/2005/8/layout/lProcess2"/>
    <dgm:cxn modelId="{ED9F031C-BC50-44F4-B25D-93AF027601EB}" type="presParOf" srcId="{3F225FA5-8509-4635-AC8C-6C5178853389}" destId="{FE40C37D-239A-4570-906B-1486ADA15BC3}" srcOrd="6" destOrd="0" presId="urn:microsoft.com/office/officeart/2005/8/layout/lProcess2"/>
    <dgm:cxn modelId="{8AB0FF20-8B41-41D4-B375-D3A4CC5D112D}" type="presParOf" srcId="{FE40C37D-239A-4570-906B-1486ADA15BC3}" destId="{EB67CDC3-24EA-4471-9278-5EB51C036DA9}" srcOrd="0" destOrd="0" presId="urn:microsoft.com/office/officeart/2005/8/layout/lProcess2"/>
    <dgm:cxn modelId="{74DABBEA-F93F-4D21-BACF-AAD0EFA67C52}" type="presParOf" srcId="{FE40C37D-239A-4570-906B-1486ADA15BC3}" destId="{F66451E8-2E72-401C-8AB8-4945DACBDCFA}" srcOrd="1" destOrd="0" presId="urn:microsoft.com/office/officeart/2005/8/layout/lProcess2"/>
    <dgm:cxn modelId="{32E32D0F-9BD8-44E0-91E2-37D9B18055F0}" type="presParOf" srcId="{FE40C37D-239A-4570-906B-1486ADA15BC3}" destId="{3061709F-61C1-4EED-AF68-CA245ACA31E2}" srcOrd="2" destOrd="0" presId="urn:microsoft.com/office/officeart/2005/8/layout/lProcess2"/>
    <dgm:cxn modelId="{E6AAE6EB-CF40-4752-AE84-74B7F6085CB1}" type="presParOf" srcId="{3061709F-61C1-4EED-AF68-CA245ACA31E2}" destId="{BAFF3BEC-C3AD-4235-86B8-8AFF0DC52A8C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91995-D986-4C49-9C80-FB543A6EF60F}">
      <dsp:nvSpPr>
        <dsp:cNvPr id="0" name=""/>
        <dsp:cNvSpPr/>
      </dsp:nvSpPr>
      <dsp:spPr>
        <a:xfrm>
          <a:off x="2326" y="0"/>
          <a:ext cx="2282866" cy="471214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2000" b="1" i="0" u="none" strike="noStrike" kern="1200" cap="none" spc="0" normalizeH="0" baseline="0" noProof="0" dirty="0">
              <a:ln/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Source</a:t>
          </a:r>
          <a:endParaRPr lang="en-IN" sz="2000" b="1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326" y="0"/>
        <a:ext cx="2282866" cy="1413642"/>
      </dsp:txXfrm>
    </dsp:sp>
    <dsp:sp modelId="{97D5E87D-DB8F-4297-A629-ED5A080B7F75}">
      <dsp:nvSpPr>
        <dsp:cNvPr id="0" name=""/>
        <dsp:cNvSpPr/>
      </dsp:nvSpPr>
      <dsp:spPr>
        <a:xfrm>
          <a:off x="2456408" y="0"/>
          <a:ext cx="2282866" cy="471214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US" sz="2000" b="1" kern="1200" dirty="0"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Bronze Layer</a:t>
          </a:r>
          <a:endParaRPr lang="en-IN" sz="2000" b="1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456408" y="0"/>
        <a:ext cx="2282866" cy="1413642"/>
      </dsp:txXfrm>
    </dsp:sp>
    <dsp:sp modelId="{8E891598-72FC-4DA1-AC74-DD7313AFEFDD}">
      <dsp:nvSpPr>
        <dsp:cNvPr id="0" name=""/>
        <dsp:cNvSpPr/>
      </dsp:nvSpPr>
      <dsp:spPr>
        <a:xfrm>
          <a:off x="4910490" y="0"/>
          <a:ext cx="2282866" cy="471214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2000" b="1" i="0" u="none" strike="noStrike" kern="1200" cap="none" spc="0" normalizeH="0" baseline="0" noProof="0" dirty="0">
              <a:ln/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Silver Layer</a:t>
          </a:r>
          <a:endParaRPr lang="en-IN" sz="2000" b="1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910490" y="0"/>
        <a:ext cx="2282866" cy="1413642"/>
      </dsp:txXfrm>
    </dsp:sp>
    <dsp:sp modelId="{EB67CDC3-24EA-4471-9278-5EB51C036DA9}">
      <dsp:nvSpPr>
        <dsp:cNvPr id="0" name=""/>
        <dsp:cNvSpPr/>
      </dsp:nvSpPr>
      <dsp:spPr>
        <a:xfrm>
          <a:off x="7364571" y="0"/>
          <a:ext cx="2282866" cy="471214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Gold</a:t>
          </a:r>
          <a:r>
            <a:rPr lang="en-US" sz="2000" kern="1200" dirty="0"/>
            <a:t> </a:t>
          </a:r>
          <a:r>
            <a:rPr lang="en-US" sz="2000" b="1" kern="1200" dirty="0"/>
            <a:t>Layer</a:t>
          </a:r>
          <a:endParaRPr lang="en-IN" sz="2000" b="1" kern="1200" dirty="0"/>
        </a:p>
      </dsp:txBody>
      <dsp:txXfrm>
        <a:off x="7364571" y="0"/>
        <a:ext cx="2282866" cy="1413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200F8-F6F8-4922-9EE1-86F2F2F8B2D4}" type="datetimeFigureOut">
              <a:rPr lang="en-IN" smtClean="0"/>
              <a:t>16-06-2026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17B88-917E-42E3-BCDF-A777610E3B5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09324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0202D-DFEE-477C-9EB9-5A71544BF30F}" type="datetimeFigureOut">
              <a:rPr lang="en-IN" smtClean="0"/>
              <a:t>16-06-2026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9F95B-FDFD-4494-A152-870BCBB92ED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44615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8" y="1588"/>
            <a:ext cx="1588" cy="158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DC5E6F-A9EC-489D-AE14-C8C117244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117" y="2612357"/>
            <a:ext cx="5116006" cy="1354217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12CAB-CB67-4A29-B608-734155945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117" y="4146086"/>
            <a:ext cx="5116006" cy="307777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8" name="Picture 7" descr="A person wearing a hard hat&#10;&#10;Description automatically generated with low confidence">
            <a:extLst>
              <a:ext uri="{FF2B5EF4-FFF2-40B4-BE49-F238E27FC236}">
                <a16:creationId xmlns:a16="http://schemas.microsoft.com/office/drawing/2014/main" id="{81CDD237-FB1D-439C-B0A7-8315B32D7D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 flipV="1">
            <a:off x="613916" y="837086"/>
            <a:ext cx="5230431" cy="5229490"/>
          </a:xfrm>
          <a:custGeom>
            <a:avLst/>
            <a:gdLst>
              <a:gd name="connsiteX0" fmla="*/ 2304556 w 5230431"/>
              <a:gd name="connsiteY0" fmla="*/ 0 h 5229490"/>
              <a:gd name="connsiteX1" fmla="*/ 3086360 w 5230431"/>
              <a:gd name="connsiteY1" fmla="*/ 0 h 5229490"/>
              <a:gd name="connsiteX2" fmla="*/ 3311747 w 5230431"/>
              <a:gd name="connsiteY2" fmla="*/ 225336 h 5229490"/>
              <a:gd name="connsiteX3" fmla="*/ 3311747 w 5230431"/>
              <a:gd name="connsiteY3" fmla="*/ 1007191 h 5229490"/>
              <a:gd name="connsiteX4" fmla="*/ 3086360 w 5230431"/>
              <a:gd name="connsiteY4" fmla="*/ 1232527 h 5229490"/>
              <a:gd name="connsiteX5" fmla="*/ 2319318 w 5230431"/>
              <a:gd name="connsiteY5" fmla="*/ 1232527 h 5229490"/>
              <a:gd name="connsiteX6" fmla="*/ 2319318 w 5230431"/>
              <a:gd name="connsiteY6" fmla="*/ 1232909 h 5229490"/>
              <a:gd name="connsiteX7" fmla="*/ 642044 w 5230431"/>
              <a:gd name="connsiteY7" fmla="*/ 2910182 h 5229490"/>
              <a:gd name="connsiteX8" fmla="*/ 2861752 w 5230431"/>
              <a:gd name="connsiteY8" fmla="*/ 4502350 h 5229490"/>
              <a:gd name="connsiteX9" fmla="*/ 3996582 w 5230431"/>
              <a:gd name="connsiteY9" fmla="*/ 2910182 h 5229490"/>
              <a:gd name="connsiteX10" fmla="*/ 3997820 w 5230431"/>
              <a:gd name="connsiteY10" fmla="*/ 2910182 h 5229490"/>
              <a:gd name="connsiteX11" fmla="*/ 3997820 w 5230431"/>
              <a:gd name="connsiteY11" fmla="*/ 2169116 h 5229490"/>
              <a:gd name="connsiteX12" fmla="*/ 4223229 w 5230431"/>
              <a:gd name="connsiteY12" fmla="*/ 1943730 h 5229490"/>
              <a:gd name="connsiteX13" fmla="*/ 5005022 w 5230431"/>
              <a:gd name="connsiteY13" fmla="*/ 1943730 h 5229490"/>
              <a:gd name="connsiteX14" fmla="*/ 5005059 w 5230431"/>
              <a:gd name="connsiteY14" fmla="*/ 1943732 h 5229490"/>
              <a:gd name="connsiteX15" fmla="*/ 5230431 w 5230431"/>
              <a:gd name="connsiteY15" fmla="*/ 2169120 h 5229490"/>
              <a:gd name="connsiteX16" fmla="*/ 5230431 w 5230431"/>
              <a:gd name="connsiteY16" fmla="*/ 2950923 h 5229490"/>
              <a:gd name="connsiteX17" fmla="*/ 5005059 w 5230431"/>
              <a:gd name="connsiteY17" fmla="*/ 3176307 h 5229490"/>
              <a:gd name="connsiteX18" fmla="*/ 4623065 w 5230431"/>
              <a:gd name="connsiteY18" fmla="*/ 3176307 h 5229490"/>
              <a:gd name="connsiteX19" fmla="*/ 2229056 w 5230431"/>
              <a:gd name="connsiteY19" fmla="*/ 5227773 h 5229490"/>
              <a:gd name="connsiteX20" fmla="*/ 1721 w 5230431"/>
              <a:gd name="connsiteY20" fmla="*/ 3000593 h 5229490"/>
              <a:gd name="connsiteX21" fmla="*/ 2079172 w 5230431"/>
              <a:gd name="connsiteY21" fmla="*/ 603178 h 5229490"/>
              <a:gd name="connsiteX22" fmla="*/ 2079172 w 5230431"/>
              <a:gd name="connsiteY22" fmla="*/ 225336 h 5229490"/>
              <a:gd name="connsiteX23" fmla="*/ 2304556 w 5230431"/>
              <a:gd name="connsiteY23" fmla="*/ 0 h 522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30431" h="5229490">
                <a:moveTo>
                  <a:pt x="2304556" y="0"/>
                </a:moveTo>
                <a:lnTo>
                  <a:pt x="3086360" y="0"/>
                </a:lnTo>
                <a:cubicBezTo>
                  <a:pt x="3210851" y="0"/>
                  <a:pt x="3311747" y="100894"/>
                  <a:pt x="3311747" y="225336"/>
                </a:cubicBezTo>
                <a:lnTo>
                  <a:pt x="3311747" y="1007191"/>
                </a:lnTo>
                <a:cubicBezTo>
                  <a:pt x="3311747" y="1131632"/>
                  <a:pt x="3210851" y="1232527"/>
                  <a:pt x="3086360" y="1232527"/>
                </a:cubicBezTo>
                <a:lnTo>
                  <a:pt x="2319318" y="1232527"/>
                </a:lnTo>
                <a:lnTo>
                  <a:pt x="2319318" y="1232909"/>
                </a:lnTo>
                <a:cubicBezTo>
                  <a:pt x="1393015" y="1232909"/>
                  <a:pt x="642044" y="1983836"/>
                  <a:pt x="642044" y="2910182"/>
                </a:cubicBezTo>
                <a:cubicBezTo>
                  <a:pt x="642044" y="4012278"/>
                  <a:pt x="1705117" y="4866136"/>
                  <a:pt x="2861752" y="4502350"/>
                </a:cubicBezTo>
                <a:cubicBezTo>
                  <a:pt x="3546988" y="4286810"/>
                  <a:pt x="3996582" y="3628464"/>
                  <a:pt x="3996582" y="2910182"/>
                </a:cubicBezTo>
                <a:lnTo>
                  <a:pt x="3997820" y="2910182"/>
                </a:lnTo>
                <a:lnTo>
                  <a:pt x="3997820" y="2169116"/>
                </a:lnTo>
                <a:cubicBezTo>
                  <a:pt x="3997820" y="2044624"/>
                  <a:pt x="4098726" y="1943730"/>
                  <a:pt x="4223229" y="1943730"/>
                </a:cubicBezTo>
                <a:lnTo>
                  <a:pt x="5005022" y="1943730"/>
                </a:lnTo>
                <a:lnTo>
                  <a:pt x="5005059" y="1943732"/>
                </a:lnTo>
                <a:cubicBezTo>
                  <a:pt x="5129526" y="1943732"/>
                  <a:pt x="5230431" y="2044628"/>
                  <a:pt x="5230431" y="2169120"/>
                </a:cubicBezTo>
                <a:lnTo>
                  <a:pt x="5230431" y="2950923"/>
                </a:lnTo>
                <a:cubicBezTo>
                  <a:pt x="5230431" y="3075411"/>
                  <a:pt x="5129526" y="3176307"/>
                  <a:pt x="5005059" y="3176307"/>
                </a:cubicBezTo>
                <a:lnTo>
                  <a:pt x="4623065" y="3176307"/>
                </a:lnTo>
                <a:cubicBezTo>
                  <a:pt x="4487711" y="4360915"/>
                  <a:pt x="3460320" y="5274530"/>
                  <a:pt x="2229056" y="5227773"/>
                </a:cubicBezTo>
                <a:cubicBezTo>
                  <a:pt x="1035082" y="5182473"/>
                  <a:pt x="47069" y="4194535"/>
                  <a:pt x="1721" y="3000593"/>
                </a:cubicBezTo>
                <a:cubicBezTo>
                  <a:pt x="-45424" y="1760253"/>
                  <a:pt x="881895" y="726359"/>
                  <a:pt x="2079172" y="603178"/>
                </a:cubicBezTo>
                <a:lnTo>
                  <a:pt x="2079172" y="225336"/>
                </a:lnTo>
                <a:cubicBezTo>
                  <a:pt x="2079172" y="100894"/>
                  <a:pt x="2180064" y="0"/>
                  <a:pt x="2304556" y="0"/>
                </a:cubicBezTo>
                <a:close/>
              </a:path>
            </a:pathLst>
          </a:custGeom>
        </p:spPr>
      </p:pic>
      <p:pic>
        <p:nvPicPr>
          <p:cNvPr id="9" name="Picture 8" descr="A person wearing a hard hat&#10;&#10;Description automatically generated with low confidence">
            <a:extLst>
              <a:ext uri="{FF2B5EF4-FFF2-40B4-BE49-F238E27FC236}">
                <a16:creationId xmlns:a16="http://schemas.microsoft.com/office/drawing/2014/main" id="{373A9FE0-9CB9-44C9-8B7F-3F40C8F62A5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8077" y="791424"/>
            <a:ext cx="3790124" cy="3791270"/>
          </a:xfrm>
          <a:custGeom>
            <a:avLst/>
            <a:gdLst>
              <a:gd name="connsiteX0" fmla="*/ 3170700 w 3790124"/>
              <a:gd name="connsiteY0" fmla="*/ 11 h 3791270"/>
              <a:gd name="connsiteX1" fmla="*/ 3505317 w 3790124"/>
              <a:gd name="connsiteY1" fmla="*/ 4830 h 3791270"/>
              <a:gd name="connsiteX2" fmla="*/ 3788371 w 3790124"/>
              <a:gd name="connsiteY2" fmla="*/ 301636 h 3791270"/>
              <a:gd name="connsiteX3" fmla="*/ 3788336 w 3790124"/>
              <a:gd name="connsiteY3" fmla="*/ 301667 h 3791270"/>
              <a:gd name="connsiteX4" fmla="*/ 3788336 w 3790124"/>
              <a:gd name="connsiteY4" fmla="*/ 971072 h 3791270"/>
              <a:gd name="connsiteX5" fmla="*/ 3512710 w 3790124"/>
              <a:gd name="connsiteY5" fmla="*/ 1245881 h 3791270"/>
              <a:gd name="connsiteX6" fmla="*/ 3130170 w 3790124"/>
              <a:gd name="connsiteY6" fmla="*/ 1246653 h 3791270"/>
              <a:gd name="connsiteX7" fmla="*/ 1810768 w 3790124"/>
              <a:gd name="connsiteY7" fmla="*/ 2562788 h 3791270"/>
              <a:gd name="connsiteX8" fmla="*/ 1810218 w 3790124"/>
              <a:gd name="connsiteY8" fmla="*/ 3391593 h 3791270"/>
              <a:gd name="connsiteX9" fmla="*/ 1413342 w 3790124"/>
              <a:gd name="connsiteY9" fmla="*/ 3790398 h 3791270"/>
              <a:gd name="connsiteX10" fmla="*/ 919263 w 3790124"/>
              <a:gd name="connsiteY10" fmla="*/ 3790726 h 3791270"/>
              <a:gd name="connsiteX11" fmla="*/ 441062 w 3790124"/>
              <a:gd name="connsiteY11" fmla="*/ 3790617 h 3791270"/>
              <a:gd name="connsiteX12" fmla="*/ 7384 w 3790124"/>
              <a:gd name="connsiteY12" fmla="*/ 3386859 h 3791270"/>
              <a:gd name="connsiteX13" fmla="*/ 7333 w 3790124"/>
              <a:gd name="connsiteY13" fmla="*/ 2382873 h 3791270"/>
              <a:gd name="connsiteX14" fmla="*/ 433483 w 3790124"/>
              <a:gd name="connsiteY14" fmla="*/ 1988378 h 3791270"/>
              <a:gd name="connsiteX15" fmla="*/ 1086575 w 3790124"/>
              <a:gd name="connsiteY15" fmla="*/ 1990174 h 3791270"/>
              <a:gd name="connsiteX16" fmla="*/ 2281337 w 3790124"/>
              <a:gd name="connsiteY16" fmla="*/ 1417975 h 3791270"/>
              <a:gd name="connsiteX17" fmla="*/ 2550881 w 3790124"/>
              <a:gd name="connsiteY17" fmla="*/ 663503 h 3791270"/>
              <a:gd name="connsiteX18" fmla="*/ 2549388 w 3790124"/>
              <a:gd name="connsiteY18" fmla="*/ 297121 h 3791270"/>
              <a:gd name="connsiteX19" fmla="*/ 2835974 w 3790124"/>
              <a:gd name="connsiteY19" fmla="*/ 4732 h 3791270"/>
              <a:gd name="connsiteX20" fmla="*/ 3170700 w 3790124"/>
              <a:gd name="connsiteY20" fmla="*/ 11 h 379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0124" h="3791270">
                <a:moveTo>
                  <a:pt x="3170700" y="11"/>
                </a:moveTo>
                <a:cubicBezTo>
                  <a:pt x="3282294" y="-135"/>
                  <a:pt x="3393869" y="1310"/>
                  <a:pt x="3505317" y="4830"/>
                </a:cubicBezTo>
                <a:cubicBezTo>
                  <a:pt x="3682003" y="10413"/>
                  <a:pt x="3786587" y="125242"/>
                  <a:pt x="3788371" y="301636"/>
                </a:cubicBezTo>
                <a:lnTo>
                  <a:pt x="3788336" y="301667"/>
                </a:lnTo>
                <a:cubicBezTo>
                  <a:pt x="3790665" y="524770"/>
                  <a:pt x="3790775" y="747968"/>
                  <a:pt x="3788336" y="971072"/>
                </a:cubicBezTo>
                <a:cubicBezTo>
                  <a:pt x="3786405" y="1151785"/>
                  <a:pt x="3697443" y="1240397"/>
                  <a:pt x="3512710" y="1245881"/>
                </a:cubicBezTo>
                <a:cubicBezTo>
                  <a:pt x="3385294" y="1249665"/>
                  <a:pt x="3257659" y="1246900"/>
                  <a:pt x="3130170" y="1246653"/>
                </a:cubicBezTo>
                <a:cubicBezTo>
                  <a:pt x="2475028" y="1245295"/>
                  <a:pt x="1811045" y="1907657"/>
                  <a:pt x="1810768" y="2562788"/>
                </a:cubicBezTo>
                <a:cubicBezTo>
                  <a:pt x="1810768" y="2839054"/>
                  <a:pt x="1812447" y="3115323"/>
                  <a:pt x="1810218" y="3391593"/>
                </a:cubicBezTo>
                <a:cubicBezTo>
                  <a:pt x="1808226" y="3634408"/>
                  <a:pt x="1654508" y="3787885"/>
                  <a:pt x="1413342" y="3790398"/>
                </a:cubicBezTo>
                <a:cubicBezTo>
                  <a:pt x="1248699" y="3792146"/>
                  <a:pt x="1083958" y="3790726"/>
                  <a:pt x="919263" y="3790726"/>
                </a:cubicBezTo>
                <a:cubicBezTo>
                  <a:pt x="759864" y="3790763"/>
                  <a:pt x="600461" y="3791345"/>
                  <a:pt x="441062" y="3790617"/>
                </a:cubicBezTo>
                <a:cubicBezTo>
                  <a:pt x="180866" y="3789378"/>
                  <a:pt x="15049" y="3644739"/>
                  <a:pt x="7384" y="3386859"/>
                </a:cubicBezTo>
                <a:cubicBezTo>
                  <a:pt x="-2521" y="3052471"/>
                  <a:pt x="-2382" y="2717308"/>
                  <a:pt x="7333" y="2382873"/>
                </a:cubicBezTo>
                <a:cubicBezTo>
                  <a:pt x="14569" y="2132290"/>
                  <a:pt x="169406" y="1995126"/>
                  <a:pt x="433483" y="1988378"/>
                </a:cubicBezTo>
                <a:cubicBezTo>
                  <a:pt x="651197" y="1982793"/>
                  <a:pt x="870951" y="1968518"/>
                  <a:pt x="1086575" y="1990174"/>
                </a:cubicBezTo>
                <a:cubicBezTo>
                  <a:pt x="1606145" y="2042273"/>
                  <a:pt x="1965586" y="1778967"/>
                  <a:pt x="2281337" y="1417975"/>
                </a:cubicBezTo>
                <a:cubicBezTo>
                  <a:pt x="2469603" y="1202784"/>
                  <a:pt x="2582890" y="960843"/>
                  <a:pt x="2550881" y="663503"/>
                </a:cubicBezTo>
                <a:cubicBezTo>
                  <a:pt x="2537917" y="542704"/>
                  <a:pt x="2546475" y="419279"/>
                  <a:pt x="2549388" y="297121"/>
                </a:cubicBezTo>
                <a:cubicBezTo>
                  <a:pt x="2553576" y="118930"/>
                  <a:pt x="2657139" y="9249"/>
                  <a:pt x="2835974" y="4732"/>
                </a:cubicBezTo>
                <a:cubicBezTo>
                  <a:pt x="2947495" y="1892"/>
                  <a:pt x="3059106" y="156"/>
                  <a:pt x="3170700" y="11"/>
                </a:cubicBezTo>
                <a:close/>
              </a:path>
            </a:pathLst>
          </a:custGeom>
        </p:spPr>
      </p:pic>
      <p:pic>
        <p:nvPicPr>
          <p:cNvPr id="10" name="Picture 9" descr="A person wearing a hard hat&#10;&#10;Description automatically generated with low confidence">
            <a:extLst>
              <a:ext uri="{FF2B5EF4-FFF2-40B4-BE49-F238E27FC236}">
                <a16:creationId xmlns:a16="http://schemas.microsoft.com/office/drawing/2014/main" id="{28744C2A-E5AD-4784-B156-6C89EC2F8F6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999"/>
          <a:stretch/>
        </p:blipFill>
        <p:spPr>
          <a:xfrm>
            <a:off x="2128077" y="2365581"/>
            <a:ext cx="2316799" cy="2217113"/>
          </a:xfrm>
          <a:custGeom>
            <a:avLst/>
            <a:gdLst>
              <a:gd name="connsiteX0" fmla="*/ 2133212 w 2316799"/>
              <a:gd name="connsiteY0" fmla="*/ 0 h 2217113"/>
              <a:gd name="connsiteX1" fmla="*/ 2316799 w 2316799"/>
              <a:gd name="connsiteY1" fmla="*/ 0 h 2217113"/>
              <a:gd name="connsiteX2" fmla="*/ 2224894 w 2316799"/>
              <a:gd name="connsiteY2" fmla="*/ 84380 h 2217113"/>
              <a:gd name="connsiteX3" fmla="*/ 1810767 w 2316799"/>
              <a:gd name="connsiteY3" fmla="*/ 988631 h 2217113"/>
              <a:gd name="connsiteX4" fmla="*/ 1810217 w 2316799"/>
              <a:gd name="connsiteY4" fmla="*/ 1817435 h 2217113"/>
              <a:gd name="connsiteX5" fmla="*/ 1413341 w 2316799"/>
              <a:gd name="connsiteY5" fmla="*/ 2216241 h 2217113"/>
              <a:gd name="connsiteX6" fmla="*/ 919262 w 2316799"/>
              <a:gd name="connsiteY6" fmla="*/ 2216569 h 2217113"/>
              <a:gd name="connsiteX7" fmla="*/ 441061 w 2316799"/>
              <a:gd name="connsiteY7" fmla="*/ 2216460 h 2217113"/>
              <a:gd name="connsiteX8" fmla="*/ 7384 w 2316799"/>
              <a:gd name="connsiteY8" fmla="*/ 1812702 h 2217113"/>
              <a:gd name="connsiteX9" fmla="*/ 7333 w 2316799"/>
              <a:gd name="connsiteY9" fmla="*/ 808716 h 2217113"/>
              <a:gd name="connsiteX10" fmla="*/ 433482 w 2316799"/>
              <a:gd name="connsiteY10" fmla="*/ 414221 h 2217113"/>
              <a:gd name="connsiteX11" fmla="*/ 1086574 w 2316799"/>
              <a:gd name="connsiteY11" fmla="*/ 416017 h 2217113"/>
              <a:gd name="connsiteX12" fmla="*/ 2034512 w 2316799"/>
              <a:gd name="connsiteY12" fmla="*/ 92844 h 2217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6799" h="2217113">
                <a:moveTo>
                  <a:pt x="2133212" y="0"/>
                </a:moveTo>
                <a:lnTo>
                  <a:pt x="2316799" y="0"/>
                </a:lnTo>
                <a:lnTo>
                  <a:pt x="2224894" y="84380"/>
                </a:lnTo>
                <a:cubicBezTo>
                  <a:pt x="1976971" y="331692"/>
                  <a:pt x="1810906" y="661066"/>
                  <a:pt x="1810767" y="988631"/>
                </a:cubicBezTo>
                <a:cubicBezTo>
                  <a:pt x="1810767" y="1264897"/>
                  <a:pt x="1812446" y="1541166"/>
                  <a:pt x="1810217" y="1817435"/>
                </a:cubicBezTo>
                <a:cubicBezTo>
                  <a:pt x="1808225" y="2060251"/>
                  <a:pt x="1654507" y="2213728"/>
                  <a:pt x="1413341" y="2216241"/>
                </a:cubicBezTo>
                <a:cubicBezTo>
                  <a:pt x="1248698" y="2217989"/>
                  <a:pt x="1083957" y="2216569"/>
                  <a:pt x="919262" y="2216569"/>
                </a:cubicBezTo>
                <a:cubicBezTo>
                  <a:pt x="759863" y="2216606"/>
                  <a:pt x="600460" y="2217188"/>
                  <a:pt x="441061" y="2216460"/>
                </a:cubicBezTo>
                <a:cubicBezTo>
                  <a:pt x="180865" y="2215221"/>
                  <a:pt x="15048" y="2070582"/>
                  <a:pt x="7384" y="1812702"/>
                </a:cubicBezTo>
                <a:cubicBezTo>
                  <a:pt x="-2522" y="1478314"/>
                  <a:pt x="-2383" y="1143151"/>
                  <a:pt x="7333" y="808716"/>
                </a:cubicBezTo>
                <a:cubicBezTo>
                  <a:pt x="14568" y="558133"/>
                  <a:pt x="169405" y="420969"/>
                  <a:pt x="433482" y="414221"/>
                </a:cubicBezTo>
                <a:cubicBezTo>
                  <a:pt x="651197" y="408636"/>
                  <a:pt x="870950" y="394361"/>
                  <a:pt x="1086574" y="416017"/>
                </a:cubicBezTo>
                <a:cubicBezTo>
                  <a:pt x="1476252" y="455091"/>
                  <a:pt x="1775857" y="316750"/>
                  <a:pt x="2034512" y="92844"/>
                </a:cubicBezTo>
                <a:close/>
              </a:path>
            </a:pathLst>
          </a:cu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7112CAB-CB67-4A29-B608-734155945A38}"/>
              </a:ext>
            </a:extLst>
          </p:cNvPr>
          <p:cNvSpPr txBox="1">
            <a:spLocks/>
          </p:cNvSpPr>
          <p:nvPr userDrawn="1"/>
        </p:nvSpPr>
        <p:spPr>
          <a:xfrm>
            <a:off x="6600117" y="5820355"/>
            <a:ext cx="5116006" cy="52322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850" dirty="0">
                <a:solidFill>
                  <a:schemeClr val="bg1"/>
                </a:solidFill>
                <a:latin typeface="+mj-lt"/>
              </a:rPr>
              <a:t>This presentation is a proprietary material of</a:t>
            </a:r>
            <a:r>
              <a:rPr lang="en-US" sz="850" baseline="0" dirty="0">
                <a:solidFill>
                  <a:schemeClr val="bg1"/>
                </a:solidFill>
                <a:latin typeface="+mj-lt"/>
              </a:rPr>
              <a:t> KiyaAI. </a:t>
            </a:r>
            <a:r>
              <a:rPr lang="en-US" sz="850" dirty="0">
                <a:solidFill>
                  <a:schemeClr val="bg1"/>
                </a:solidFill>
                <a:latin typeface="+mj-lt"/>
              </a:rPr>
              <a:t>Any unauthorized usage or distribution of this material without prior consent of</a:t>
            </a:r>
            <a:r>
              <a:rPr lang="en-US" sz="850" baseline="0" dirty="0">
                <a:solidFill>
                  <a:schemeClr val="bg1"/>
                </a:solidFill>
                <a:latin typeface="+mj-lt"/>
              </a:rPr>
              <a:t> KiyaAI</a:t>
            </a:r>
            <a:r>
              <a:rPr lang="en-US" sz="850" dirty="0">
                <a:solidFill>
                  <a:schemeClr val="bg1"/>
                </a:solidFill>
                <a:latin typeface="+mj-lt"/>
              </a:rPr>
              <a:t> is prohibited. The content here is highly confidential and is meant for internal circulation only. All viewers to this presentation voluntarily bind themselves to the clauses of standard  Confidentiality &amp; Non-Disclosure Agreement.</a:t>
            </a:r>
          </a:p>
        </p:txBody>
      </p:sp>
    </p:spTree>
    <p:extLst>
      <p:ext uri="{BB962C8B-B14F-4D97-AF65-F5344CB8AC3E}">
        <p14:creationId xmlns:p14="http://schemas.microsoft.com/office/powerpoint/2010/main" val="5247128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6D34901-D911-3940-8AA1-45554B4A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5253" y="6676808"/>
            <a:ext cx="20758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25CC604-E3A7-4F52-8848-933FA40E345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CA6F4D-3367-5D45-B9D1-8364EC1A6F3A}"/>
              </a:ext>
            </a:extLst>
          </p:cNvPr>
          <p:cNvGrpSpPr/>
          <p:nvPr userDrawn="1"/>
        </p:nvGrpSpPr>
        <p:grpSpPr>
          <a:xfrm>
            <a:off x="11649316" y="6262166"/>
            <a:ext cx="542684" cy="524050"/>
            <a:chOff x="-22" y="-168754"/>
            <a:chExt cx="7280821" cy="7030794"/>
          </a:xfrm>
        </p:grpSpPr>
        <p:sp>
          <p:nvSpPr>
            <p:cNvPr id="17" name="Freeform: Shape 19">
              <a:extLst>
                <a:ext uri="{FF2B5EF4-FFF2-40B4-BE49-F238E27FC236}">
                  <a16:creationId xmlns:a16="http://schemas.microsoft.com/office/drawing/2014/main" id="{72C6267F-9A8C-2549-BBF3-02962DB1AD9D}"/>
                </a:ext>
              </a:extLst>
            </p:cNvPr>
            <p:cNvSpPr/>
            <p:nvPr/>
          </p:nvSpPr>
          <p:spPr>
            <a:xfrm flipV="1">
              <a:off x="-22" y="4250335"/>
              <a:ext cx="2762533" cy="2611705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012F72A3-71F8-3248-99D5-AE0486C760A8}"/>
                </a:ext>
              </a:extLst>
            </p:cNvPr>
            <p:cNvSpPr/>
            <p:nvPr/>
          </p:nvSpPr>
          <p:spPr>
            <a:xfrm>
              <a:off x="1349937" y="-168754"/>
              <a:ext cx="5930862" cy="7030771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23" name="Freeform: Shape 14">
            <a:extLst>
              <a:ext uri="{FF2B5EF4-FFF2-40B4-BE49-F238E27FC236}">
                <a16:creationId xmlns:a16="http://schemas.microsoft.com/office/drawing/2014/main" id="{2EAEE0E7-DCDC-964A-9DA6-DD0818C642CB}"/>
              </a:ext>
            </a:extLst>
          </p:cNvPr>
          <p:cNvSpPr/>
          <p:nvPr userDrawn="1"/>
        </p:nvSpPr>
        <p:spPr>
          <a:xfrm flipH="1">
            <a:off x="-2" y="6802785"/>
            <a:ext cx="12192001" cy="55215"/>
          </a:xfrm>
          <a:custGeom>
            <a:avLst/>
            <a:gdLst>
              <a:gd name="connsiteX0" fmla="*/ 12049090 w 12049090"/>
              <a:gd name="connsiteY0" fmla="*/ 0 h 55215"/>
              <a:gd name="connsiteX1" fmla="*/ 0 w 12049090"/>
              <a:gd name="connsiteY1" fmla="*/ 0 h 55215"/>
              <a:gd name="connsiteX2" fmla="*/ 0 w 12049090"/>
              <a:gd name="connsiteY2" fmla="*/ 55215 h 55215"/>
              <a:gd name="connsiteX3" fmla="*/ 12049090 w 12049090"/>
              <a:gd name="connsiteY3" fmla="*/ 55215 h 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9090" h="55215">
                <a:moveTo>
                  <a:pt x="12049090" y="0"/>
                </a:moveTo>
                <a:lnTo>
                  <a:pt x="0" y="0"/>
                </a:lnTo>
                <a:lnTo>
                  <a:pt x="0" y="55215"/>
                </a:lnTo>
                <a:lnTo>
                  <a:pt x="12049090" y="55215"/>
                </a:lnTo>
                <a:close/>
              </a:path>
            </a:pathLst>
          </a:custGeom>
          <a:solidFill>
            <a:srgbClr val="2E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F0737398-473F-9A61-3A43-75FF721C0773}"/>
              </a:ext>
            </a:extLst>
          </p:cNvPr>
          <p:cNvSpPr/>
          <p:nvPr userDrawn="1"/>
        </p:nvSpPr>
        <p:spPr>
          <a:xfrm>
            <a:off x="0" y="6805270"/>
            <a:ext cx="4284000" cy="54000"/>
          </a:xfrm>
          <a:custGeom>
            <a:avLst/>
            <a:gdLst/>
            <a:ahLst/>
            <a:cxnLst/>
            <a:rect l="0" t="0" r="r" b="b"/>
            <a:pathLst>
              <a:path w="10400" h="187">
                <a:moveTo>
                  <a:pt x="0" y="0"/>
                </a:moveTo>
                <a:lnTo>
                  <a:pt x="10400" y="0"/>
                </a:lnTo>
                <a:lnTo>
                  <a:pt x="10400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734" dirty="0">
              <a:solidFill>
                <a:srgbClr val="FFFFF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489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B490-FB4A-4A77-BF80-4F6833C816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027" y="254912"/>
            <a:ext cx="10391716" cy="430887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lnSpc>
                <a:spcPct val="100000"/>
              </a:lnSpc>
              <a:defRPr sz="2800" b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6D34901-D911-3940-8AA1-45554B4A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5253" y="6676808"/>
            <a:ext cx="20758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25CC604-E3A7-4F52-8848-933FA40E345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CA6F4D-3367-5D45-B9D1-8364EC1A6F3A}"/>
              </a:ext>
            </a:extLst>
          </p:cNvPr>
          <p:cNvGrpSpPr/>
          <p:nvPr userDrawn="1"/>
        </p:nvGrpSpPr>
        <p:grpSpPr>
          <a:xfrm>
            <a:off x="11649316" y="6262166"/>
            <a:ext cx="542684" cy="524050"/>
            <a:chOff x="-22" y="-168754"/>
            <a:chExt cx="7280821" cy="7030794"/>
          </a:xfrm>
        </p:grpSpPr>
        <p:sp>
          <p:nvSpPr>
            <p:cNvPr id="17" name="Freeform: Shape 19">
              <a:extLst>
                <a:ext uri="{FF2B5EF4-FFF2-40B4-BE49-F238E27FC236}">
                  <a16:creationId xmlns:a16="http://schemas.microsoft.com/office/drawing/2014/main" id="{72C6267F-9A8C-2549-BBF3-02962DB1AD9D}"/>
                </a:ext>
              </a:extLst>
            </p:cNvPr>
            <p:cNvSpPr/>
            <p:nvPr/>
          </p:nvSpPr>
          <p:spPr>
            <a:xfrm flipV="1">
              <a:off x="-22" y="4250335"/>
              <a:ext cx="2762533" cy="2611705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012F72A3-71F8-3248-99D5-AE0486C760A8}"/>
                </a:ext>
              </a:extLst>
            </p:cNvPr>
            <p:cNvSpPr/>
            <p:nvPr/>
          </p:nvSpPr>
          <p:spPr>
            <a:xfrm>
              <a:off x="1349937" y="-168754"/>
              <a:ext cx="5930862" cy="7030771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23" name="Freeform: Shape 14">
            <a:extLst>
              <a:ext uri="{FF2B5EF4-FFF2-40B4-BE49-F238E27FC236}">
                <a16:creationId xmlns:a16="http://schemas.microsoft.com/office/drawing/2014/main" id="{2EAEE0E7-DCDC-964A-9DA6-DD0818C642CB}"/>
              </a:ext>
            </a:extLst>
          </p:cNvPr>
          <p:cNvSpPr/>
          <p:nvPr userDrawn="1"/>
        </p:nvSpPr>
        <p:spPr>
          <a:xfrm flipH="1">
            <a:off x="-2" y="6802785"/>
            <a:ext cx="12192001" cy="55215"/>
          </a:xfrm>
          <a:custGeom>
            <a:avLst/>
            <a:gdLst>
              <a:gd name="connsiteX0" fmla="*/ 12049090 w 12049090"/>
              <a:gd name="connsiteY0" fmla="*/ 0 h 55215"/>
              <a:gd name="connsiteX1" fmla="*/ 0 w 12049090"/>
              <a:gd name="connsiteY1" fmla="*/ 0 h 55215"/>
              <a:gd name="connsiteX2" fmla="*/ 0 w 12049090"/>
              <a:gd name="connsiteY2" fmla="*/ 55215 h 55215"/>
              <a:gd name="connsiteX3" fmla="*/ 12049090 w 12049090"/>
              <a:gd name="connsiteY3" fmla="*/ 55215 h 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9090" h="55215">
                <a:moveTo>
                  <a:pt x="12049090" y="0"/>
                </a:moveTo>
                <a:lnTo>
                  <a:pt x="0" y="0"/>
                </a:lnTo>
                <a:lnTo>
                  <a:pt x="0" y="55215"/>
                </a:lnTo>
                <a:lnTo>
                  <a:pt x="12049090" y="55215"/>
                </a:lnTo>
                <a:close/>
              </a:path>
            </a:pathLst>
          </a:custGeom>
          <a:solidFill>
            <a:srgbClr val="2E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9C4BC76-0E1B-8B4C-D683-887F5862987E}"/>
              </a:ext>
            </a:extLst>
          </p:cNvPr>
          <p:cNvSpPr/>
          <p:nvPr userDrawn="1"/>
        </p:nvSpPr>
        <p:spPr>
          <a:xfrm>
            <a:off x="0" y="6805270"/>
            <a:ext cx="4284000" cy="54000"/>
          </a:xfrm>
          <a:custGeom>
            <a:avLst/>
            <a:gdLst/>
            <a:ahLst/>
            <a:cxnLst/>
            <a:rect l="0" t="0" r="r" b="b"/>
            <a:pathLst>
              <a:path w="10400" h="187">
                <a:moveTo>
                  <a:pt x="0" y="0"/>
                </a:moveTo>
                <a:lnTo>
                  <a:pt x="10400" y="0"/>
                </a:lnTo>
                <a:lnTo>
                  <a:pt x="10400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734" dirty="0">
              <a:solidFill>
                <a:srgbClr val="FFFFF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217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8099C-9BB5-4B45-945B-CB8F798E5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988047"/>
            <a:ext cx="11523120" cy="897682"/>
          </a:xfr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1pPr>
            <a:lvl2pPr marL="685800" indent="-2286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‒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buClr>
                <a:schemeClr val="accent1"/>
              </a:buClr>
              <a:buSzPct val="75000"/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2BE07BF-0808-FC40-AF11-653A42E5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5253" y="6676808"/>
            <a:ext cx="20758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25CC604-E3A7-4F52-8848-933FA40E345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1071BD-F1E6-A34F-96DE-B4BBB184B980}"/>
              </a:ext>
            </a:extLst>
          </p:cNvPr>
          <p:cNvGrpSpPr/>
          <p:nvPr userDrawn="1"/>
        </p:nvGrpSpPr>
        <p:grpSpPr>
          <a:xfrm>
            <a:off x="11649316" y="6262166"/>
            <a:ext cx="542684" cy="524050"/>
            <a:chOff x="-22" y="-168754"/>
            <a:chExt cx="7280821" cy="7030794"/>
          </a:xfrm>
        </p:grpSpPr>
        <p:sp>
          <p:nvSpPr>
            <p:cNvPr id="28" name="Freeform: Shape 19">
              <a:extLst>
                <a:ext uri="{FF2B5EF4-FFF2-40B4-BE49-F238E27FC236}">
                  <a16:creationId xmlns:a16="http://schemas.microsoft.com/office/drawing/2014/main" id="{C7133F0C-6095-AA48-B9CE-690D0D3DE7C2}"/>
                </a:ext>
              </a:extLst>
            </p:cNvPr>
            <p:cNvSpPr/>
            <p:nvPr/>
          </p:nvSpPr>
          <p:spPr>
            <a:xfrm flipV="1">
              <a:off x="-22" y="4250335"/>
              <a:ext cx="2762533" cy="2611705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9" name="Freeform: Shape 20">
              <a:extLst>
                <a:ext uri="{FF2B5EF4-FFF2-40B4-BE49-F238E27FC236}">
                  <a16:creationId xmlns:a16="http://schemas.microsoft.com/office/drawing/2014/main" id="{62F94F56-0371-634F-9F8E-DE6085D47A10}"/>
                </a:ext>
              </a:extLst>
            </p:cNvPr>
            <p:cNvSpPr/>
            <p:nvPr/>
          </p:nvSpPr>
          <p:spPr>
            <a:xfrm>
              <a:off x="1349937" y="-168754"/>
              <a:ext cx="5930862" cy="7030771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0" name="Freeform: Shape 14">
            <a:extLst>
              <a:ext uri="{FF2B5EF4-FFF2-40B4-BE49-F238E27FC236}">
                <a16:creationId xmlns:a16="http://schemas.microsoft.com/office/drawing/2014/main" id="{99230F41-F64B-2940-AC40-4C850EF776A4}"/>
              </a:ext>
            </a:extLst>
          </p:cNvPr>
          <p:cNvSpPr/>
          <p:nvPr userDrawn="1"/>
        </p:nvSpPr>
        <p:spPr>
          <a:xfrm flipH="1">
            <a:off x="-2" y="6802785"/>
            <a:ext cx="12192001" cy="55215"/>
          </a:xfrm>
          <a:custGeom>
            <a:avLst/>
            <a:gdLst>
              <a:gd name="connsiteX0" fmla="*/ 12049090 w 12049090"/>
              <a:gd name="connsiteY0" fmla="*/ 0 h 55215"/>
              <a:gd name="connsiteX1" fmla="*/ 0 w 12049090"/>
              <a:gd name="connsiteY1" fmla="*/ 0 h 55215"/>
              <a:gd name="connsiteX2" fmla="*/ 0 w 12049090"/>
              <a:gd name="connsiteY2" fmla="*/ 55215 h 55215"/>
              <a:gd name="connsiteX3" fmla="*/ 12049090 w 12049090"/>
              <a:gd name="connsiteY3" fmla="*/ 55215 h 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9090" h="55215">
                <a:moveTo>
                  <a:pt x="12049090" y="0"/>
                </a:moveTo>
                <a:lnTo>
                  <a:pt x="0" y="0"/>
                </a:lnTo>
                <a:lnTo>
                  <a:pt x="0" y="55215"/>
                </a:lnTo>
                <a:lnTo>
                  <a:pt x="12049090" y="55215"/>
                </a:lnTo>
                <a:close/>
              </a:path>
            </a:pathLst>
          </a:custGeom>
          <a:solidFill>
            <a:srgbClr val="2E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57BF59-CF7F-D7C0-7AA7-D28272A09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027" y="254912"/>
            <a:ext cx="10391716" cy="430887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lnSpc>
                <a:spcPct val="100000"/>
              </a:lnSpc>
              <a:defRPr sz="2800" b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9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8099C-9BB5-4B45-945B-CB8F798E5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456396"/>
            <a:ext cx="11523120" cy="866904"/>
          </a:xfr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600">
                <a:solidFill>
                  <a:schemeClr val="bg1"/>
                </a:solidFill>
              </a:defRPr>
            </a:lvl1pPr>
            <a:lvl2pPr marL="685800" indent="-2286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‒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buClr>
                <a:schemeClr val="accent1"/>
              </a:buClr>
              <a:buSzPct val="75000"/>
              <a:buFont typeface="Courier New" panose="02070309020205020404" pitchFamily="49" charset="0"/>
              <a:buChar char="o"/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8509D2E-6634-41E3-A6CB-5D66EB1CF3A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89560" y="934821"/>
            <a:ext cx="11523120" cy="276999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Clr>
                <a:schemeClr val="accent1"/>
              </a:buClr>
              <a:buFontTx/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Clr>
                <a:schemeClr val="accent1"/>
              </a:buClr>
              <a:buSzPct val="75000"/>
              <a:buFontTx/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4A59E172-2DE7-954C-8860-20FAB6D5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5253" y="6676808"/>
            <a:ext cx="20758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25CC604-E3A7-4F52-8848-933FA40E345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B0A1A8E-0B02-F443-B944-167EB8886AEE}"/>
              </a:ext>
            </a:extLst>
          </p:cNvPr>
          <p:cNvGrpSpPr/>
          <p:nvPr userDrawn="1"/>
        </p:nvGrpSpPr>
        <p:grpSpPr>
          <a:xfrm>
            <a:off x="11649316" y="6262166"/>
            <a:ext cx="542684" cy="524050"/>
            <a:chOff x="-22" y="-168754"/>
            <a:chExt cx="7280821" cy="7030794"/>
          </a:xfrm>
        </p:grpSpPr>
        <p:sp>
          <p:nvSpPr>
            <p:cNvPr id="28" name="Freeform: Shape 19">
              <a:extLst>
                <a:ext uri="{FF2B5EF4-FFF2-40B4-BE49-F238E27FC236}">
                  <a16:creationId xmlns:a16="http://schemas.microsoft.com/office/drawing/2014/main" id="{EFDC84E5-E553-904E-96D7-F91D6D5AE941}"/>
                </a:ext>
              </a:extLst>
            </p:cNvPr>
            <p:cNvSpPr/>
            <p:nvPr/>
          </p:nvSpPr>
          <p:spPr>
            <a:xfrm flipV="1">
              <a:off x="-22" y="4250335"/>
              <a:ext cx="2762533" cy="2611705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9" name="Freeform: Shape 20">
              <a:extLst>
                <a:ext uri="{FF2B5EF4-FFF2-40B4-BE49-F238E27FC236}">
                  <a16:creationId xmlns:a16="http://schemas.microsoft.com/office/drawing/2014/main" id="{40C441C9-ED14-7542-A89C-7718D03CF1F8}"/>
                </a:ext>
              </a:extLst>
            </p:cNvPr>
            <p:cNvSpPr/>
            <p:nvPr/>
          </p:nvSpPr>
          <p:spPr>
            <a:xfrm>
              <a:off x="1349937" y="-168754"/>
              <a:ext cx="5930862" cy="7030771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0" name="Freeform: Shape 14">
            <a:extLst>
              <a:ext uri="{FF2B5EF4-FFF2-40B4-BE49-F238E27FC236}">
                <a16:creationId xmlns:a16="http://schemas.microsoft.com/office/drawing/2014/main" id="{E7732737-5FBE-A64A-95EC-38A78FFE8939}"/>
              </a:ext>
            </a:extLst>
          </p:cNvPr>
          <p:cNvSpPr/>
          <p:nvPr userDrawn="1"/>
        </p:nvSpPr>
        <p:spPr>
          <a:xfrm flipH="1">
            <a:off x="-2" y="6802785"/>
            <a:ext cx="12192001" cy="55215"/>
          </a:xfrm>
          <a:custGeom>
            <a:avLst/>
            <a:gdLst>
              <a:gd name="connsiteX0" fmla="*/ 12049090 w 12049090"/>
              <a:gd name="connsiteY0" fmla="*/ 0 h 55215"/>
              <a:gd name="connsiteX1" fmla="*/ 0 w 12049090"/>
              <a:gd name="connsiteY1" fmla="*/ 0 h 55215"/>
              <a:gd name="connsiteX2" fmla="*/ 0 w 12049090"/>
              <a:gd name="connsiteY2" fmla="*/ 55215 h 55215"/>
              <a:gd name="connsiteX3" fmla="*/ 12049090 w 12049090"/>
              <a:gd name="connsiteY3" fmla="*/ 55215 h 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9090" h="55215">
                <a:moveTo>
                  <a:pt x="12049090" y="0"/>
                </a:moveTo>
                <a:lnTo>
                  <a:pt x="0" y="0"/>
                </a:lnTo>
                <a:lnTo>
                  <a:pt x="0" y="55215"/>
                </a:lnTo>
                <a:lnTo>
                  <a:pt x="12049090" y="55215"/>
                </a:lnTo>
                <a:close/>
              </a:path>
            </a:pathLst>
          </a:custGeom>
          <a:solidFill>
            <a:srgbClr val="2E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294E04F-7546-BE08-EA76-896FB7BB41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027" y="254912"/>
            <a:ext cx="10391716" cy="430887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lnSpc>
                <a:spcPct val="100000"/>
              </a:lnSpc>
              <a:defRPr sz="2800" b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8F32B35A-030F-54CA-C19D-D2528EF1CEB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26"/>
          <a:stretch>
            <a:fillRect/>
          </a:stretch>
        </p:blipFill>
        <p:spPr bwMode="auto">
          <a:xfrm>
            <a:off x="7060934" y="-7951"/>
            <a:ext cx="51310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482213EA-532B-431A-F1F9-6713EE309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EDED0FB-A713-9578-06F7-A3F6C5BD5980}"/>
              </a:ext>
            </a:extLst>
          </p:cNvPr>
          <p:cNvSpPr txBox="1">
            <a:spLocks/>
          </p:cNvSpPr>
          <p:nvPr userDrawn="1"/>
        </p:nvSpPr>
        <p:spPr>
          <a:xfrm>
            <a:off x="335063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B99AC0-3EB8-1BCA-716E-F6FD3DE1A1BC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532DBDEB-4093-60D4-A0A6-4B768CBEB8FF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C94A3E49-A16A-BD2B-C00C-85B2920CA68F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378605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-Powered Sol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0F9EF36B-6BC6-63D2-40CA-898FE204E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0E482B-7AC1-3BD8-C311-8607CDCB0C93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9537137-097B-74D8-D12F-1D10A96E7B5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52919" y="-40713"/>
            <a:ext cx="51293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2415A63-AC05-2D13-3683-FA8E26351B8E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3A70F0FC-7B8D-B30D-160D-02EE823B7EFB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7555FD67-69CA-0C11-C67D-411E6A9A4060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3146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re Ba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B488D3EF-57E8-712E-9D49-EB6222FC2E1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51200" y="-6313"/>
            <a:ext cx="51310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0F9EF36B-6BC6-63D2-40CA-898FE204E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0E482B-7AC1-3BD8-C311-8607CDCB0C93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00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g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4CE21D38-B26E-E639-9524-56B0E3D0C09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8884" y="-5860"/>
            <a:ext cx="511338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CEE5E76-5B7D-8E50-292E-2F2B03C5F259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FA7081C3-52AD-C168-41C7-ADFAC74DD118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21380211-C29B-F4AA-D412-5DB23FC060B9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36529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mni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264CBEDB-07B3-526F-25CB-6B0048DD301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8884" y="-5860"/>
            <a:ext cx="512311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75A937E-834A-CD8B-DA18-2E5D3A0BFF1C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2F742DD9-171D-370E-3CA2-940163BEBEAD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9F1E22B8-FBB2-7851-9B84-F9409FE0FF93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28590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U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0FC1BC8-4710-9509-28BB-747C2D8901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48062" y="-40713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52527"/>
                </a:solidFill>
                <a:effectLst/>
                <a:latin typeface="PPMori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686523-7F06-CD30-EB5D-5F8764A045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86302" y="-2"/>
            <a:ext cx="51023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3CCD3A8-A930-C0CA-6A63-0E5E41B42F24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78504095-6DFE-F869-787C-CB3021E94B7D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70F019D2-CCD0-7FCF-3437-8760F0A5B769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548308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Engg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11AB885-B214-5B3F-EACA-37ADA9A455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556" y="0"/>
            <a:ext cx="5097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924542-F191-FEFC-149F-D46DAEC86B5C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AC4F0BDD-0FE8-2A6F-E61C-9F2DE133157E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5841E42C-2337-9840-75A0-805A769EC728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22636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rganisation Stru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DEE3157-4539-5CBB-FD36-874C14EB858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8884" y="-9408"/>
            <a:ext cx="512311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924542-F191-FEFC-149F-D46DAEC86B5C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AC4F0BDD-0FE8-2A6F-E61C-9F2DE133157E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5841E42C-2337-9840-75A0-805A769EC728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123832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0ABC658-03C6-D417-48E5-A78F251B861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8884" y="0"/>
            <a:ext cx="51233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50DF20C-71DB-C963-9E40-75BEA860242C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6EA7F33E-7521-FAA8-E47C-CE95F2073AD6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494AF879-DA02-60E6-DBF8-E7B3CB1F2422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001171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066E2FE-00DA-18D7-1A26-FAED21C90E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537" y="0"/>
            <a:ext cx="5097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25CC5E-4470-7149-A1E8-9BEC658D969B}"/>
              </a:ext>
            </a:extLst>
          </p:cNvPr>
          <p:cNvSpPr txBox="1"/>
          <p:nvPr userDrawn="1"/>
        </p:nvSpPr>
        <p:spPr>
          <a:xfrm>
            <a:off x="1245532" y="625831"/>
            <a:ext cx="4466430" cy="83099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5400" b="0" dirty="0">
                <a:solidFill>
                  <a:schemeClr val="accent2"/>
                </a:solidFill>
                <a:latin typeface="+mj-lt"/>
              </a:rPr>
              <a:t>Thank You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D88425-4064-8F45-AE42-54744CA4876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10234" y="3860100"/>
            <a:ext cx="1537026" cy="1537023"/>
            <a:chOff x="5776265" y="6046416"/>
            <a:chExt cx="1251505" cy="1251502"/>
          </a:xfrm>
        </p:grpSpPr>
        <p:sp>
          <p:nvSpPr>
            <p:cNvPr id="16" name="Rectangle: Rounded Corners 5">
              <a:extLst>
                <a:ext uri="{FF2B5EF4-FFF2-40B4-BE49-F238E27FC236}">
                  <a16:creationId xmlns:a16="http://schemas.microsoft.com/office/drawing/2014/main" id="{494DCCAB-D272-0545-8C6B-A2DB24DA4D7C}"/>
                </a:ext>
              </a:extLst>
            </p:cNvPr>
            <p:cNvSpPr/>
            <p:nvPr/>
          </p:nvSpPr>
          <p:spPr>
            <a:xfrm>
              <a:off x="5776265" y="6046416"/>
              <a:ext cx="1251505" cy="1251502"/>
            </a:xfrm>
            <a:prstGeom prst="roundRect">
              <a:avLst>
                <a:gd name="adj" fmla="val 148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7" name="Picture 16" descr="A screenshot of a computer screen&#10;&#10;Description automatically generated with low confidence">
              <a:extLst>
                <a:ext uri="{FF2B5EF4-FFF2-40B4-BE49-F238E27FC236}">
                  <a16:creationId xmlns:a16="http://schemas.microsoft.com/office/drawing/2014/main" id="{8A5F9A90-80B7-6B43-B05D-4AEB3F828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76265" y="6046416"/>
              <a:ext cx="1251505" cy="1251502"/>
            </a:xfrm>
            <a:prstGeom prst="rect">
              <a:avLst/>
            </a:prstGeom>
          </p:spPr>
        </p:pic>
      </p:grpSp>
      <p:sp>
        <p:nvSpPr>
          <p:cNvPr id="21" name="Text Box 10">
            <a:extLst>
              <a:ext uri="{FF2B5EF4-FFF2-40B4-BE49-F238E27FC236}">
                <a16:creationId xmlns:a16="http://schemas.microsoft.com/office/drawing/2014/main" id="{5C7A55AB-161E-4E4E-BA9F-1D151E318B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5925" y="5898945"/>
            <a:ext cx="6845644" cy="754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CC3300"/>
              </a:buClr>
              <a:buSzPct val="150000"/>
              <a:defRPr/>
            </a:pPr>
            <a:r>
              <a:rPr lang="en-GB" sz="1000" b="0" dirty="0">
                <a:latin typeface="+mj-lt"/>
                <a:cs typeface="+mn-cs"/>
              </a:rPr>
              <a:t>Global Offices: </a:t>
            </a:r>
          </a:p>
          <a:p>
            <a:pPr algn="ctr">
              <a:spcBef>
                <a:spcPct val="50000"/>
              </a:spcBef>
              <a:buClr>
                <a:srgbClr val="CC3300"/>
              </a:buClr>
              <a:buSzPct val="150000"/>
              <a:defRPr/>
            </a:pPr>
            <a:r>
              <a:rPr lang="en-GB" sz="1000" b="0" dirty="0">
                <a:latin typeface="+mj-lt"/>
                <a:cs typeface="+mn-cs"/>
              </a:rPr>
              <a:t>London </a:t>
            </a:r>
            <a:r>
              <a:rPr lang="en-GB" sz="1200" b="0" dirty="0">
                <a:latin typeface="+mj-lt"/>
                <a:cs typeface="+mn-cs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Jersey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Mumbai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Pune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Chennai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Dubai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Bahrain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Singapore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kern="1200" baseline="0" dirty="0">
                <a:latin typeface="+mj-lt"/>
                <a:ea typeface="+mn-ea"/>
                <a:cs typeface="+mn-cs"/>
              </a:rPr>
              <a:t> Manila</a:t>
            </a:r>
            <a:r>
              <a:rPr lang="en-GB" sz="1000" b="0" kern="1200" baseline="0" dirty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. Toronto</a:t>
            </a:r>
            <a:r>
              <a:rPr lang="en-GB" sz="1000" b="0" kern="1200" dirty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kern="1200" baseline="0" dirty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New York</a:t>
            </a:r>
            <a:endParaRPr lang="en-GB" sz="1000" b="0" baseline="0" dirty="0">
              <a:latin typeface="+mj-lt"/>
              <a:cs typeface="+mn-cs"/>
            </a:endParaRPr>
          </a:p>
          <a:p>
            <a:pPr algn="ctr">
              <a:spcBef>
                <a:spcPct val="50000"/>
              </a:spcBef>
              <a:buClr>
                <a:srgbClr val="CC3300"/>
              </a:buClr>
              <a:buSzPct val="150000"/>
              <a:defRPr/>
            </a:pPr>
            <a:r>
              <a:rPr lang="en-GB" sz="1000" b="0" baseline="0" dirty="0">
                <a:latin typeface="+mj-lt"/>
                <a:cs typeface="+mn-cs"/>
              </a:rPr>
              <a:t>Business Partner Network in over 35 countries </a:t>
            </a:r>
            <a:endParaRPr lang="en-GB" sz="1000" b="0" dirty="0">
              <a:latin typeface="+mj-lt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AEB2C-D983-4C66-56AA-35C91158A7BA}"/>
              </a:ext>
            </a:extLst>
          </p:cNvPr>
          <p:cNvSpPr txBox="1"/>
          <p:nvPr userDrawn="1"/>
        </p:nvSpPr>
        <p:spPr>
          <a:xfrm>
            <a:off x="7038611" y="363417"/>
            <a:ext cx="50974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+mj-lt"/>
              </a:rPr>
              <a:t>We are excited to partner with you on your digital transformation journey.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D8F6CD-7113-65DF-E7C6-303268033287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C4E2126A-D345-FF68-3200-814671C02986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BCA936C4-FDC2-026D-635F-153B8878A280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92427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7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1588" y="1588"/>
            <a:ext cx="1588" cy="1588"/>
          </a:xfrm>
          <a:prstGeom prst="rect">
            <a:avLst/>
          </a:prstGeom>
          <a:noFill/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E48A0-8669-4C6A-9D99-BE5BF71B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228F4-3BE9-4CEA-AD11-A63AB6342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049F119-B1D8-40D8-8850-0C7B56C65EE6}"/>
              </a:ext>
            </a:extLst>
          </p:cNvPr>
          <p:cNvSpPr txBox="1">
            <a:spLocks/>
          </p:cNvSpPr>
          <p:nvPr userDrawn="1"/>
        </p:nvSpPr>
        <p:spPr>
          <a:xfrm>
            <a:off x="110402" y="6671291"/>
            <a:ext cx="2454383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KiyaAI © 2025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6AEB765-1291-A547-B08F-852CB335551E}"/>
              </a:ext>
            </a:extLst>
          </p:cNvPr>
          <p:cNvSpPr txBox="1">
            <a:spLocks/>
          </p:cNvSpPr>
          <p:nvPr userDrawn="1"/>
        </p:nvSpPr>
        <p:spPr>
          <a:xfrm>
            <a:off x="11965253" y="6676808"/>
            <a:ext cx="20758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5CC604-E3A7-4F52-8848-933FA40E345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679EC4-EC94-BA46-8728-F4C18AD6E47A}"/>
              </a:ext>
            </a:extLst>
          </p:cNvPr>
          <p:cNvGrpSpPr/>
          <p:nvPr userDrawn="1"/>
        </p:nvGrpSpPr>
        <p:grpSpPr>
          <a:xfrm>
            <a:off x="11649316" y="6262166"/>
            <a:ext cx="542684" cy="524050"/>
            <a:chOff x="-22" y="-168754"/>
            <a:chExt cx="7280821" cy="7030794"/>
          </a:xfrm>
        </p:grpSpPr>
        <p:sp>
          <p:nvSpPr>
            <p:cNvPr id="13" name="Freeform: Shape 19">
              <a:extLst>
                <a:ext uri="{FF2B5EF4-FFF2-40B4-BE49-F238E27FC236}">
                  <a16:creationId xmlns:a16="http://schemas.microsoft.com/office/drawing/2014/main" id="{5311EDE3-FA01-F041-86D1-4720AACB7075}"/>
                </a:ext>
              </a:extLst>
            </p:cNvPr>
            <p:cNvSpPr/>
            <p:nvPr/>
          </p:nvSpPr>
          <p:spPr>
            <a:xfrm flipV="1">
              <a:off x="-22" y="4250335"/>
              <a:ext cx="2762533" cy="2611705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1DFBB71-904C-834F-B38A-BE59B2998647}"/>
                </a:ext>
              </a:extLst>
            </p:cNvPr>
            <p:cNvSpPr/>
            <p:nvPr/>
          </p:nvSpPr>
          <p:spPr>
            <a:xfrm>
              <a:off x="1349937" y="-168754"/>
              <a:ext cx="5930862" cy="7030771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ED22C99-CDD4-3749-B3B5-EDDBE72262FF}"/>
              </a:ext>
            </a:extLst>
          </p:cNvPr>
          <p:cNvSpPr/>
          <p:nvPr userDrawn="1"/>
        </p:nvSpPr>
        <p:spPr>
          <a:xfrm flipH="1">
            <a:off x="-2" y="6802785"/>
            <a:ext cx="12192001" cy="55215"/>
          </a:xfrm>
          <a:custGeom>
            <a:avLst/>
            <a:gdLst>
              <a:gd name="connsiteX0" fmla="*/ 12049090 w 12049090"/>
              <a:gd name="connsiteY0" fmla="*/ 0 h 55215"/>
              <a:gd name="connsiteX1" fmla="*/ 0 w 12049090"/>
              <a:gd name="connsiteY1" fmla="*/ 0 h 55215"/>
              <a:gd name="connsiteX2" fmla="*/ 0 w 12049090"/>
              <a:gd name="connsiteY2" fmla="*/ 55215 h 55215"/>
              <a:gd name="connsiteX3" fmla="*/ 12049090 w 12049090"/>
              <a:gd name="connsiteY3" fmla="*/ 55215 h 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9090" h="55215">
                <a:moveTo>
                  <a:pt x="12049090" y="0"/>
                </a:moveTo>
                <a:lnTo>
                  <a:pt x="0" y="0"/>
                </a:lnTo>
                <a:lnTo>
                  <a:pt x="0" y="55215"/>
                </a:lnTo>
                <a:lnTo>
                  <a:pt x="12049090" y="55215"/>
                </a:lnTo>
                <a:close/>
              </a:path>
            </a:pathLst>
          </a:custGeom>
          <a:solidFill>
            <a:srgbClr val="2E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A0E4CE8-219C-6777-CE63-58650A8E88DF}"/>
              </a:ext>
            </a:extLst>
          </p:cNvPr>
          <p:cNvSpPr/>
          <p:nvPr userDrawn="1"/>
        </p:nvSpPr>
        <p:spPr>
          <a:xfrm>
            <a:off x="0" y="6805270"/>
            <a:ext cx="4284000" cy="54000"/>
          </a:xfrm>
          <a:custGeom>
            <a:avLst/>
            <a:gdLst/>
            <a:ahLst/>
            <a:cxnLst/>
            <a:rect l="0" t="0" r="r" b="b"/>
            <a:pathLst>
              <a:path w="10400" h="187">
                <a:moveTo>
                  <a:pt x="0" y="0"/>
                </a:moveTo>
                <a:lnTo>
                  <a:pt x="10400" y="0"/>
                </a:lnTo>
                <a:lnTo>
                  <a:pt x="10400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734" dirty="0">
              <a:solidFill>
                <a:srgbClr val="FFFFF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9987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43" r:id="rId3"/>
    <p:sldLayoutId id="2147483708" r:id="rId4"/>
    <p:sldLayoutId id="2147483709" r:id="rId5"/>
    <p:sldLayoutId id="2147483735" r:id="rId6"/>
    <p:sldLayoutId id="2147483736" r:id="rId7"/>
    <p:sldLayoutId id="2147483742" r:id="rId8"/>
    <p:sldLayoutId id="2147483737" r:id="rId9"/>
    <p:sldLayoutId id="2147483738" r:id="rId10"/>
    <p:sldLayoutId id="2147483739" r:id="rId11"/>
    <p:sldLayoutId id="2147483740" r:id="rId12"/>
    <p:sldLayoutId id="2147483746" r:id="rId13"/>
    <p:sldLayoutId id="2147483741" r:id="rId14"/>
    <p:sldLayoutId id="214748371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371D70-8A29-1EF9-E77A-875265105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7315" y="346795"/>
            <a:ext cx="5300230" cy="270843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Optimizing data workflows through layered Medallion architecture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7A41BF8D-54A2-2F5A-94C6-843BEE964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1539" y="3494995"/>
            <a:ext cx="5116006" cy="307777"/>
          </a:xfrm>
        </p:spPr>
        <p:txBody>
          <a:bodyPr/>
          <a:lstStyle/>
          <a:p>
            <a:pPr algn="r"/>
            <a:r>
              <a:rPr lang="en-US" dirty="0"/>
              <a:t>By Nitin Kumar</a:t>
            </a:r>
            <a:endParaRPr lang="en-IN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C3AAEB58-955E-3E79-ED2A-409492FA76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212880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3B6E-EC74-40F8-EBCA-B35F0E4B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7C5E-7901-C46E-8BA3-012299A4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27" y="254912"/>
            <a:ext cx="10391716" cy="430887"/>
          </a:xfrm>
        </p:spPr>
        <p:txBody>
          <a:bodyPr/>
          <a:lstStyle/>
          <a:p>
            <a:r>
              <a:rPr lang="en-IN" dirty="0"/>
              <a:t>Introduction About 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29601C-5D6A-E38E-B24B-E9307A57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3BAF3-746F-5079-68F9-50707AE1C6BD}"/>
              </a:ext>
            </a:extLst>
          </p:cNvPr>
          <p:cNvSpPr txBox="1"/>
          <p:nvPr/>
        </p:nvSpPr>
        <p:spPr>
          <a:xfrm>
            <a:off x="1320716" y="1231660"/>
            <a:ext cx="80475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IN" dirty="0"/>
              <a:t>I am a Data Analytics professional with over 18+ years of experience across Data Analytics, Business Intelligence, and modern data platforms. I have led multiple BI modernization initiatives, including the migration of 500+ SAP BusinessObjects reports to Power BI and driving BI strategy implementations. I have also delivered solutions using Microsoft Fabric, with a focus on Medallion architecture. My expertise spans end-to-end BI development, including data ingestion, semantic modelling, advanced analytics, and performance optimization. I have managed full project lifecycles from requirements gathering  and POCs to production delivery and automation. I am passionate about building scalable data solutions that enable informed decision-making and deliver business value.</a:t>
            </a:r>
          </a:p>
        </p:txBody>
      </p:sp>
    </p:spTree>
    <p:extLst>
      <p:ext uri="{BB962C8B-B14F-4D97-AF65-F5344CB8AC3E}">
        <p14:creationId xmlns:p14="http://schemas.microsoft.com/office/powerpoint/2010/main" val="267397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B7BF-4DBE-99F6-581A-E8AC8748A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27" y="254912"/>
            <a:ext cx="11746806" cy="615553"/>
          </a:xfrm>
        </p:spPr>
        <p:txBody>
          <a:bodyPr/>
          <a:lstStyle/>
          <a:p>
            <a:pPr lvl="0">
              <a:spcBef>
                <a:spcPts val="2500"/>
              </a:spcBef>
            </a:pPr>
            <a:r>
              <a:rPr lang="en-US" sz="1200" b="1" dirty="0"/>
              <a:t>Medallion Architecture Presentation: </a:t>
            </a:r>
            <a:br>
              <a:rPr lang="en-US" sz="1200" b="1" dirty="0"/>
            </a:br>
            <a:r>
              <a:rPr lang="en-US" sz="1200" dirty="0"/>
              <a:t>Ensures data reliability, scalability, and clarity throughout the data lifecycle for effective data engineering</a:t>
            </a:r>
            <a:r>
              <a:rPr lang="en-US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5DEADF-865C-87DB-6A82-7D896301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CA424E82-55E9-BADD-DF18-E50CBF11DB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634313"/>
              </p:ext>
            </p:extLst>
          </p:nvPr>
        </p:nvGraphicFramePr>
        <p:xfrm>
          <a:off x="1573201" y="1325232"/>
          <a:ext cx="9649765" cy="4712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EAB979A0-4767-C3E9-F1FE-782566523414}"/>
              </a:ext>
            </a:extLst>
          </p:cNvPr>
          <p:cNvSpPr/>
          <p:nvPr/>
        </p:nvSpPr>
        <p:spPr>
          <a:xfrm>
            <a:off x="4144705" y="2585296"/>
            <a:ext cx="2011680" cy="2586649"/>
          </a:xfrm>
          <a:prstGeom prst="roundRect">
            <a:avLst/>
          </a:prstGeom>
          <a:solidFill>
            <a:srgbClr val="CC7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96">
                <a:solidFill>
                  <a:srgbClr val="FFFFFF"/>
                </a:solidFill>
              </a:defRPr>
            </a:pPr>
            <a:r>
              <a:rPr dirty="0"/>
              <a:t>BRONZE</a:t>
            </a:r>
            <a:r>
              <a:rPr lang="en-US" dirty="0"/>
              <a:t> RAW DATA</a:t>
            </a:r>
            <a:br>
              <a:rPr lang="en-US" dirty="0"/>
            </a:br>
            <a:r>
              <a:rPr lang="en-US" sz="1296" dirty="0"/>
              <a:t>Pipeline Orchestration</a:t>
            </a:r>
            <a:br>
              <a:rPr lang="en-US" sz="1296" dirty="0"/>
            </a:br>
            <a:r>
              <a:rPr lang="en-US" sz="1296" dirty="0"/>
              <a:t>• JSON Control File</a:t>
            </a:r>
            <a:br>
              <a:rPr lang="en-US" sz="1296" dirty="0"/>
            </a:br>
            <a:r>
              <a:rPr lang="en-US" sz="1296" dirty="0"/>
              <a:t>• Lookup Activity</a:t>
            </a:r>
            <a:br>
              <a:rPr lang="en-US" sz="1296" dirty="0"/>
            </a:br>
            <a:r>
              <a:rPr lang="en-US" sz="1296" dirty="0"/>
              <a:t>• For-Each Loop  </a:t>
            </a:r>
            <a:br>
              <a:rPr lang="en-US" sz="1296" dirty="0"/>
            </a:br>
            <a:r>
              <a:rPr lang="en-US" sz="1296" dirty="0"/>
              <a:t>• Dynamic Copy</a:t>
            </a:r>
            <a:br>
              <a:rPr lang="en-US" sz="1296" dirty="0"/>
            </a:br>
            <a:r>
              <a:rPr lang="en-US" sz="1296" dirty="0"/>
              <a:t>• Dataflow Gen2 </a:t>
            </a:r>
            <a:br>
              <a:rPr lang="en-US" sz="1296" dirty="0"/>
            </a:br>
            <a:r>
              <a:rPr lang="en-US" sz="1296" dirty="0"/>
              <a:t>• Bronze Pipelines  Load to Silver </a:t>
            </a:r>
            <a:br>
              <a:rPr lang="en-US" sz="1296" dirty="0"/>
            </a:br>
            <a:r>
              <a:rPr lang="en-US" sz="1296" dirty="0"/>
              <a:t>          </a:t>
            </a:r>
            <a:endParaRPr lang="en-US" dirty="0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3479A0E1-02DA-D0D5-E4D1-BD80338E6F3E}"/>
              </a:ext>
            </a:extLst>
          </p:cNvPr>
          <p:cNvSpPr/>
          <p:nvPr/>
        </p:nvSpPr>
        <p:spPr>
          <a:xfrm>
            <a:off x="6567261" y="2582667"/>
            <a:ext cx="2125994" cy="2943784"/>
          </a:xfrm>
          <a:prstGeom prst="roundRect">
            <a:avLst/>
          </a:prstGeom>
          <a:solidFill>
            <a:srgbClr val="0099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96">
                <a:solidFill>
                  <a:srgbClr val="FFFFFF"/>
                </a:solidFill>
              </a:defRPr>
            </a:pPr>
            <a:r>
              <a:rPr dirty="0"/>
              <a:t>SILVER</a:t>
            </a:r>
            <a:r>
              <a:rPr lang="en-US" dirty="0"/>
              <a:t> CLEANED &amp; MODELED DATA </a:t>
            </a:r>
            <a:endParaRPr dirty="0"/>
          </a:p>
          <a:p>
            <a:pPr>
              <a:defRPr sz="1296">
                <a:solidFill>
                  <a:srgbClr val="FFFFFF"/>
                </a:solidFill>
              </a:defRPr>
            </a:pPr>
            <a:r>
              <a:rPr dirty="0" err="1"/>
              <a:t>PySpark</a:t>
            </a:r>
            <a:r>
              <a:rPr dirty="0"/>
              <a:t> Notebook</a:t>
            </a:r>
            <a:r>
              <a:rPr lang="en-US" dirty="0"/>
              <a:t> Processing</a:t>
            </a:r>
            <a:br>
              <a:rPr lang="en-US" sz="1296" dirty="0"/>
            </a:br>
            <a:r>
              <a:rPr lang="en-US" sz="1296" dirty="0"/>
              <a:t>• Data Cleansing  </a:t>
            </a:r>
            <a:br>
              <a:rPr lang="en-US" sz="1296" dirty="0"/>
            </a:br>
            <a:r>
              <a:rPr lang="en-US" sz="1296" dirty="0"/>
              <a:t>• Business Transformations</a:t>
            </a:r>
            <a:br>
              <a:rPr lang="en-US" sz="1296" dirty="0"/>
            </a:br>
            <a:r>
              <a:rPr lang="en-US" sz="1296" dirty="0"/>
              <a:t>• Data Quality</a:t>
            </a:r>
            <a:br>
              <a:rPr lang="en-US" sz="1296" dirty="0"/>
            </a:br>
            <a:r>
              <a:rPr lang="en-US" sz="1296" dirty="0"/>
              <a:t>• Standardization </a:t>
            </a:r>
            <a:br>
              <a:rPr lang="en-US" sz="1296" dirty="0"/>
            </a:br>
            <a:r>
              <a:rPr lang="en-US" sz="1296" dirty="0"/>
              <a:t>• Delta Table Creation </a:t>
            </a:r>
            <a:endParaRPr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9D429167-32B6-F4F4-7922-6B8688FC6360}"/>
              </a:ext>
            </a:extLst>
          </p:cNvPr>
          <p:cNvSpPr/>
          <p:nvPr/>
        </p:nvSpPr>
        <p:spPr>
          <a:xfrm>
            <a:off x="9030645" y="2943518"/>
            <a:ext cx="2039858" cy="1999417"/>
          </a:xfrm>
          <a:prstGeom prst="roundRect">
            <a:avLst/>
          </a:prstGeom>
          <a:solidFill>
            <a:srgbClr val="99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96">
                <a:solidFill>
                  <a:srgbClr val="FFFFFF"/>
                </a:solidFill>
              </a:defRPr>
            </a:pPr>
            <a:r>
              <a:rPr dirty="0"/>
              <a:t>GOLD</a:t>
            </a:r>
            <a:r>
              <a:rPr lang="en-US" dirty="0"/>
              <a:t> BUSINESS READY</a:t>
            </a:r>
            <a:endParaRPr dirty="0"/>
          </a:p>
          <a:p>
            <a:pPr>
              <a:defRPr sz="1296">
                <a:solidFill>
                  <a:srgbClr val="FFFFFF"/>
                </a:solidFill>
              </a:defRPr>
            </a:pPr>
            <a:r>
              <a:rPr dirty="0"/>
              <a:t>T-SQL </a:t>
            </a:r>
            <a:r>
              <a:rPr lang="en-US" dirty="0"/>
              <a:t>Transformation</a:t>
            </a:r>
            <a:endParaRPr dirty="0"/>
          </a:p>
          <a:p>
            <a:pPr>
              <a:defRPr sz="1296">
                <a:solidFill>
                  <a:srgbClr val="FFFFFF"/>
                </a:solidFill>
              </a:defRPr>
            </a:pPr>
            <a:r>
              <a:rPr lang="en-US" sz="1296" dirty="0"/>
              <a:t>• Fact &amp; Dimension Modeling</a:t>
            </a:r>
            <a:br>
              <a:rPr lang="en-US" sz="1296" dirty="0"/>
            </a:br>
            <a:r>
              <a:rPr lang="en-US" sz="1296" dirty="0"/>
              <a:t>• Aggregations </a:t>
            </a:r>
            <a:br>
              <a:rPr lang="en-US" sz="1296" dirty="0"/>
            </a:br>
            <a:r>
              <a:rPr lang="en-US" sz="1296" dirty="0"/>
              <a:t>• KPI Calculations </a:t>
            </a:r>
            <a:br>
              <a:rPr lang="en-US" sz="1296" dirty="0"/>
            </a:br>
            <a:r>
              <a:rPr lang="en-US" sz="1296" dirty="0"/>
              <a:t>• Reporting Tables  </a:t>
            </a:r>
            <a:endParaRPr dirty="0"/>
          </a:p>
        </p:txBody>
      </p:sp>
      <p:sp>
        <p:nvSpPr>
          <p:cNvPr id="11" name="Rounded Rectangle 1">
            <a:extLst>
              <a:ext uri="{FF2B5EF4-FFF2-40B4-BE49-F238E27FC236}">
                <a16:creationId xmlns:a16="http://schemas.microsoft.com/office/drawing/2014/main" id="{71952A51-0B2E-584D-AC92-C33431EEC094}"/>
              </a:ext>
            </a:extLst>
          </p:cNvPr>
          <p:cNvSpPr/>
          <p:nvPr/>
        </p:nvSpPr>
        <p:spPr>
          <a:xfrm>
            <a:off x="1722149" y="3132663"/>
            <a:ext cx="2011680" cy="1097280"/>
          </a:xfrm>
          <a:prstGeom prst="roundRect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96">
                <a:solidFill>
                  <a:srgbClr val="FFFFFF"/>
                </a:solidFill>
              </a:defRPr>
            </a:pPr>
            <a:r>
              <a:rPr dirty="0"/>
              <a:t>SOURCE</a:t>
            </a:r>
          </a:p>
          <a:p>
            <a:pPr algn="ctr">
              <a:defRPr sz="1296">
                <a:solidFill>
                  <a:srgbClr val="FFFFFF"/>
                </a:solidFill>
              </a:defRPr>
            </a:pPr>
            <a:r>
              <a:rPr lang="en-IN" dirty="0"/>
              <a:t>G</a:t>
            </a:r>
            <a:r>
              <a:rPr dirty="0" err="1"/>
              <a:t>itHub</a:t>
            </a:r>
            <a:r>
              <a:rPr dirty="0"/>
              <a:t> Repository</a:t>
            </a:r>
          </a:p>
        </p:txBody>
      </p:sp>
    </p:spTree>
    <p:extLst>
      <p:ext uri="{BB962C8B-B14F-4D97-AF65-F5344CB8AC3E}">
        <p14:creationId xmlns:p14="http://schemas.microsoft.com/office/powerpoint/2010/main" val="102682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B7310-3C29-CD53-3439-BBBDECED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8BBA-6BA2-83AB-F222-F63B69C28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27" y="254912"/>
            <a:ext cx="10391716" cy="430887"/>
          </a:xfrm>
        </p:spPr>
        <p:txBody>
          <a:bodyPr/>
          <a:lstStyle/>
          <a:p>
            <a:r>
              <a:rPr lang="en-US" dirty="0"/>
              <a:t>Key Capabilities Delivered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83DBC-9D50-A133-E17A-DA2BC631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F031D-C3C1-E81E-57A6-591B95B157BF}"/>
              </a:ext>
            </a:extLst>
          </p:cNvPr>
          <p:cNvSpPr/>
          <p:nvPr/>
        </p:nvSpPr>
        <p:spPr>
          <a:xfrm>
            <a:off x="695074" y="862489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1.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438D3-F109-390F-4286-47F945F4E72D}"/>
              </a:ext>
            </a:extLst>
          </p:cNvPr>
          <p:cNvSpPr txBox="1"/>
          <p:nvPr/>
        </p:nvSpPr>
        <p:spPr>
          <a:xfrm>
            <a:off x="1320716" y="990132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Dynamic file ingestion from GitHub using JSON-driven metadata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A2C8567-C20D-D304-059C-F5A7AF942C8B}"/>
              </a:ext>
            </a:extLst>
          </p:cNvPr>
          <p:cNvSpPr/>
          <p:nvPr/>
        </p:nvSpPr>
        <p:spPr>
          <a:xfrm>
            <a:off x="695074" y="1576360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2.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124271-B1D6-65D7-4E36-34A591CAA7A4}"/>
              </a:ext>
            </a:extLst>
          </p:cNvPr>
          <p:cNvSpPr txBox="1"/>
          <p:nvPr/>
        </p:nvSpPr>
        <p:spPr>
          <a:xfrm>
            <a:off x="1320716" y="1704003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Metadata-driven ETL with Lookup + For-Each pattern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9DAAEE-20AC-9815-033E-CB5D701F6ADB}"/>
              </a:ext>
            </a:extLst>
          </p:cNvPr>
          <p:cNvSpPr/>
          <p:nvPr/>
        </p:nvSpPr>
        <p:spPr>
          <a:xfrm>
            <a:off x="671012" y="2322315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3.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9F2BCD-FD0E-DA27-2F02-60201780617F}"/>
              </a:ext>
            </a:extLst>
          </p:cNvPr>
          <p:cNvSpPr txBox="1"/>
          <p:nvPr/>
        </p:nvSpPr>
        <p:spPr>
          <a:xfrm>
            <a:off x="1312696" y="2449961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Dataflow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Gen2</a:t>
            </a:r>
            <a:r>
              <a:rPr lang="en-US" dirty="0">
                <a:solidFill>
                  <a:schemeClr val="bg1"/>
                </a:solidFill>
              </a:rPr>
              <a:t> integration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6EBF65-7D02-902A-B796-C6278F889C8B}"/>
              </a:ext>
            </a:extLst>
          </p:cNvPr>
          <p:cNvCxnSpPr>
            <a:cxnSpLocks/>
          </p:cNvCxnSpPr>
          <p:nvPr/>
        </p:nvCxnSpPr>
        <p:spPr>
          <a:xfrm>
            <a:off x="1320716" y="1406284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E73927-D48F-DFE1-C2BC-26BF6C3487A8}"/>
              </a:ext>
            </a:extLst>
          </p:cNvPr>
          <p:cNvCxnSpPr>
            <a:cxnSpLocks/>
          </p:cNvCxnSpPr>
          <p:nvPr/>
        </p:nvCxnSpPr>
        <p:spPr>
          <a:xfrm>
            <a:off x="1320716" y="2205498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7DB9D3-D0B5-9B05-364F-4115EDA9868D}"/>
              </a:ext>
            </a:extLst>
          </p:cNvPr>
          <p:cNvCxnSpPr>
            <a:cxnSpLocks/>
          </p:cNvCxnSpPr>
          <p:nvPr/>
        </p:nvCxnSpPr>
        <p:spPr>
          <a:xfrm>
            <a:off x="1320716" y="2931918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EE34725-1657-21FA-6855-C4EC8B1F548F}"/>
              </a:ext>
            </a:extLst>
          </p:cNvPr>
          <p:cNvSpPr/>
          <p:nvPr/>
        </p:nvSpPr>
        <p:spPr>
          <a:xfrm>
            <a:off x="679034" y="3084318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4.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41259D-0268-4FDE-5088-9A5915ABD945}"/>
              </a:ext>
            </a:extLst>
          </p:cNvPr>
          <p:cNvSpPr txBox="1"/>
          <p:nvPr/>
        </p:nvSpPr>
        <p:spPr>
          <a:xfrm>
            <a:off x="1304676" y="3211961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Centralized orchestration using Parent Pipeline Build Bronze Layer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6CCEF6-E213-FBEE-4320-5C61B23643C3}"/>
              </a:ext>
            </a:extLst>
          </p:cNvPr>
          <p:cNvCxnSpPr>
            <a:cxnSpLocks/>
          </p:cNvCxnSpPr>
          <p:nvPr/>
        </p:nvCxnSpPr>
        <p:spPr>
          <a:xfrm>
            <a:off x="1312696" y="3693918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A7FF81-86FE-CCFC-4D14-8EC852854A52}"/>
              </a:ext>
            </a:extLst>
          </p:cNvPr>
          <p:cNvSpPr/>
          <p:nvPr/>
        </p:nvSpPr>
        <p:spPr>
          <a:xfrm>
            <a:off x="711118" y="3854337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5.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394197-AD99-5BDC-B58D-10E6AD2A99A9}"/>
              </a:ext>
            </a:extLst>
          </p:cNvPr>
          <p:cNvSpPr txBox="1"/>
          <p:nvPr/>
        </p:nvSpPr>
        <p:spPr>
          <a:xfrm>
            <a:off x="1336760" y="3981980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Py-Spark-based cleansing and transformation in Silver Layer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23DA9C8-CAF2-2500-D27A-8CA242C81FD9}"/>
              </a:ext>
            </a:extLst>
          </p:cNvPr>
          <p:cNvCxnSpPr>
            <a:cxnSpLocks/>
          </p:cNvCxnSpPr>
          <p:nvPr/>
        </p:nvCxnSpPr>
        <p:spPr>
          <a:xfrm>
            <a:off x="1344780" y="4463937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A858CA6-042D-22B8-8AD5-2D05A3C65452}"/>
              </a:ext>
            </a:extLst>
          </p:cNvPr>
          <p:cNvSpPr/>
          <p:nvPr/>
        </p:nvSpPr>
        <p:spPr>
          <a:xfrm>
            <a:off x="695076" y="4638067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6.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EDCA9D-E85E-2771-CB49-49AD3BF77A66}"/>
              </a:ext>
            </a:extLst>
          </p:cNvPr>
          <p:cNvSpPr txBox="1"/>
          <p:nvPr/>
        </p:nvSpPr>
        <p:spPr>
          <a:xfrm>
            <a:off x="1320718" y="4765710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T-SQL aggregation and business modeling in Gold Layer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6B76D2-6213-4AAD-330B-0A580C7A777A}"/>
              </a:ext>
            </a:extLst>
          </p:cNvPr>
          <p:cNvCxnSpPr>
            <a:cxnSpLocks/>
          </p:cNvCxnSpPr>
          <p:nvPr/>
        </p:nvCxnSpPr>
        <p:spPr>
          <a:xfrm>
            <a:off x="1328738" y="5247667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F7C686F-2113-F190-44E4-A8EBE6871E4F}"/>
              </a:ext>
            </a:extLst>
          </p:cNvPr>
          <p:cNvSpPr/>
          <p:nvPr/>
        </p:nvSpPr>
        <p:spPr>
          <a:xfrm>
            <a:off x="631818" y="5566845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7.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C7D48-FBFC-058D-1AB9-CC22E5CFB852}"/>
              </a:ext>
            </a:extLst>
          </p:cNvPr>
          <p:cNvSpPr txBox="1"/>
          <p:nvPr/>
        </p:nvSpPr>
        <p:spPr>
          <a:xfrm>
            <a:off x="1257460" y="5504708"/>
            <a:ext cx="8852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Final ETL pipeline to schedule and load the data from end-to-end bronze to silver to gold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each stage notification if fail send to email and final load confirmation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AE9A40-AFFA-E237-C7DC-9B602CAA8FDA}"/>
              </a:ext>
            </a:extLst>
          </p:cNvPr>
          <p:cNvCxnSpPr>
            <a:cxnSpLocks/>
          </p:cNvCxnSpPr>
          <p:nvPr/>
        </p:nvCxnSpPr>
        <p:spPr>
          <a:xfrm>
            <a:off x="1344780" y="6340348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80593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93D1"/>
      </a:accent1>
      <a:accent2>
        <a:srgbClr val="71BF44"/>
      </a:accent2>
      <a:accent3>
        <a:srgbClr val="FFC000"/>
      </a:accent3>
      <a:accent4>
        <a:srgbClr val="10577F"/>
      </a:accent4>
      <a:accent5>
        <a:srgbClr val="407A28"/>
      </a:accent5>
      <a:accent6>
        <a:srgbClr val="BF9000"/>
      </a:accent6>
      <a:hlink>
        <a:srgbClr val="0563C1"/>
      </a:hlink>
      <a:folHlink>
        <a:srgbClr val="954F72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B3FBF88-8C1A-49D2-9E83-8EA0C86DC926}" vid="{1EA50CF0-1881-43F7-84B7-6153323EBA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AA202B54C34C4A958E57E4F430CF34" ma:contentTypeVersion="2" ma:contentTypeDescription="Create a new document." ma:contentTypeScope="" ma:versionID="f4f44b84593c8a1549d60d67b07a2188">
  <xsd:schema xmlns:xsd="http://www.w3.org/2001/XMLSchema" xmlns:xs="http://www.w3.org/2001/XMLSchema" xmlns:p="http://schemas.microsoft.com/office/2006/metadata/properties" xmlns:ns2="9833e60f-8929-4696-abbe-6d18358f7eec" targetNamespace="http://schemas.microsoft.com/office/2006/metadata/properties" ma:root="true" ma:fieldsID="7538e8248ccd2a2ff63364dbd29064df" ns2:_="">
    <xsd:import namespace="9833e60f-8929-4696-abbe-6d18358f7e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33e60f-8929-4696-abbe-6d18358f7e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528B65-88F5-40AD-9AFA-F05D891F74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33e60f-8929-4696-abbe-6d18358f7e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CC9074-13FC-493C-8AFC-2E5CD86F3E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InfrasoftTech Standard Template 25th anniversary version</Template>
  <TotalTime>58251</TotalTime>
  <Words>343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ADLaM Display</vt:lpstr>
      <vt:lpstr>Aptos</vt:lpstr>
      <vt:lpstr>Arial</vt:lpstr>
      <vt:lpstr>Calibri</vt:lpstr>
      <vt:lpstr>Cambria</vt:lpstr>
      <vt:lpstr>Courier New</vt:lpstr>
      <vt:lpstr>PPMori</vt:lpstr>
      <vt:lpstr>Times New Roman</vt:lpstr>
      <vt:lpstr>1_Office Theme</vt:lpstr>
      <vt:lpstr>Optimizing data workflows through layered Medallion architecture</vt:lpstr>
      <vt:lpstr>Introduction About Me</vt:lpstr>
      <vt:lpstr>Medallion Architecture Presentation:  Ensures data reliability, scalability, and clarity throughout the data lifecycle for effective data engineering.</vt:lpstr>
      <vt:lpstr>Key Capabilities Delivered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KiyaAI</dc:creator>
  <cp:keywords/>
  <dc:description/>
  <cp:lastModifiedBy>Nitin Kumar</cp:lastModifiedBy>
  <cp:revision>1914</cp:revision>
  <dcterms:created xsi:type="dcterms:W3CDTF">2020-10-14T12:36:59Z</dcterms:created>
  <dcterms:modified xsi:type="dcterms:W3CDTF">2026-06-16T06:47:49Z</dcterms:modified>
  <cp:category/>
</cp:coreProperties>
</file>